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324" r:id="rId2"/>
    <p:sldId id="325" r:id="rId3"/>
    <p:sldId id="326" r:id="rId4"/>
    <p:sldId id="327" r:id="rId5"/>
    <p:sldId id="328" r:id="rId6"/>
    <p:sldId id="329" r:id="rId7"/>
    <p:sldId id="330" r:id="rId8"/>
    <p:sldId id="331" r:id="rId9"/>
    <p:sldId id="332" r:id="rId10"/>
    <p:sldId id="323" r:id="rId11"/>
    <p:sldId id="274" r:id="rId12"/>
    <p:sldId id="275" r:id="rId13"/>
    <p:sldId id="277" r:id="rId14"/>
    <p:sldId id="263" r:id="rId15"/>
    <p:sldId id="264" r:id="rId16"/>
    <p:sldId id="265" r:id="rId17"/>
    <p:sldId id="266" r:id="rId18"/>
    <p:sldId id="267" r:id="rId19"/>
    <p:sldId id="268" r:id="rId20"/>
    <p:sldId id="269" r:id="rId21"/>
    <p:sldId id="289" r:id="rId22"/>
    <p:sldId id="270" r:id="rId23"/>
    <p:sldId id="290" r:id="rId24"/>
    <p:sldId id="361" r:id="rId25"/>
    <p:sldId id="271" r:id="rId26"/>
    <p:sldId id="347" r:id="rId27"/>
    <p:sldId id="294" r:id="rId28"/>
    <p:sldId id="295" r:id="rId29"/>
    <p:sldId id="346" r:id="rId30"/>
    <p:sldId id="278" r:id="rId31"/>
    <p:sldId id="296" r:id="rId32"/>
    <p:sldId id="298" r:id="rId33"/>
    <p:sldId id="293" r:id="rId34"/>
    <p:sldId id="303" r:id="rId35"/>
    <p:sldId id="333" r:id="rId36"/>
    <p:sldId id="335" r:id="rId37"/>
    <p:sldId id="363" r:id="rId38"/>
    <p:sldId id="299" r:id="rId39"/>
    <p:sldId id="301" r:id="rId40"/>
    <p:sldId id="305" r:id="rId41"/>
    <p:sldId id="273" r:id="rId42"/>
    <p:sldId id="306" r:id="rId43"/>
    <p:sldId id="342" r:id="rId44"/>
    <p:sldId id="308" r:id="rId45"/>
    <p:sldId id="344" r:id="rId46"/>
    <p:sldId id="285" r:id="rId47"/>
    <p:sldId id="309" r:id="rId48"/>
    <p:sldId id="339" r:id="rId49"/>
    <p:sldId id="345" r:id="rId50"/>
    <p:sldId id="311" r:id="rId51"/>
    <p:sldId id="284" r:id="rId52"/>
    <p:sldId id="287" r:id="rId53"/>
    <p:sldId id="348" r:id="rId54"/>
    <p:sldId id="312" r:id="rId55"/>
    <p:sldId id="313" r:id="rId56"/>
    <p:sldId id="314" r:id="rId57"/>
    <p:sldId id="350" r:id="rId58"/>
    <p:sldId id="359" r:id="rId59"/>
    <p:sldId id="357" r:id="rId60"/>
    <p:sldId id="352" r:id="rId61"/>
    <p:sldId id="355" r:id="rId62"/>
    <p:sldId id="280" r:id="rId63"/>
    <p:sldId id="364" r:id="rId64"/>
    <p:sldId id="258" r:id="rId65"/>
    <p:sldId id="259" r:id="rId66"/>
    <p:sldId id="365" r:id="rId67"/>
    <p:sldId id="261" r:id="rId68"/>
    <p:sldId id="366" r:id="rId69"/>
    <p:sldId id="262" r:id="rId70"/>
    <p:sldId id="367" r:id="rId71"/>
    <p:sldId id="368" r:id="rId72"/>
    <p:sldId id="369" r:id="rId73"/>
    <p:sldId id="370" r:id="rId74"/>
    <p:sldId id="371" r:id="rId75"/>
    <p:sldId id="372" r:id="rId76"/>
    <p:sldId id="373" r:id="rId77"/>
    <p:sldId id="272" r:id="rId78"/>
    <p:sldId id="374" r:id="rId79"/>
    <p:sldId id="375" r:id="rId80"/>
    <p:sldId id="376" r:id="rId81"/>
    <p:sldId id="276" r:id="rId82"/>
    <p:sldId id="377" r:id="rId83"/>
    <p:sldId id="378" r:id="rId84"/>
    <p:sldId id="279" r:id="rId85"/>
    <p:sldId id="379" r:id="rId86"/>
    <p:sldId id="281" r:id="rId87"/>
  </p:sldIdLst>
  <p:sldSz cx="9144000" cy="6858000" type="screen4x3"/>
  <p:notesSz cx="6858000" cy="9144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395" autoAdjust="0"/>
    <p:restoredTop sz="94699"/>
  </p:normalViewPr>
  <p:slideViewPr>
    <p:cSldViewPr>
      <p:cViewPr varScale="1">
        <p:scale>
          <a:sx n="69" d="100"/>
          <a:sy n="69" d="100"/>
        </p:scale>
        <p:origin x="200" y="1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SV"/>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5E7E1C-15CD-47CE-B1F7-0936ED3E0368}" type="datetimeFigureOut">
              <a:rPr lang="es-SV" smtClean="0"/>
              <a:t>8/7/26</a:t>
            </a:fld>
            <a:endParaRPr lang="es-SV"/>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SV"/>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SV"/>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291554-CB9C-4648-989E-7C5C63C605C2}" type="slidenum">
              <a:rPr lang="es-SV" smtClean="0"/>
              <a:t>‹#›</a:t>
            </a:fld>
            <a:endParaRPr lang="es-SV"/>
          </a:p>
        </p:txBody>
      </p:sp>
    </p:spTree>
    <p:extLst>
      <p:ext uri="{BB962C8B-B14F-4D97-AF65-F5344CB8AC3E}">
        <p14:creationId xmlns:p14="http://schemas.microsoft.com/office/powerpoint/2010/main" val="468002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SV"/>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SV"/>
          </a:p>
        </p:txBody>
      </p:sp>
      <p:sp>
        <p:nvSpPr>
          <p:cNvPr id="4" name="3 Marcador de fecha"/>
          <p:cNvSpPr>
            <a:spLocks noGrp="1"/>
          </p:cNvSpPr>
          <p:nvPr>
            <p:ph type="dt" sz="half" idx="10"/>
          </p:nvPr>
        </p:nvSpPr>
        <p:spPr/>
        <p:txBody>
          <a:bodyPr/>
          <a:lstStyle/>
          <a:p>
            <a:fld id="{31A84320-A4E6-4B1C-918E-9FFFDB846FD2}" type="datetime1">
              <a:rPr lang="es-SV" smtClean="0"/>
              <a:t>8/7/26</a:t>
            </a:fld>
            <a:endParaRPr lang="es-SV"/>
          </a:p>
        </p:txBody>
      </p:sp>
      <p:sp>
        <p:nvSpPr>
          <p:cNvPr id="5" name="4 Marcador de pie de página"/>
          <p:cNvSpPr>
            <a:spLocks noGrp="1"/>
          </p:cNvSpPr>
          <p:nvPr>
            <p:ph type="ftr" sz="quarter" idx="11"/>
          </p:nvPr>
        </p:nvSpPr>
        <p:spPr/>
        <p:txBody>
          <a:bodyPr/>
          <a:lstStyle/>
          <a:p>
            <a:r>
              <a:rPr lang="es-SV"/>
              <a:t>Programación I/2019. Ing. Asencio</a:t>
            </a:r>
          </a:p>
        </p:txBody>
      </p:sp>
      <p:sp>
        <p:nvSpPr>
          <p:cNvPr id="6" name="5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1904771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SV"/>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3 Marcador de fecha"/>
          <p:cNvSpPr>
            <a:spLocks noGrp="1"/>
          </p:cNvSpPr>
          <p:nvPr>
            <p:ph type="dt" sz="half" idx="10"/>
          </p:nvPr>
        </p:nvSpPr>
        <p:spPr/>
        <p:txBody>
          <a:bodyPr/>
          <a:lstStyle/>
          <a:p>
            <a:fld id="{A8ED6F2B-6402-4B15-B66C-68822095EA5C}" type="datetime1">
              <a:rPr lang="es-SV" smtClean="0"/>
              <a:t>8/7/26</a:t>
            </a:fld>
            <a:endParaRPr lang="es-SV"/>
          </a:p>
        </p:txBody>
      </p:sp>
      <p:sp>
        <p:nvSpPr>
          <p:cNvPr id="5" name="4 Marcador de pie de página"/>
          <p:cNvSpPr>
            <a:spLocks noGrp="1"/>
          </p:cNvSpPr>
          <p:nvPr>
            <p:ph type="ftr" sz="quarter" idx="11"/>
          </p:nvPr>
        </p:nvSpPr>
        <p:spPr/>
        <p:txBody>
          <a:bodyPr/>
          <a:lstStyle/>
          <a:p>
            <a:r>
              <a:rPr lang="es-SV"/>
              <a:t>Programación I/2019. Ing. Asencio</a:t>
            </a:r>
          </a:p>
        </p:txBody>
      </p:sp>
      <p:sp>
        <p:nvSpPr>
          <p:cNvPr id="6" name="5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350233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SV"/>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D8E33AFF-DECC-423F-AD28-625543D6DE80}" type="datetime1">
              <a:rPr lang="es-SV" smtClean="0"/>
              <a:t>8/7/26</a:t>
            </a:fld>
            <a:endParaRPr lang="es-SV"/>
          </a:p>
        </p:txBody>
      </p:sp>
      <p:sp>
        <p:nvSpPr>
          <p:cNvPr id="5" name="4 Marcador de pie de página"/>
          <p:cNvSpPr>
            <a:spLocks noGrp="1"/>
          </p:cNvSpPr>
          <p:nvPr>
            <p:ph type="ftr" sz="quarter" idx="11"/>
          </p:nvPr>
        </p:nvSpPr>
        <p:spPr/>
        <p:txBody>
          <a:bodyPr/>
          <a:lstStyle/>
          <a:p>
            <a:r>
              <a:rPr lang="es-SV"/>
              <a:t>Programación I/2019. Ing. Asencio</a:t>
            </a:r>
          </a:p>
        </p:txBody>
      </p:sp>
      <p:sp>
        <p:nvSpPr>
          <p:cNvPr id="6" name="5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2810839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SV"/>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5" name="4 Marcador de fecha"/>
          <p:cNvSpPr>
            <a:spLocks noGrp="1"/>
          </p:cNvSpPr>
          <p:nvPr>
            <p:ph type="dt" sz="half" idx="10"/>
          </p:nvPr>
        </p:nvSpPr>
        <p:spPr/>
        <p:txBody>
          <a:bodyPr/>
          <a:lstStyle/>
          <a:p>
            <a:fld id="{B947D9FA-8CE5-4170-B0B4-8FB1849C317E}" type="datetime1">
              <a:rPr lang="es-SV" smtClean="0"/>
              <a:t>8/7/26</a:t>
            </a:fld>
            <a:endParaRPr lang="es-SV"/>
          </a:p>
        </p:txBody>
      </p:sp>
      <p:sp>
        <p:nvSpPr>
          <p:cNvPr id="6" name="5 Marcador de pie de página"/>
          <p:cNvSpPr>
            <a:spLocks noGrp="1"/>
          </p:cNvSpPr>
          <p:nvPr>
            <p:ph type="ftr" sz="quarter" idx="11"/>
          </p:nvPr>
        </p:nvSpPr>
        <p:spPr/>
        <p:txBody>
          <a:bodyPr/>
          <a:lstStyle/>
          <a:p>
            <a:r>
              <a:rPr lang="es-SV"/>
              <a:t>Programación I/2019. Ing. Asencio</a:t>
            </a:r>
          </a:p>
        </p:txBody>
      </p:sp>
      <p:sp>
        <p:nvSpPr>
          <p:cNvPr id="7" name="6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1532487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SV"/>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7" name="6 Marcador de fecha"/>
          <p:cNvSpPr>
            <a:spLocks noGrp="1"/>
          </p:cNvSpPr>
          <p:nvPr>
            <p:ph type="dt" sz="half" idx="10"/>
          </p:nvPr>
        </p:nvSpPr>
        <p:spPr/>
        <p:txBody>
          <a:bodyPr/>
          <a:lstStyle/>
          <a:p>
            <a:fld id="{E15211BE-0AD0-4146-9D51-C815099C76A6}" type="datetime1">
              <a:rPr lang="es-SV" smtClean="0"/>
              <a:t>8/7/26</a:t>
            </a:fld>
            <a:endParaRPr lang="es-SV"/>
          </a:p>
        </p:txBody>
      </p:sp>
      <p:sp>
        <p:nvSpPr>
          <p:cNvPr id="8" name="7 Marcador de pie de página"/>
          <p:cNvSpPr>
            <a:spLocks noGrp="1"/>
          </p:cNvSpPr>
          <p:nvPr>
            <p:ph type="ftr" sz="quarter" idx="11"/>
          </p:nvPr>
        </p:nvSpPr>
        <p:spPr/>
        <p:txBody>
          <a:bodyPr/>
          <a:lstStyle/>
          <a:p>
            <a:r>
              <a:rPr lang="es-SV"/>
              <a:t>Programación I/2019. Ing. Asencio</a:t>
            </a:r>
          </a:p>
        </p:txBody>
      </p:sp>
      <p:sp>
        <p:nvSpPr>
          <p:cNvPr id="9" name="8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1869289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SV"/>
          </a:p>
        </p:txBody>
      </p:sp>
      <p:sp>
        <p:nvSpPr>
          <p:cNvPr id="3" name="2 Marcador de fecha"/>
          <p:cNvSpPr>
            <a:spLocks noGrp="1"/>
          </p:cNvSpPr>
          <p:nvPr>
            <p:ph type="dt" sz="half" idx="10"/>
          </p:nvPr>
        </p:nvSpPr>
        <p:spPr/>
        <p:txBody>
          <a:bodyPr/>
          <a:lstStyle/>
          <a:p>
            <a:fld id="{679DE82B-6DBA-4C14-83BE-934EE83C3EBD}" type="datetime1">
              <a:rPr lang="es-SV" smtClean="0"/>
              <a:t>8/7/26</a:t>
            </a:fld>
            <a:endParaRPr lang="es-SV"/>
          </a:p>
        </p:txBody>
      </p:sp>
      <p:sp>
        <p:nvSpPr>
          <p:cNvPr id="4" name="3 Marcador de pie de página"/>
          <p:cNvSpPr>
            <a:spLocks noGrp="1"/>
          </p:cNvSpPr>
          <p:nvPr>
            <p:ph type="ftr" sz="quarter" idx="11"/>
          </p:nvPr>
        </p:nvSpPr>
        <p:spPr/>
        <p:txBody>
          <a:bodyPr/>
          <a:lstStyle/>
          <a:p>
            <a:r>
              <a:rPr lang="es-SV"/>
              <a:t>Programación I/2019. Ing. Asencio</a:t>
            </a:r>
          </a:p>
        </p:txBody>
      </p:sp>
      <p:sp>
        <p:nvSpPr>
          <p:cNvPr id="5" name="4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2504029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15FECF87-98EC-4DC8-8194-42A94C6C4AB9}" type="datetime1">
              <a:rPr lang="es-SV" smtClean="0"/>
              <a:t>8/7/26</a:t>
            </a:fld>
            <a:endParaRPr lang="es-SV"/>
          </a:p>
        </p:txBody>
      </p:sp>
      <p:sp>
        <p:nvSpPr>
          <p:cNvPr id="3" name="2 Marcador de pie de página"/>
          <p:cNvSpPr>
            <a:spLocks noGrp="1"/>
          </p:cNvSpPr>
          <p:nvPr>
            <p:ph type="ftr" sz="quarter" idx="11"/>
          </p:nvPr>
        </p:nvSpPr>
        <p:spPr/>
        <p:txBody>
          <a:bodyPr/>
          <a:lstStyle/>
          <a:p>
            <a:r>
              <a:rPr lang="es-SV"/>
              <a:t>Programación I/2019. Ing. Asencio</a:t>
            </a:r>
          </a:p>
        </p:txBody>
      </p:sp>
      <p:sp>
        <p:nvSpPr>
          <p:cNvPr id="4" name="3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2518772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SV"/>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10E32D2A-6695-467F-9A3B-92C0E750F1A9}" type="datetime1">
              <a:rPr lang="es-SV" smtClean="0"/>
              <a:t>8/7/26</a:t>
            </a:fld>
            <a:endParaRPr lang="es-SV"/>
          </a:p>
        </p:txBody>
      </p:sp>
      <p:sp>
        <p:nvSpPr>
          <p:cNvPr id="6" name="5 Marcador de pie de página"/>
          <p:cNvSpPr>
            <a:spLocks noGrp="1"/>
          </p:cNvSpPr>
          <p:nvPr>
            <p:ph type="ftr" sz="quarter" idx="11"/>
          </p:nvPr>
        </p:nvSpPr>
        <p:spPr/>
        <p:txBody>
          <a:bodyPr/>
          <a:lstStyle/>
          <a:p>
            <a:r>
              <a:rPr lang="es-SV"/>
              <a:t>Programación I/2019. Ing. Asencio</a:t>
            </a:r>
          </a:p>
        </p:txBody>
      </p:sp>
      <p:sp>
        <p:nvSpPr>
          <p:cNvPr id="7" name="6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2975359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SV"/>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SV"/>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C5FD7F3-9A2B-45BF-904A-64879F49EBAF}" type="datetime1">
              <a:rPr lang="es-SV" smtClean="0"/>
              <a:t>8/7/26</a:t>
            </a:fld>
            <a:endParaRPr lang="es-SV"/>
          </a:p>
        </p:txBody>
      </p:sp>
      <p:sp>
        <p:nvSpPr>
          <p:cNvPr id="6" name="5 Marcador de pie de página"/>
          <p:cNvSpPr>
            <a:spLocks noGrp="1"/>
          </p:cNvSpPr>
          <p:nvPr>
            <p:ph type="ftr" sz="quarter" idx="11"/>
          </p:nvPr>
        </p:nvSpPr>
        <p:spPr/>
        <p:txBody>
          <a:bodyPr/>
          <a:lstStyle/>
          <a:p>
            <a:r>
              <a:rPr lang="es-SV"/>
              <a:t>Programación I/2019. Ing. Asencio</a:t>
            </a:r>
          </a:p>
        </p:txBody>
      </p:sp>
      <p:sp>
        <p:nvSpPr>
          <p:cNvPr id="7" name="6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2830566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SV"/>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3 Marcador de fecha"/>
          <p:cNvSpPr>
            <a:spLocks noGrp="1"/>
          </p:cNvSpPr>
          <p:nvPr>
            <p:ph type="dt" sz="half" idx="10"/>
          </p:nvPr>
        </p:nvSpPr>
        <p:spPr/>
        <p:txBody>
          <a:bodyPr/>
          <a:lstStyle/>
          <a:p>
            <a:fld id="{24C96E71-C1B7-4799-8B2D-19B2BDC63FFB}" type="datetime1">
              <a:rPr lang="es-SV" smtClean="0"/>
              <a:t>8/7/26</a:t>
            </a:fld>
            <a:endParaRPr lang="es-SV"/>
          </a:p>
        </p:txBody>
      </p:sp>
      <p:sp>
        <p:nvSpPr>
          <p:cNvPr id="5" name="4 Marcador de pie de página"/>
          <p:cNvSpPr>
            <a:spLocks noGrp="1"/>
          </p:cNvSpPr>
          <p:nvPr>
            <p:ph type="ftr" sz="quarter" idx="11"/>
          </p:nvPr>
        </p:nvSpPr>
        <p:spPr/>
        <p:txBody>
          <a:bodyPr/>
          <a:lstStyle/>
          <a:p>
            <a:r>
              <a:rPr lang="es-SV"/>
              <a:t>Programación I/2019. Ing. Asencio</a:t>
            </a:r>
          </a:p>
        </p:txBody>
      </p:sp>
      <p:sp>
        <p:nvSpPr>
          <p:cNvPr id="6" name="5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183745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SV"/>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3 Marcador de fecha"/>
          <p:cNvSpPr>
            <a:spLocks noGrp="1"/>
          </p:cNvSpPr>
          <p:nvPr>
            <p:ph type="dt" sz="half" idx="10"/>
          </p:nvPr>
        </p:nvSpPr>
        <p:spPr/>
        <p:txBody>
          <a:bodyPr/>
          <a:lstStyle/>
          <a:p>
            <a:fld id="{197BEFEA-0EA6-49D6-9675-51867E6D1830}" type="datetime1">
              <a:rPr lang="es-SV" smtClean="0"/>
              <a:t>8/7/26</a:t>
            </a:fld>
            <a:endParaRPr lang="es-SV"/>
          </a:p>
        </p:txBody>
      </p:sp>
      <p:sp>
        <p:nvSpPr>
          <p:cNvPr id="5" name="4 Marcador de pie de página"/>
          <p:cNvSpPr>
            <a:spLocks noGrp="1"/>
          </p:cNvSpPr>
          <p:nvPr>
            <p:ph type="ftr" sz="quarter" idx="11"/>
          </p:nvPr>
        </p:nvSpPr>
        <p:spPr/>
        <p:txBody>
          <a:bodyPr/>
          <a:lstStyle/>
          <a:p>
            <a:r>
              <a:rPr lang="es-SV"/>
              <a:t>Programación I/2019. Ing. Asencio</a:t>
            </a:r>
          </a:p>
        </p:txBody>
      </p:sp>
      <p:sp>
        <p:nvSpPr>
          <p:cNvPr id="6" name="5 Marcador de número de diapositiva"/>
          <p:cNvSpPr>
            <a:spLocks noGrp="1"/>
          </p:cNvSpPr>
          <p:nvPr>
            <p:ph type="sldNum" sz="quarter" idx="12"/>
          </p:nvPr>
        </p:nvSpPr>
        <p:spPr/>
        <p:txBody>
          <a:bodyPr/>
          <a:lstStyle/>
          <a:p>
            <a:fld id="{E1105D4F-6183-43EE-9EA4-7503BAED4DFB}" type="slidenum">
              <a:rPr lang="es-SV" smtClean="0"/>
              <a:t>‹#›</a:t>
            </a:fld>
            <a:endParaRPr lang="es-SV"/>
          </a:p>
        </p:txBody>
      </p:sp>
    </p:spTree>
    <p:extLst>
      <p:ext uri="{BB962C8B-B14F-4D97-AF65-F5344CB8AC3E}">
        <p14:creationId xmlns:p14="http://schemas.microsoft.com/office/powerpoint/2010/main" val="4187424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SV"/>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30434D-5CFB-4A19-948B-80306FA747B6}" type="datetime1">
              <a:rPr lang="es-SV" smtClean="0"/>
              <a:t>8/7/26</a:t>
            </a:fld>
            <a:endParaRPr lang="es-SV"/>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SV"/>
              <a:t>Programación I/2019. Ing. Asencio</a:t>
            </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105D4F-6183-43EE-9EA4-7503BAED4DFB}" type="slidenum">
              <a:rPr lang="es-SV" smtClean="0"/>
              <a:t>‹#›</a:t>
            </a:fld>
            <a:endParaRPr lang="es-SV"/>
          </a:p>
        </p:txBody>
      </p:sp>
    </p:spTree>
    <p:extLst>
      <p:ext uri="{BB962C8B-B14F-4D97-AF65-F5344CB8AC3E}">
        <p14:creationId xmlns:p14="http://schemas.microsoft.com/office/powerpoint/2010/main" val="3469899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MX" dirty="0"/>
              <a:t>LENGUAJE </a:t>
            </a:r>
            <a:r>
              <a:rPr lang="es-MX" dirty="0">
                <a:solidFill>
                  <a:prstClr val="black"/>
                </a:solidFill>
              </a:rPr>
              <a:t>DE MODELADO </a:t>
            </a:r>
            <a:r>
              <a:rPr lang="es-MX" dirty="0"/>
              <a:t>UNIFICADO</a:t>
            </a:r>
            <a:br>
              <a:rPr lang="es-MX" dirty="0"/>
            </a:br>
            <a:r>
              <a:rPr lang="es-MX" dirty="0"/>
              <a:t>UML</a:t>
            </a:r>
            <a:endParaRPr lang="es-SV" dirty="0"/>
          </a:p>
        </p:txBody>
      </p:sp>
      <p:pic>
        <p:nvPicPr>
          <p:cNvPr id="4" name="3 Marcador de contenido" descr="https://upload.wikimedia.org/wikipedia/en/2/2d/UML_logo.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95736" y="1844824"/>
            <a:ext cx="4320480" cy="3672408"/>
          </a:xfrm>
          <a:prstGeom prst="rect">
            <a:avLst/>
          </a:prstGeom>
          <a:noFill/>
          <a:ln>
            <a:noFill/>
          </a:ln>
        </p:spPr>
      </p:pic>
    </p:spTree>
    <p:extLst>
      <p:ext uri="{BB962C8B-B14F-4D97-AF65-F5344CB8AC3E}">
        <p14:creationId xmlns:p14="http://schemas.microsoft.com/office/powerpoint/2010/main" val="2616926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normAutofit/>
          </a:bodyPr>
          <a:lstStyle/>
          <a:p>
            <a:endParaRPr lang="es-SV" dirty="0">
              <a:effectLst/>
              <a:latin typeface="Times New Roman"/>
              <a:ea typeface="Times New Roman"/>
            </a:endParaRPr>
          </a:p>
          <a:p>
            <a:r>
              <a:rPr lang="es-SV" dirty="0">
                <a:effectLst/>
                <a:latin typeface="Times New Roman"/>
                <a:ea typeface="Times New Roman"/>
              </a:rPr>
              <a:t>El </a:t>
            </a:r>
            <a:r>
              <a:rPr lang="es-SV" b="1" dirty="0">
                <a:effectLst/>
                <a:latin typeface="Times New Roman"/>
                <a:ea typeface="Times New Roman"/>
              </a:rPr>
              <a:t>UML</a:t>
            </a:r>
            <a:r>
              <a:rPr lang="es-SV" dirty="0">
                <a:effectLst/>
                <a:latin typeface="Times New Roman"/>
                <a:ea typeface="Times New Roman"/>
              </a:rPr>
              <a:t>  es el lenguaje </a:t>
            </a:r>
            <a:r>
              <a:rPr lang="es-SV" b="1" dirty="0">
                <a:effectLst/>
                <a:latin typeface="Times New Roman"/>
                <a:ea typeface="Times New Roman"/>
              </a:rPr>
              <a:t>estándar</a:t>
            </a:r>
            <a:r>
              <a:rPr lang="es-SV" dirty="0">
                <a:effectLst/>
                <a:latin typeface="Times New Roman"/>
                <a:ea typeface="Times New Roman"/>
              </a:rPr>
              <a:t> de modelado para desarrollo de software utilizando POO.</a:t>
            </a:r>
          </a:p>
          <a:p>
            <a:pPr algn="just">
              <a:lnSpc>
                <a:spcPct val="115000"/>
              </a:lnSpc>
              <a:spcAft>
                <a:spcPts val="1000"/>
              </a:spcAft>
            </a:pPr>
            <a:r>
              <a:rPr lang="es-SV" dirty="0">
                <a:latin typeface="Times New Roman"/>
                <a:ea typeface="Times New Roman"/>
              </a:rPr>
              <a:t>El lenguaje UML tiene una </a:t>
            </a:r>
            <a:r>
              <a:rPr lang="es-SV" b="1" dirty="0">
                <a:latin typeface="Times New Roman"/>
                <a:ea typeface="Times New Roman"/>
              </a:rPr>
              <a:t>gran aplicación </a:t>
            </a:r>
            <a:r>
              <a:rPr lang="es-SV" dirty="0">
                <a:latin typeface="Times New Roman"/>
                <a:ea typeface="Times New Roman"/>
              </a:rPr>
              <a:t>en la representación y </a:t>
            </a:r>
            <a:r>
              <a:rPr lang="es-SV" b="1" dirty="0">
                <a:latin typeface="Times New Roman"/>
                <a:ea typeface="Times New Roman"/>
              </a:rPr>
              <a:t>modelado</a:t>
            </a:r>
            <a:r>
              <a:rPr lang="es-SV" dirty="0">
                <a:latin typeface="Times New Roman"/>
                <a:ea typeface="Times New Roman"/>
              </a:rPr>
              <a:t> de la información que se utiliza en las </a:t>
            </a:r>
            <a:r>
              <a:rPr lang="es-SV" b="1" dirty="0">
                <a:latin typeface="Times New Roman"/>
                <a:ea typeface="Times New Roman"/>
              </a:rPr>
              <a:t>fases de análisis y diseño del ciclo de vida</a:t>
            </a:r>
            <a:r>
              <a:rPr lang="es-SV" dirty="0">
                <a:latin typeface="Times New Roman"/>
                <a:ea typeface="Times New Roman"/>
              </a:rPr>
              <a:t> de los sistemas.</a:t>
            </a:r>
            <a:endParaRPr lang="es-MX" dirty="0">
              <a:latin typeface="Times New Roman"/>
              <a:ea typeface="Times New Roman"/>
            </a:endParaRPr>
          </a:p>
        </p:txBody>
      </p:sp>
    </p:spTree>
    <p:extLst>
      <p:ext uri="{BB962C8B-B14F-4D97-AF65-F5344CB8AC3E}">
        <p14:creationId xmlns:p14="http://schemas.microsoft.com/office/powerpoint/2010/main" val="2952197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endParaRPr lang="es-MX"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809625"/>
            <a:ext cx="7920880"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8219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dirty="0"/>
          </a:p>
        </p:txBody>
      </p:sp>
      <p:sp>
        <p:nvSpPr>
          <p:cNvPr id="3" name="2 Marcador de contenido"/>
          <p:cNvSpPr>
            <a:spLocks noGrp="1"/>
          </p:cNvSpPr>
          <p:nvPr>
            <p:ph idx="1"/>
          </p:nvPr>
        </p:nvSpPr>
        <p:spPr/>
        <p:txBody>
          <a:bodyPr>
            <a:normAutofit fontScale="92500"/>
          </a:bodyPr>
          <a:lstStyle/>
          <a:p>
            <a:pPr lvl="0"/>
            <a:r>
              <a:rPr lang="es-MX" dirty="0">
                <a:solidFill>
                  <a:prstClr val="black"/>
                </a:solidFill>
                <a:latin typeface="Times New Roman"/>
              </a:rPr>
              <a:t>Un </a:t>
            </a:r>
            <a:r>
              <a:rPr lang="es-MX" b="1" dirty="0">
                <a:solidFill>
                  <a:prstClr val="black"/>
                </a:solidFill>
                <a:latin typeface="Times New Roman"/>
              </a:rPr>
              <a:t>modelo</a:t>
            </a:r>
            <a:r>
              <a:rPr lang="es-MX" dirty="0">
                <a:solidFill>
                  <a:prstClr val="black"/>
                </a:solidFill>
                <a:latin typeface="Times New Roman"/>
              </a:rPr>
              <a:t> es una </a:t>
            </a:r>
            <a:r>
              <a:rPr lang="es-MX" b="1" dirty="0">
                <a:solidFill>
                  <a:prstClr val="black"/>
                </a:solidFill>
                <a:latin typeface="Times New Roman"/>
              </a:rPr>
              <a:t>simplificación</a:t>
            </a:r>
            <a:r>
              <a:rPr lang="es-MX" dirty="0">
                <a:solidFill>
                  <a:prstClr val="black"/>
                </a:solidFill>
                <a:latin typeface="Times New Roman"/>
              </a:rPr>
              <a:t> del sistema real que se consigue mediante una </a:t>
            </a:r>
            <a:r>
              <a:rPr lang="es-MX" b="1" dirty="0">
                <a:solidFill>
                  <a:prstClr val="black"/>
                </a:solidFill>
                <a:latin typeface="Times New Roman"/>
              </a:rPr>
              <a:t>abstracción</a:t>
            </a:r>
            <a:r>
              <a:rPr lang="es-MX" dirty="0">
                <a:solidFill>
                  <a:prstClr val="black"/>
                </a:solidFill>
                <a:latin typeface="Times New Roman"/>
              </a:rPr>
              <a:t>; ignorando los detalles que sean irrelevantes.</a:t>
            </a:r>
          </a:p>
          <a:p>
            <a:pPr lvl="0"/>
            <a:r>
              <a:rPr lang="es-SV" dirty="0">
                <a:solidFill>
                  <a:prstClr val="black"/>
                </a:solidFill>
                <a:latin typeface="Times New Roman"/>
              </a:rPr>
              <a:t>En pocas palabras es la </a:t>
            </a:r>
            <a:r>
              <a:rPr lang="es-SV" b="1" dirty="0">
                <a:solidFill>
                  <a:prstClr val="black"/>
                </a:solidFill>
                <a:latin typeface="Times New Roman"/>
              </a:rPr>
              <a:t>representación gráfica del sistema real</a:t>
            </a:r>
            <a:r>
              <a:rPr lang="es-SV" dirty="0">
                <a:solidFill>
                  <a:prstClr val="black"/>
                </a:solidFill>
                <a:latin typeface="Times New Roman"/>
              </a:rPr>
              <a:t>, mediante una simbología que esquematiza clases, objetos, relaciones, etc. </a:t>
            </a:r>
            <a:endParaRPr lang="es-MX" dirty="0">
              <a:solidFill>
                <a:prstClr val="black"/>
              </a:solidFill>
              <a:latin typeface="Times New Roman"/>
            </a:endParaRPr>
          </a:p>
          <a:p>
            <a:pPr lvl="0"/>
            <a:r>
              <a:rPr lang="es-MX" dirty="0">
                <a:solidFill>
                  <a:prstClr val="black"/>
                </a:solidFill>
                <a:latin typeface="Times New Roman"/>
              </a:rPr>
              <a:t>El modelado pretende capturar las partes </a:t>
            </a:r>
            <a:r>
              <a:rPr lang="es-MX" b="1" dirty="0">
                <a:solidFill>
                  <a:prstClr val="black"/>
                </a:solidFill>
                <a:latin typeface="Times New Roman"/>
              </a:rPr>
              <a:t>fundamentales</a:t>
            </a:r>
            <a:r>
              <a:rPr lang="es-MX" dirty="0">
                <a:solidFill>
                  <a:prstClr val="black"/>
                </a:solidFill>
                <a:latin typeface="Times New Roman"/>
              </a:rPr>
              <a:t> de un sistema.</a:t>
            </a:r>
            <a:endParaRPr lang="es-SV" dirty="0">
              <a:solidFill>
                <a:prstClr val="black"/>
              </a:solidFill>
            </a:endParaRPr>
          </a:p>
          <a:p>
            <a:endParaRPr lang="es-MX" dirty="0"/>
          </a:p>
        </p:txBody>
      </p:sp>
    </p:spTree>
    <p:extLst>
      <p:ext uri="{BB962C8B-B14F-4D97-AF65-F5344CB8AC3E}">
        <p14:creationId xmlns:p14="http://schemas.microsoft.com/office/powerpoint/2010/main" val="661959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lstStyle/>
          <a:p>
            <a:pPr lvl="0"/>
            <a:r>
              <a:rPr lang="es-SV" dirty="0">
                <a:solidFill>
                  <a:prstClr val="black"/>
                </a:solidFill>
                <a:latin typeface="Times New Roman"/>
                <a:ea typeface="Times New Roman"/>
              </a:rPr>
              <a:t>El lenguaje UML consiste de un conjunto de </a:t>
            </a:r>
            <a:r>
              <a:rPr lang="es-SV" b="1" dirty="0">
                <a:solidFill>
                  <a:prstClr val="black"/>
                </a:solidFill>
                <a:latin typeface="Times New Roman"/>
                <a:ea typeface="Times New Roman"/>
              </a:rPr>
              <a:t>símbolos y reglas </a:t>
            </a:r>
            <a:r>
              <a:rPr lang="es-SV" dirty="0">
                <a:solidFill>
                  <a:prstClr val="black"/>
                </a:solidFill>
                <a:latin typeface="Times New Roman"/>
                <a:ea typeface="Times New Roman"/>
              </a:rPr>
              <a:t>para visualizar, especificar, construir y documentar software. </a:t>
            </a:r>
          </a:p>
          <a:p>
            <a:r>
              <a:rPr lang="es-MX" dirty="0"/>
              <a:t> </a:t>
            </a:r>
            <a:r>
              <a:rPr lang="es-MX" dirty="0">
                <a:solidFill>
                  <a:prstClr val="black"/>
                </a:solidFill>
                <a:latin typeface="Times New Roman"/>
                <a:ea typeface="Times New Roman"/>
              </a:rPr>
              <a:t>Está compuesto por tres </a:t>
            </a:r>
            <a:r>
              <a:rPr lang="es-MX" b="1" dirty="0">
                <a:solidFill>
                  <a:prstClr val="black"/>
                </a:solidFill>
                <a:latin typeface="Times New Roman"/>
                <a:ea typeface="Times New Roman"/>
              </a:rPr>
              <a:t>categorías</a:t>
            </a:r>
            <a:r>
              <a:rPr lang="es-MX" dirty="0">
                <a:solidFill>
                  <a:prstClr val="black"/>
                </a:solidFill>
                <a:latin typeface="Times New Roman"/>
                <a:ea typeface="Times New Roman"/>
              </a:rPr>
              <a:t> de diagramas: </a:t>
            </a:r>
          </a:p>
          <a:p>
            <a:pPr>
              <a:buFont typeface="Wingdings" pitchFamily="2" charset="2"/>
              <a:buChar char="Ø"/>
            </a:pPr>
            <a:r>
              <a:rPr lang="es-MX" dirty="0">
                <a:solidFill>
                  <a:prstClr val="black"/>
                </a:solidFill>
                <a:latin typeface="Times New Roman"/>
                <a:ea typeface="Times New Roman"/>
              </a:rPr>
              <a:t> De estructura</a:t>
            </a:r>
          </a:p>
          <a:p>
            <a:pPr>
              <a:buFont typeface="Wingdings" pitchFamily="2" charset="2"/>
              <a:buChar char="Ø"/>
            </a:pPr>
            <a:r>
              <a:rPr lang="es-MX" dirty="0">
                <a:solidFill>
                  <a:prstClr val="black"/>
                </a:solidFill>
                <a:latin typeface="Times New Roman"/>
                <a:ea typeface="Times New Roman"/>
              </a:rPr>
              <a:t> De comportamiento</a:t>
            </a:r>
          </a:p>
          <a:p>
            <a:pPr>
              <a:buFont typeface="Wingdings" pitchFamily="2" charset="2"/>
              <a:buChar char="Ø"/>
            </a:pPr>
            <a:r>
              <a:rPr lang="es-MX" dirty="0">
                <a:solidFill>
                  <a:prstClr val="black"/>
                </a:solidFill>
                <a:latin typeface="Times New Roman"/>
                <a:ea typeface="Times New Roman"/>
              </a:rPr>
              <a:t> De interacción</a:t>
            </a:r>
          </a:p>
          <a:p>
            <a:endParaRPr lang="es-SV" dirty="0"/>
          </a:p>
        </p:txBody>
      </p:sp>
    </p:spTree>
    <p:extLst>
      <p:ext uri="{BB962C8B-B14F-4D97-AF65-F5344CB8AC3E}">
        <p14:creationId xmlns:p14="http://schemas.microsoft.com/office/powerpoint/2010/main" val="3569271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MX" dirty="0"/>
              <a:t>CLASIFICACION DE DIAGRAMAS UML</a:t>
            </a:r>
          </a:p>
        </p:txBody>
      </p:sp>
      <p:pic>
        <p:nvPicPr>
          <p:cNvPr id="4" name="3 Marcador de contenido"/>
          <p:cNvPicPr>
            <a:picLocks noGrp="1"/>
          </p:cNvPicPr>
          <p:nvPr>
            <p:ph idx="1"/>
          </p:nvPr>
        </p:nvPicPr>
        <p:blipFill rotWithShape="1">
          <a:blip r:embed="rId2"/>
          <a:srcRect l="21742" t="14804" r="21355" b="16314"/>
          <a:stretch/>
        </p:blipFill>
        <p:spPr bwMode="auto">
          <a:xfrm>
            <a:off x="611560" y="1639341"/>
            <a:ext cx="7848872" cy="45259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60012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normAutofit fontScale="92500" lnSpcReduction="10000"/>
          </a:bodyPr>
          <a:lstStyle/>
          <a:p>
            <a:r>
              <a:rPr lang="es-MX" dirty="0"/>
              <a:t>Los </a:t>
            </a:r>
            <a:r>
              <a:rPr lang="es-MX" b="1" dirty="0"/>
              <a:t>diagramas de estructura </a:t>
            </a:r>
            <a:r>
              <a:rPr lang="es-MX" dirty="0"/>
              <a:t>enfatizan en los </a:t>
            </a:r>
            <a:r>
              <a:rPr lang="es-MX" b="1" dirty="0"/>
              <a:t>elementos que deben existir </a:t>
            </a:r>
            <a:r>
              <a:rPr lang="es-MX" dirty="0"/>
              <a:t>en el sistema modelado (los </a:t>
            </a:r>
            <a:r>
              <a:rPr lang="es-MX" b="1" dirty="0"/>
              <a:t>requerimientos</a:t>
            </a:r>
            <a:r>
              <a:rPr lang="es-MX" dirty="0"/>
              <a:t>): </a:t>
            </a:r>
          </a:p>
          <a:p>
            <a:r>
              <a:rPr lang="es-MX" dirty="0"/>
              <a:t> 1. </a:t>
            </a:r>
            <a:r>
              <a:rPr lang="es-MX" b="1" dirty="0"/>
              <a:t>Diagrama de clases </a:t>
            </a:r>
          </a:p>
          <a:p>
            <a:r>
              <a:rPr lang="es-MX" dirty="0"/>
              <a:t> 2. Diagrama de componentes</a:t>
            </a:r>
          </a:p>
          <a:p>
            <a:r>
              <a:rPr lang="es-MX" dirty="0"/>
              <a:t> 3. Diagrama de objetos</a:t>
            </a:r>
          </a:p>
          <a:p>
            <a:r>
              <a:rPr lang="es-MX" dirty="0"/>
              <a:t> 4. Diagrama de estructura compuesta (UML 2.0)</a:t>
            </a:r>
          </a:p>
          <a:p>
            <a:r>
              <a:rPr lang="es-MX" dirty="0"/>
              <a:t> 5. Diagrama de despliegue </a:t>
            </a:r>
          </a:p>
          <a:p>
            <a:r>
              <a:rPr lang="es-MX" dirty="0"/>
              <a:t> 6. Diagrama de paquetes</a:t>
            </a:r>
          </a:p>
          <a:p>
            <a:endParaRPr lang="es-MX" dirty="0"/>
          </a:p>
        </p:txBody>
      </p:sp>
    </p:spTree>
    <p:extLst>
      <p:ext uri="{BB962C8B-B14F-4D97-AF65-F5344CB8AC3E}">
        <p14:creationId xmlns:p14="http://schemas.microsoft.com/office/powerpoint/2010/main" val="2712681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r>
              <a:rPr lang="es-MX" dirty="0"/>
              <a:t>Los </a:t>
            </a:r>
            <a:r>
              <a:rPr lang="es-MX" b="1" dirty="0"/>
              <a:t>diagramas de comportamiento </a:t>
            </a:r>
            <a:r>
              <a:rPr lang="es-MX" dirty="0"/>
              <a:t>enfatizan en </a:t>
            </a:r>
            <a:r>
              <a:rPr lang="es-MX" b="1" dirty="0"/>
              <a:t>lo que debe suceder </a:t>
            </a:r>
            <a:r>
              <a:rPr lang="es-MX" dirty="0"/>
              <a:t>en el sistema modelado:</a:t>
            </a:r>
          </a:p>
          <a:p>
            <a:r>
              <a:rPr lang="es-MX" dirty="0"/>
              <a:t> 1. Diagrama de actividades</a:t>
            </a:r>
          </a:p>
          <a:p>
            <a:r>
              <a:rPr lang="es-MX" dirty="0"/>
              <a:t> 2. </a:t>
            </a:r>
            <a:r>
              <a:rPr lang="es-MX" b="1" dirty="0"/>
              <a:t>Diagrama de casos de uso</a:t>
            </a:r>
          </a:p>
          <a:p>
            <a:r>
              <a:rPr lang="es-MX" dirty="0"/>
              <a:t> 3. Diagrama de estados</a:t>
            </a:r>
          </a:p>
          <a:p>
            <a:endParaRPr lang="es-MX" dirty="0"/>
          </a:p>
        </p:txBody>
      </p:sp>
    </p:spTree>
    <p:extLst>
      <p:ext uri="{BB962C8B-B14F-4D97-AF65-F5344CB8AC3E}">
        <p14:creationId xmlns:p14="http://schemas.microsoft.com/office/powerpoint/2010/main" val="199216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r>
              <a:rPr lang="es-MX" dirty="0"/>
              <a:t>Los </a:t>
            </a:r>
            <a:r>
              <a:rPr lang="es-MX" b="1" dirty="0"/>
              <a:t>diagramas de interacción</a:t>
            </a:r>
            <a:r>
              <a:rPr lang="es-MX" dirty="0"/>
              <a:t>, son un subtipo de diagramas de comportamiento. Enfatiza sobre el </a:t>
            </a:r>
            <a:r>
              <a:rPr lang="es-MX" b="1" dirty="0"/>
              <a:t>flujo de control y de datos </a:t>
            </a:r>
            <a:r>
              <a:rPr lang="es-MX" dirty="0"/>
              <a:t>entre los elementos del sistema modelado:</a:t>
            </a:r>
          </a:p>
          <a:p>
            <a:r>
              <a:rPr lang="es-MX" dirty="0"/>
              <a:t> 1. Diagrama de secuencia</a:t>
            </a:r>
          </a:p>
          <a:p>
            <a:r>
              <a:rPr lang="es-MX" dirty="0"/>
              <a:t> 2. Diagrama de comunicación</a:t>
            </a:r>
          </a:p>
          <a:p>
            <a:r>
              <a:rPr lang="es-MX" dirty="0"/>
              <a:t> 3. Diagrama de tiempos (UML 2.0)</a:t>
            </a:r>
          </a:p>
          <a:p>
            <a:r>
              <a:rPr lang="es-MX" dirty="0"/>
              <a:t> 4. Diagrama de vista de interacción (UML 2.0)</a:t>
            </a:r>
          </a:p>
        </p:txBody>
      </p:sp>
    </p:spTree>
    <p:extLst>
      <p:ext uri="{BB962C8B-B14F-4D97-AF65-F5344CB8AC3E}">
        <p14:creationId xmlns:p14="http://schemas.microsoft.com/office/powerpoint/2010/main" val="3762398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MX" dirty="0"/>
              <a:t>DIAGRAMAS DE CLASES</a:t>
            </a:r>
            <a:endParaRPr lang="es-SV" dirty="0"/>
          </a:p>
        </p:txBody>
      </p:sp>
      <p:sp>
        <p:nvSpPr>
          <p:cNvPr id="3" name="2 Subtítulo"/>
          <p:cNvSpPr>
            <a:spLocks noGrp="1"/>
          </p:cNvSpPr>
          <p:nvPr>
            <p:ph type="subTitle" idx="1"/>
          </p:nvPr>
        </p:nvSpPr>
        <p:spPr/>
        <p:txBody>
          <a:bodyPr/>
          <a:lstStyle/>
          <a:p>
            <a:endParaRPr lang="es-SV" dirty="0"/>
          </a:p>
        </p:txBody>
      </p:sp>
    </p:spTree>
    <p:extLst>
      <p:ext uri="{BB962C8B-B14F-4D97-AF65-F5344CB8AC3E}">
        <p14:creationId xmlns:p14="http://schemas.microsoft.com/office/powerpoint/2010/main" val="3044965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normAutofit lnSpcReduction="10000"/>
          </a:bodyPr>
          <a:lstStyle/>
          <a:p>
            <a:pPr marL="0" indent="0">
              <a:buNone/>
            </a:pPr>
            <a:r>
              <a:rPr lang="es-SV" dirty="0"/>
              <a:t>El </a:t>
            </a:r>
            <a:r>
              <a:rPr lang="es-SV" b="1" dirty="0"/>
              <a:t>modelo conceptual o modelo de dominio </a:t>
            </a:r>
            <a:r>
              <a:rPr lang="es-SV" dirty="0"/>
              <a:t>es una primera aproximación al </a:t>
            </a:r>
            <a:r>
              <a:rPr lang="es-SV" b="1" dirty="0"/>
              <a:t>diagrama de clases</a:t>
            </a:r>
            <a:r>
              <a:rPr lang="es-SV" dirty="0"/>
              <a:t> del sistema.</a:t>
            </a:r>
          </a:p>
          <a:p>
            <a:pPr marL="0" indent="0">
              <a:buNone/>
            </a:pPr>
            <a:r>
              <a:rPr lang="es-MX" dirty="0"/>
              <a:t>Es el encargado de </a:t>
            </a:r>
            <a:r>
              <a:rPr lang="es-MX" b="1" dirty="0"/>
              <a:t>mostrar</a:t>
            </a:r>
            <a:r>
              <a:rPr lang="es-MX" dirty="0"/>
              <a:t> el conjunto de </a:t>
            </a:r>
            <a:r>
              <a:rPr lang="es-MX" b="1" dirty="0"/>
              <a:t>clases</a:t>
            </a:r>
            <a:r>
              <a:rPr lang="es-MX" dirty="0"/>
              <a:t> </a:t>
            </a:r>
            <a:r>
              <a:rPr lang="es-MX" b="1" dirty="0"/>
              <a:t>conceptuales</a:t>
            </a:r>
            <a:r>
              <a:rPr lang="es-MX" dirty="0"/>
              <a:t> del problema y las </a:t>
            </a:r>
            <a:r>
              <a:rPr lang="es-MX" b="1" dirty="0"/>
              <a:t>relaciones</a:t>
            </a:r>
            <a:r>
              <a:rPr lang="es-MX" dirty="0"/>
              <a:t> presentes entre si.</a:t>
            </a:r>
            <a:endParaRPr lang="es-SV" dirty="0"/>
          </a:p>
          <a:p>
            <a:pPr marL="0" indent="0">
              <a:buNone/>
            </a:pPr>
            <a:r>
              <a:rPr lang="es-SV" dirty="0"/>
              <a:t> En esta etapa lo que se busca es </a:t>
            </a:r>
            <a:r>
              <a:rPr lang="es-SV" b="1" dirty="0"/>
              <a:t>identificar</a:t>
            </a:r>
            <a:r>
              <a:rPr lang="es-SV" dirty="0"/>
              <a:t> los </a:t>
            </a:r>
            <a:r>
              <a:rPr lang="es-SV" b="1" dirty="0"/>
              <a:t>conceptos</a:t>
            </a:r>
            <a:r>
              <a:rPr lang="es-SV" dirty="0"/>
              <a:t> más </a:t>
            </a:r>
            <a:r>
              <a:rPr lang="es-SV" b="1" dirty="0"/>
              <a:t>relevantes</a:t>
            </a:r>
            <a:r>
              <a:rPr lang="es-SV" dirty="0"/>
              <a:t> del problema, sus </a:t>
            </a:r>
            <a:r>
              <a:rPr lang="es-SV" b="1" dirty="0"/>
              <a:t>atributos</a:t>
            </a:r>
            <a:r>
              <a:rPr lang="es-SV" dirty="0"/>
              <a:t> y </a:t>
            </a:r>
            <a:r>
              <a:rPr lang="es-SV" b="1" dirty="0"/>
              <a:t>relaciones</a:t>
            </a:r>
            <a:r>
              <a:rPr lang="es-SV" dirty="0"/>
              <a:t>.</a:t>
            </a:r>
          </a:p>
        </p:txBody>
      </p:sp>
    </p:spTree>
    <p:extLst>
      <p:ext uri="{BB962C8B-B14F-4D97-AF65-F5344CB8AC3E}">
        <p14:creationId xmlns:p14="http://schemas.microsoft.com/office/powerpoint/2010/main" val="2543920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normAutofit fontScale="92500" lnSpcReduction="20000"/>
          </a:bodyPr>
          <a:lstStyle/>
          <a:p>
            <a:pPr marL="0" indent="0">
              <a:buNone/>
            </a:pPr>
            <a:endParaRPr lang="es-SV" dirty="0"/>
          </a:p>
          <a:p>
            <a:pPr marL="0" lvl="0" indent="0">
              <a:buNone/>
            </a:pPr>
            <a:r>
              <a:rPr lang="es-SV" sz="3500" dirty="0">
                <a:solidFill>
                  <a:prstClr val="black"/>
                </a:solidFill>
              </a:rPr>
              <a:t> El modelo conceptual </a:t>
            </a:r>
            <a:r>
              <a:rPr lang="es-SV" sz="3500" b="1" dirty="0">
                <a:solidFill>
                  <a:prstClr val="black"/>
                </a:solidFill>
              </a:rPr>
              <a:t>no es </a:t>
            </a:r>
            <a:r>
              <a:rPr lang="es-SV" sz="3500" dirty="0">
                <a:solidFill>
                  <a:prstClr val="black"/>
                </a:solidFill>
              </a:rPr>
              <a:t>una </a:t>
            </a:r>
            <a:r>
              <a:rPr lang="es-SV" sz="3500" b="1" dirty="0">
                <a:solidFill>
                  <a:prstClr val="black"/>
                </a:solidFill>
              </a:rPr>
              <a:t>descripción</a:t>
            </a:r>
            <a:r>
              <a:rPr lang="es-SV" sz="3500" dirty="0">
                <a:solidFill>
                  <a:prstClr val="black"/>
                </a:solidFill>
              </a:rPr>
              <a:t> de los </a:t>
            </a:r>
            <a:r>
              <a:rPr lang="es-SV" sz="3500" b="1" dirty="0">
                <a:solidFill>
                  <a:prstClr val="black"/>
                </a:solidFill>
              </a:rPr>
              <a:t>componentes</a:t>
            </a:r>
            <a:r>
              <a:rPr lang="es-SV" sz="3500" dirty="0">
                <a:solidFill>
                  <a:prstClr val="black"/>
                </a:solidFill>
              </a:rPr>
              <a:t> del software; sino más bien representa los </a:t>
            </a:r>
            <a:r>
              <a:rPr lang="es-SV" sz="3500" b="1" dirty="0">
                <a:solidFill>
                  <a:prstClr val="black"/>
                </a:solidFill>
              </a:rPr>
              <a:t>conceptos</a:t>
            </a:r>
            <a:r>
              <a:rPr lang="es-SV" sz="3500" dirty="0">
                <a:solidFill>
                  <a:prstClr val="black"/>
                </a:solidFill>
              </a:rPr>
              <a:t> en el dominio del problema en el </a:t>
            </a:r>
            <a:r>
              <a:rPr lang="es-SV" sz="3500" b="1" dirty="0">
                <a:solidFill>
                  <a:prstClr val="black"/>
                </a:solidFill>
              </a:rPr>
              <a:t>mundo</a:t>
            </a:r>
            <a:r>
              <a:rPr lang="es-SV" sz="3500" dirty="0">
                <a:solidFill>
                  <a:prstClr val="black"/>
                </a:solidFill>
              </a:rPr>
              <a:t> </a:t>
            </a:r>
            <a:r>
              <a:rPr lang="es-SV" sz="3500" b="1" dirty="0">
                <a:solidFill>
                  <a:prstClr val="black"/>
                </a:solidFill>
              </a:rPr>
              <a:t>real</a:t>
            </a:r>
            <a:r>
              <a:rPr lang="es-SV" sz="3500" dirty="0">
                <a:solidFill>
                  <a:prstClr val="black"/>
                </a:solidFill>
              </a:rPr>
              <a:t>.</a:t>
            </a:r>
          </a:p>
          <a:p>
            <a:pPr lvl="0"/>
            <a:endParaRPr lang="es-SV" sz="3500" dirty="0">
              <a:solidFill>
                <a:prstClr val="black"/>
              </a:solidFill>
            </a:endParaRPr>
          </a:p>
          <a:p>
            <a:pPr marL="0" indent="0">
              <a:buNone/>
            </a:pPr>
            <a:endParaRPr lang="es-SV" sz="3500" dirty="0"/>
          </a:p>
          <a:p>
            <a:pPr marL="0" indent="0">
              <a:buNone/>
            </a:pPr>
            <a:r>
              <a:rPr lang="es-SV" sz="3500" dirty="0"/>
              <a:t>Cuando se está elaborando el </a:t>
            </a:r>
            <a:r>
              <a:rPr lang="es-SV" sz="3500" b="1" dirty="0"/>
              <a:t>modelo</a:t>
            </a:r>
            <a:r>
              <a:rPr lang="es-SV" sz="3500" dirty="0"/>
              <a:t> </a:t>
            </a:r>
            <a:r>
              <a:rPr lang="es-SV" sz="3500" b="1" dirty="0"/>
              <a:t>conceptual</a:t>
            </a:r>
            <a:r>
              <a:rPr lang="es-SV" sz="3500" dirty="0"/>
              <a:t> lo más </a:t>
            </a:r>
            <a:r>
              <a:rPr lang="es-SV" sz="3500" b="1" dirty="0"/>
              <a:t>relevante</a:t>
            </a:r>
            <a:r>
              <a:rPr lang="es-SV" sz="3500" dirty="0"/>
              <a:t> es el nombre de la </a:t>
            </a:r>
            <a:r>
              <a:rPr lang="es-SV" sz="3500" b="1" dirty="0"/>
              <a:t>clase</a:t>
            </a:r>
            <a:r>
              <a:rPr lang="es-SV" sz="3500" dirty="0"/>
              <a:t> y de ser posible, sus </a:t>
            </a:r>
            <a:r>
              <a:rPr lang="es-SV" sz="3500" b="1" dirty="0"/>
              <a:t>atributos</a:t>
            </a:r>
            <a:r>
              <a:rPr lang="es-SV" sz="3500" dirty="0"/>
              <a:t>.</a:t>
            </a:r>
          </a:p>
          <a:p>
            <a:pPr marL="0" indent="0">
              <a:buNone/>
            </a:pPr>
            <a:endParaRPr lang="es-SV" dirty="0"/>
          </a:p>
        </p:txBody>
      </p:sp>
    </p:spTree>
    <p:extLst>
      <p:ext uri="{BB962C8B-B14F-4D97-AF65-F5344CB8AC3E}">
        <p14:creationId xmlns:p14="http://schemas.microsoft.com/office/powerpoint/2010/main" val="3673746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normAutofit lnSpcReduction="10000"/>
          </a:bodyPr>
          <a:lstStyle/>
          <a:p>
            <a:pPr marL="0" indent="0">
              <a:buNone/>
            </a:pPr>
            <a:r>
              <a:rPr lang="es-SV" dirty="0">
                <a:ea typeface="Calibri"/>
                <a:cs typeface="Times New Roman"/>
              </a:rPr>
              <a:t>Un </a:t>
            </a:r>
            <a:r>
              <a:rPr lang="es-SV" b="1" dirty="0">
                <a:ea typeface="Calibri"/>
                <a:cs typeface="Times New Roman"/>
              </a:rPr>
              <a:t>Diagrama de Clases </a:t>
            </a:r>
            <a:r>
              <a:rPr lang="es-SV" dirty="0">
                <a:ea typeface="Calibri"/>
                <a:cs typeface="Times New Roman"/>
              </a:rPr>
              <a:t>es una </a:t>
            </a:r>
            <a:r>
              <a:rPr lang="es-SV" b="1" dirty="0">
                <a:ea typeface="Calibri"/>
                <a:cs typeface="Times New Roman"/>
              </a:rPr>
              <a:t>representación</a:t>
            </a:r>
            <a:r>
              <a:rPr lang="es-SV" dirty="0">
                <a:ea typeface="Calibri"/>
                <a:cs typeface="Times New Roman"/>
              </a:rPr>
              <a:t> </a:t>
            </a:r>
            <a:r>
              <a:rPr lang="es-SV" b="1" dirty="0">
                <a:ea typeface="Calibri"/>
                <a:cs typeface="Times New Roman"/>
              </a:rPr>
              <a:t>gráfica</a:t>
            </a:r>
            <a:r>
              <a:rPr lang="es-SV" dirty="0">
                <a:ea typeface="Calibri"/>
                <a:cs typeface="Times New Roman"/>
              </a:rPr>
              <a:t> de las </a:t>
            </a:r>
            <a:r>
              <a:rPr lang="es-SV" b="1" dirty="0">
                <a:ea typeface="Calibri"/>
                <a:cs typeface="Times New Roman"/>
              </a:rPr>
              <a:t>clases</a:t>
            </a:r>
            <a:r>
              <a:rPr lang="es-SV" dirty="0">
                <a:ea typeface="Calibri"/>
                <a:cs typeface="Times New Roman"/>
              </a:rPr>
              <a:t> de un sistema. </a:t>
            </a:r>
          </a:p>
          <a:p>
            <a:pPr marL="0" indent="0">
              <a:buNone/>
            </a:pPr>
            <a:r>
              <a:rPr lang="es-SV" dirty="0">
                <a:ea typeface="Calibri"/>
                <a:cs typeface="Times New Roman"/>
              </a:rPr>
              <a:t>Sirve para </a:t>
            </a:r>
            <a:r>
              <a:rPr lang="es-SV" b="1" dirty="0">
                <a:ea typeface="Calibri"/>
                <a:cs typeface="Times New Roman"/>
              </a:rPr>
              <a:t>modelar</a:t>
            </a:r>
            <a:r>
              <a:rPr lang="es-SV" dirty="0">
                <a:ea typeface="Calibri"/>
                <a:cs typeface="Times New Roman"/>
              </a:rPr>
              <a:t> el </a:t>
            </a:r>
            <a:r>
              <a:rPr lang="es-SV" b="1" dirty="0">
                <a:ea typeface="Calibri"/>
                <a:cs typeface="Times New Roman"/>
              </a:rPr>
              <a:t>sistema</a:t>
            </a:r>
            <a:r>
              <a:rPr lang="es-SV" dirty="0">
                <a:ea typeface="Calibri"/>
                <a:cs typeface="Times New Roman"/>
              </a:rPr>
              <a:t> en términos de sus </a:t>
            </a:r>
            <a:r>
              <a:rPr lang="es-SV" b="1" dirty="0">
                <a:ea typeface="Calibri"/>
                <a:cs typeface="Times New Roman"/>
              </a:rPr>
              <a:t>clases</a:t>
            </a:r>
            <a:r>
              <a:rPr lang="es-SV" dirty="0">
                <a:ea typeface="Calibri"/>
                <a:cs typeface="Times New Roman"/>
              </a:rPr>
              <a:t>, </a:t>
            </a:r>
            <a:r>
              <a:rPr lang="es-SV" b="1" dirty="0">
                <a:ea typeface="Calibri"/>
                <a:cs typeface="Times New Roman"/>
              </a:rPr>
              <a:t>atributos</a:t>
            </a:r>
            <a:r>
              <a:rPr lang="es-SV" dirty="0">
                <a:ea typeface="Calibri"/>
                <a:cs typeface="Times New Roman"/>
              </a:rPr>
              <a:t> y las </a:t>
            </a:r>
            <a:r>
              <a:rPr lang="es-SV" b="1" dirty="0">
                <a:ea typeface="Calibri"/>
                <a:cs typeface="Times New Roman"/>
              </a:rPr>
              <a:t>relaciones</a:t>
            </a:r>
            <a:r>
              <a:rPr lang="es-SV" dirty="0">
                <a:ea typeface="Calibri"/>
                <a:cs typeface="Times New Roman"/>
              </a:rPr>
              <a:t> entre estos elementos.</a:t>
            </a:r>
          </a:p>
          <a:p>
            <a:pPr marL="0" indent="0">
              <a:buNone/>
            </a:pPr>
            <a:r>
              <a:rPr lang="es-SV" dirty="0">
                <a:ea typeface="Calibri"/>
                <a:cs typeface="Times New Roman"/>
              </a:rPr>
              <a:t>Este tipo de diagramas proporcionan un medio de capturar la </a:t>
            </a:r>
            <a:r>
              <a:rPr lang="es-SV" b="1" dirty="0">
                <a:ea typeface="Calibri"/>
                <a:cs typeface="Times New Roman"/>
              </a:rPr>
              <a:t>estructura física de un sistema</a:t>
            </a:r>
            <a:r>
              <a:rPr lang="es-SV" dirty="0">
                <a:ea typeface="Calibri"/>
                <a:cs typeface="Times New Roman"/>
              </a:rPr>
              <a:t>.</a:t>
            </a:r>
          </a:p>
          <a:p>
            <a:pPr marL="0" indent="0">
              <a:buNone/>
            </a:pPr>
            <a:r>
              <a:rPr lang="es-SV" dirty="0">
                <a:ea typeface="Calibri"/>
                <a:cs typeface="Times New Roman"/>
              </a:rPr>
              <a:t>Se utiliza en la etapa de </a:t>
            </a:r>
            <a:r>
              <a:rPr lang="es-SV" b="1" dirty="0">
                <a:ea typeface="Calibri"/>
                <a:cs typeface="Times New Roman"/>
              </a:rPr>
              <a:t>análisis</a:t>
            </a:r>
            <a:r>
              <a:rPr lang="es-SV" dirty="0">
                <a:ea typeface="Calibri"/>
                <a:cs typeface="Times New Roman"/>
              </a:rPr>
              <a:t> del problema y </a:t>
            </a:r>
            <a:r>
              <a:rPr lang="es-SV" b="1" dirty="0">
                <a:ea typeface="Calibri"/>
                <a:cs typeface="Times New Roman"/>
              </a:rPr>
              <a:t>diseño</a:t>
            </a:r>
            <a:r>
              <a:rPr lang="es-SV" dirty="0">
                <a:ea typeface="Calibri"/>
                <a:cs typeface="Times New Roman"/>
              </a:rPr>
              <a:t> de la solución. </a:t>
            </a:r>
            <a:endParaRPr lang="es-SV" dirty="0"/>
          </a:p>
        </p:txBody>
      </p:sp>
    </p:spTree>
    <p:extLst>
      <p:ext uri="{BB962C8B-B14F-4D97-AF65-F5344CB8AC3E}">
        <p14:creationId xmlns:p14="http://schemas.microsoft.com/office/powerpoint/2010/main" val="1194965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a:xfrm>
            <a:off x="179512" y="1600200"/>
            <a:ext cx="8712968" cy="4525963"/>
          </a:xfrm>
        </p:spPr>
        <p:txBody>
          <a:bodyPr>
            <a:normAutofit fontScale="70000" lnSpcReduction="20000"/>
          </a:bodyPr>
          <a:lstStyle/>
          <a:p>
            <a:pPr>
              <a:lnSpc>
                <a:spcPct val="115000"/>
              </a:lnSpc>
              <a:spcAft>
                <a:spcPts val="1000"/>
              </a:spcAft>
            </a:pPr>
            <a:r>
              <a:rPr lang="es-SV" sz="4000" dirty="0">
                <a:ea typeface="Calibri"/>
                <a:cs typeface="Times New Roman"/>
              </a:rPr>
              <a:t>Un diagrama de clases esta compuesto por los siguientes elementos: </a:t>
            </a:r>
          </a:p>
          <a:p>
            <a:pPr lvl="0">
              <a:lnSpc>
                <a:spcPct val="115000"/>
              </a:lnSpc>
              <a:spcAft>
                <a:spcPts val="1000"/>
              </a:spcAft>
              <a:buSzPts val="1000"/>
              <a:buFont typeface="Symbol"/>
              <a:buChar char=""/>
              <a:tabLst>
                <a:tab pos="457200" algn="l"/>
              </a:tabLst>
            </a:pPr>
            <a:r>
              <a:rPr lang="es-SV" sz="4000" b="1" dirty="0">
                <a:ea typeface="Calibri"/>
                <a:cs typeface="Times New Roman"/>
              </a:rPr>
              <a:t>Clase</a:t>
            </a:r>
            <a:r>
              <a:rPr lang="es-SV" sz="4000" dirty="0">
                <a:ea typeface="Calibri"/>
                <a:cs typeface="Times New Roman"/>
              </a:rPr>
              <a:t>: atributos, métodos y visibilidad. </a:t>
            </a:r>
          </a:p>
          <a:p>
            <a:pPr>
              <a:lnSpc>
                <a:spcPct val="115000"/>
              </a:lnSpc>
              <a:spcAft>
                <a:spcPts val="1000"/>
              </a:spcAft>
              <a:buSzPts val="1000"/>
              <a:buFont typeface="Symbol"/>
              <a:buChar char=""/>
              <a:tabLst>
                <a:tab pos="457200" algn="l"/>
              </a:tabLst>
            </a:pPr>
            <a:r>
              <a:rPr lang="es-SV" sz="4000" b="1" dirty="0">
                <a:ea typeface="Calibri"/>
                <a:cs typeface="Times New Roman"/>
              </a:rPr>
              <a:t>Relaciones</a:t>
            </a:r>
            <a:r>
              <a:rPr lang="es-SV" sz="4000" dirty="0">
                <a:ea typeface="Calibri"/>
                <a:cs typeface="Times New Roman"/>
              </a:rPr>
              <a:t>: E</a:t>
            </a:r>
            <a:r>
              <a:rPr lang="es-MX" sz="4000" dirty="0">
                <a:ea typeface="Calibri"/>
                <a:cs typeface="Times New Roman"/>
              </a:rPr>
              <a:t>s una conexión entre clases. </a:t>
            </a:r>
            <a:r>
              <a:rPr lang="es-SV" sz="4000" dirty="0">
                <a:ea typeface="Calibri"/>
                <a:cs typeface="Times New Roman"/>
              </a:rPr>
              <a:t>Dependencia, Asociación, </a:t>
            </a:r>
            <a:r>
              <a:rPr lang="es-MX" sz="4000" dirty="0">
                <a:ea typeface="Calibri"/>
                <a:cs typeface="Times New Roman"/>
              </a:rPr>
              <a:t>Agregación, composición y </a:t>
            </a:r>
            <a:r>
              <a:rPr lang="es-SV" sz="4000" dirty="0">
                <a:ea typeface="Calibri"/>
                <a:cs typeface="Times New Roman"/>
              </a:rPr>
              <a:t>Generalización. </a:t>
            </a:r>
          </a:p>
          <a:p>
            <a:pPr lvl="0">
              <a:lnSpc>
                <a:spcPct val="115000"/>
              </a:lnSpc>
              <a:spcAft>
                <a:spcPts val="1000"/>
              </a:spcAft>
              <a:buSzPts val="1000"/>
              <a:buFont typeface="Symbol"/>
              <a:buChar char=""/>
              <a:tabLst>
                <a:tab pos="457200" algn="l"/>
              </a:tabLst>
            </a:pPr>
            <a:r>
              <a:rPr lang="es-MX" sz="4000" b="1" dirty="0">
                <a:ea typeface="Calibri"/>
                <a:cs typeface="Times New Roman"/>
              </a:rPr>
              <a:t>Multiplicidad</a:t>
            </a:r>
            <a:r>
              <a:rPr lang="es-MX" sz="4000" dirty="0">
                <a:ea typeface="Calibri"/>
                <a:cs typeface="Times New Roman"/>
              </a:rPr>
              <a:t>: </a:t>
            </a:r>
            <a:r>
              <a:rPr lang="es-SV" sz="4000" dirty="0">
                <a:ea typeface="Calibri"/>
                <a:cs typeface="Times New Roman"/>
              </a:rPr>
              <a:t>Representa la cantidad de objetos de una clase que se relacionan con un objeto de la clase asociada.</a:t>
            </a:r>
          </a:p>
          <a:p>
            <a:pPr lvl="0">
              <a:lnSpc>
                <a:spcPct val="115000"/>
              </a:lnSpc>
              <a:spcAft>
                <a:spcPts val="1000"/>
              </a:spcAft>
              <a:buSzPts val="1000"/>
              <a:buFont typeface="Symbol"/>
              <a:buChar char=""/>
              <a:tabLst>
                <a:tab pos="457200" algn="l"/>
              </a:tabLst>
            </a:pPr>
            <a:endParaRPr lang="es-SV" sz="4000" dirty="0">
              <a:ea typeface="Calibri"/>
              <a:cs typeface="Times New Roman"/>
            </a:endParaRPr>
          </a:p>
          <a:p>
            <a:endParaRPr lang="es-SV" dirty="0"/>
          </a:p>
        </p:txBody>
      </p:sp>
    </p:spTree>
    <p:extLst>
      <p:ext uri="{BB962C8B-B14F-4D97-AF65-F5344CB8AC3E}">
        <p14:creationId xmlns:p14="http://schemas.microsoft.com/office/powerpoint/2010/main" val="1656261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CLASE</a:t>
            </a:r>
            <a:endParaRPr lang="es-SV" dirty="0"/>
          </a:p>
        </p:txBody>
      </p:sp>
      <p:sp>
        <p:nvSpPr>
          <p:cNvPr id="3" name="2 Marcador de contenido"/>
          <p:cNvSpPr>
            <a:spLocks noGrp="1"/>
          </p:cNvSpPr>
          <p:nvPr>
            <p:ph idx="1"/>
          </p:nvPr>
        </p:nvSpPr>
        <p:spPr/>
        <p:txBody>
          <a:bodyPr/>
          <a:lstStyle/>
          <a:p>
            <a:pPr marL="457200">
              <a:lnSpc>
                <a:spcPct val="115000"/>
              </a:lnSpc>
              <a:spcAft>
                <a:spcPts val="1000"/>
              </a:spcAft>
            </a:pPr>
            <a:r>
              <a:rPr lang="es-SV" dirty="0">
                <a:latin typeface="Times New Roman"/>
                <a:ea typeface="Times New Roman"/>
                <a:cs typeface="Times New Roman"/>
              </a:rPr>
              <a:t>Es la </a:t>
            </a:r>
            <a:r>
              <a:rPr lang="es-SV" b="1" dirty="0">
                <a:latin typeface="Times New Roman"/>
                <a:ea typeface="Times New Roman"/>
                <a:cs typeface="Times New Roman"/>
              </a:rPr>
              <a:t>unidad básica </a:t>
            </a:r>
            <a:r>
              <a:rPr lang="es-SV" dirty="0">
                <a:latin typeface="Times New Roman"/>
                <a:ea typeface="Times New Roman"/>
                <a:cs typeface="Times New Roman"/>
              </a:rPr>
              <a:t>que </a:t>
            </a:r>
            <a:r>
              <a:rPr lang="es-SV" b="1" dirty="0">
                <a:latin typeface="Times New Roman"/>
                <a:ea typeface="Times New Roman"/>
                <a:cs typeface="Times New Roman"/>
              </a:rPr>
              <a:t>encapsula</a:t>
            </a:r>
            <a:r>
              <a:rPr lang="es-SV" dirty="0">
                <a:latin typeface="Times New Roman"/>
                <a:ea typeface="Times New Roman"/>
                <a:cs typeface="Times New Roman"/>
              </a:rPr>
              <a:t> toda la información de un </a:t>
            </a:r>
            <a:r>
              <a:rPr lang="es-SV" b="1" dirty="0">
                <a:latin typeface="Times New Roman"/>
                <a:ea typeface="Times New Roman"/>
                <a:cs typeface="Times New Roman"/>
              </a:rPr>
              <a:t>Objeto</a:t>
            </a:r>
            <a:r>
              <a:rPr lang="es-SV" dirty="0">
                <a:latin typeface="Times New Roman"/>
                <a:ea typeface="Times New Roman"/>
                <a:cs typeface="Times New Roman"/>
              </a:rPr>
              <a:t> (un objeto es una </a:t>
            </a:r>
            <a:r>
              <a:rPr lang="es-SV" b="1" dirty="0">
                <a:latin typeface="Times New Roman"/>
                <a:ea typeface="Times New Roman"/>
                <a:cs typeface="Times New Roman"/>
              </a:rPr>
              <a:t>instancia</a:t>
            </a:r>
            <a:r>
              <a:rPr lang="es-SV" dirty="0">
                <a:latin typeface="Times New Roman"/>
                <a:ea typeface="Times New Roman"/>
                <a:cs typeface="Times New Roman"/>
              </a:rPr>
              <a:t> de una clase).</a:t>
            </a:r>
          </a:p>
          <a:p>
            <a:pPr marL="457200">
              <a:lnSpc>
                <a:spcPct val="115000"/>
              </a:lnSpc>
              <a:spcAft>
                <a:spcPts val="1000"/>
              </a:spcAft>
            </a:pPr>
            <a:r>
              <a:rPr lang="es-SV" dirty="0">
                <a:latin typeface="Times New Roman"/>
                <a:ea typeface="Times New Roman"/>
                <a:cs typeface="Times New Roman"/>
              </a:rPr>
              <a:t> A través de ella podemos </a:t>
            </a:r>
            <a:r>
              <a:rPr lang="es-SV" b="1" dirty="0">
                <a:latin typeface="Times New Roman"/>
                <a:ea typeface="Times New Roman"/>
                <a:cs typeface="Times New Roman"/>
              </a:rPr>
              <a:t>modelar</a:t>
            </a:r>
            <a:r>
              <a:rPr lang="es-SV" dirty="0">
                <a:latin typeface="Times New Roman"/>
                <a:ea typeface="Times New Roman"/>
                <a:cs typeface="Times New Roman"/>
              </a:rPr>
              <a:t> el entorno en estudio (una Casa, un Auto, una Cuenta Corriente, etc.). </a:t>
            </a:r>
            <a:endParaRPr lang="es-SV" sz="2800" dirty="0">
              <a:ea typeface="Calibri"/>
              <a:cs typeface="Times New Roman"/>
            </a:endParaRPr>
          </a:p>
          <a:p>
            <a:endParaRPr lang="es-SV" dirty="0"/>
          </a:p>
        </p:txBody>
      </p:sp>
    </p:spTree>
    <p:extLst>
      <p:ext uri="{BB962C8B-B14F-4D97-AF65-F5344CB8AC3E}">
        <p14:creationId xmlns:p14="http://schemas.microsoft.com/office/powerpoint/2010/main" val="4248692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lstStyle/>
          <a:p>
            <a:pPr marL="457200">
              <a:lnSpc>
                <a:spcPct val="115000"/>
              </a:lnSpc>
              <a:spcAft>
                <a:spcPts val="1000"/>
              </a:spcAft>
            </a:pPr>
            <a:r>
              <a:rPr lang="es-SV" dirty="0">
                <a:latin typeface="Times New Roman"/>
                <a:ea typeface="Times New Roman"/>
                <a:cs typeface="Times New Roman"/>
              </a:rPr>
              <a:t>En UML, una clase es representada por un rectángulo que posee tres divisiones: </a:t>
            </a:r>
            <a:endParaRPr lang="es-SV" sz="2800" dirty="0">
              <a:ea typeface="Calibri"/>
              <a:cs typeface="Times New Roman"/>
            </a:endParaRPr>
          </a:p>
          <a:p>
            <a:endParaRPr lang="es-SV"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789146"/>
            <a:ext cx="3456384" cy="33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3942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a:xfrm>
            <a:off x="251520" y="1600200"/>
            <a:ext cx="8640960" cy="4525963"/>
          </a:xfrm>
        </p:spPr>
        <p:txBody>
          <a:bodyPr>
            <a:normAutofit fontScale="70000" lnSpcReduction="20000"/>
          </a:bodyPr>
          <a:lstStyle/>
          <a:p>
            <a:pPr marL="457200" lvl="1" indent="0">
              <a:lnSpc>
                <a:spcPct val="115000"/>
              </a:lnSpc>
              <a:spcAft>
                <a:spcPts val="1000"/>
              </a:spcAft>
              <a:buSzPts val="1000"/>
              <a:buNone/>
              <a:tabLst>
                <a:tab pos="914400" algn="l"/>
              </a:tabLst>
            </a:pPr>
            <a:r>
              <a:rPr lang="es-SV" sz="4500" dirty="0">
                <a:ea typeface="Calibri"/>
                <a:cs typeface="Times New Roman"/>
              </a:rPr>
              <a:t>La parte </a:t>
            </a:r>
            <a:r>
              <a:rPr lang="es-SV" sz="4500" b="1" dirty="0">
                <a:ea typeface="Calibri"/>
                <a:cs typeface="Times New Roman"/>
              </a:rPr>
              <a:t>superior</a:t>
            </a:r>
            <a:r>
              <a:rPr lang="es-SV" sz="4500" dirty="0">
                <a:ea typeface="Calibri"/>
                <a:cs typeface="Times New Roman"/>
              </a:rPr>
              <a:t>: Contiene el </a:t>
            </a:r>
            <a:r>
              <a:rPr lang="es-SV" sz="4500" b="1" dirty="0">
                <a:ea typeface="Calibri"/>
                <a:cs typeface="Times New Roman"/>
              </a:rPr>
              <a:t>nombre</a:t>
            </a:r>
            <a:r>
              <a:rPr lang="es-SV" sz="4500" dirty="0">
                <a:ea typeface="Calibri"/>
                <a:cs typeface="Times New Roman"/>
              </a:rPr>
              <a:t> de la Clase </a:t>
            </a:r>
          </a:p>
          <a:p>
            <a:pPr marL="457200" lvl="1" indent="0">
              <a:lnSpc>
                <a:spcPct val="115000"/>
              </a:lnSpc>
              <a:spcAft>
                <a:spcPts val="1000"/>
              </a:spcAft>
              <a:buSzPts val="1000"/>
              <a:buNone/>
              <a:tabLst>
                <a:tab pos="914400" algn="l"/>
              </a:tabLst>
            </a:pPr>
            <a:r>
              <a:rPr lang="es-SV" sz="4500" dirty="0">
                <a:ea typeface="Calibri"/>
                <a:cs typeface="Times New Roman"/>
              </a:rPr>
              <a:t>La parte </a:t>
            </a:r>
            <a:r>
              <a:rPr lang="es-SV" sz="4500" b="1" dirty="0">
                <a:ea typeface="Calibri"/>
                <a:cs typeface="Times New Roman"/>
              </a:rPr>
              <a:t>intermedia</a:t>
            </a:r>
            <a:r>
              <a:rPr lang="es-SV" sz="4500" dirty="0">
                <a:ea typeface="Calibri"/>
                <a:cs typeface="Times New Roman"/>
              </a:rPr>
              <a:t>: Contiene los </a:t>
            </a:r>
            <a:r>
              <a:rPr lang="es-SV" sz="4500" b="1" dirty="0">
                <a:ea typeface="Calibri"/>
                <a:cs typeface="Times New Roman"/>
              </a:rPr>
              <a:t>atributos</a:t>
            </a:r>
            <a:r>
              <a:rPr lang="es-SV" sz="4500" dirty="0">
                <a:ea typeface="Calibri"/>
                <a:cs typeface="Times New Roman"/>
              </a:rPr>
              <a:t> (o variables de instancia) que caracterizan a la Clase.</a:t>
            </a:r>
          </a:p>
          <a:p>
            <a:pPr marL="457200" lvl="1" indent="0">
              <a:lnSpc>
                <a:spcPct val="115000"/>
              </a:lnSpc>
              <a:spcAft>
                <a:spcPts val="1000"/>
              </a:spcAft>
              <a:buSzPts val="1000"/>
              <a:buNone/>
              <a:tabLst>
                <a:tab pos="914400" algn="l"/>
              </a:tabLst>
            </a:pPr>
            <a:r>
              <a:rPr lang="es-SV" sz="4500" dirty="0">
                <a:ea typeface="Calibri"/>
                <a:cs typeface="Times New Roman"/>
              </a:rPr>
              <a:t>La parte </a:t>
            </a:r>
            <a:r>
              <a:rPr lang="es-SV" sz="4500" b="1" dirty="0">
                <a:ea typeface="Calibri"/>
                <a:cs typeface="Times New Roman"/>
              </a:rPr>
              <a:t>inferior</a:t>
            </a:r>
            <a:r>
              <a:rPr lang="es-SV" sz="4500" dirty="0">
                <a:ea typeface="Calibri"/>
                <a:cs typeface="Times New Roman"/>
              </a:rPr>
              <a:t>: Contiene los métodos u operaciones, los cuales son la forma como interactúa el objeto con su entorno.</a:t>
            </a:r>
            <a:endParaRPr lang="es-SV" dirty="0"/>
          </a:p>
        </p:txBody>
      </p:sp>
    </p:spTree>
    <p:extLst>
      <p:ext uri="{BB962C8B-B14F-4D97-AF65-F5344CB8AC3E}">
        <p14:creationId xmlns:p14="http://schemas.microsoft.com/office/powerpoint/2010/main" val="3705349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EJEMPLO</a:t>
            </a:r>
            <a:endParaRPr lang="es-SV" dirty="0"/>
          </a:p>
        </p:txBody>
      </p:sp>
      <p:sp>
        <p:nvSpPr>
          <p:cNvPr id="4" name="3 Rectángulo"/>
          <p:cNvSpPr/>
          <p:nvPr/>
        </p:nvSpPr>
        <p:spPr>
          <a:xfrm>
            <a:off x="1619672" y="2348880"/>
            <a:ext cx="5832648" cy="32403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a:p>
        </p:txBody>
      </p:sp>
      <p:cxnSp>
        <p:nvCxnSpPr>
          <p:cNvPr id="6" name="5 Conector recto"/>
          <p:cNvCxnSpPr/>
          <p:nvPr/>
        </p:nvCxnSpPr>
        <p:spPr>
          <a:xfrm flipV="1">
            <a:off x="1629611" y="3005663"/>
            <a:ext cx="5832648" cy="7200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6 Conector recto"/>
          <p:cNvCxnSpPr/>
          <p:nvPr/>
        </p:nvCxnSpPr>
        <p:spPr>
          <a:xfrm flipV="1">
            <a:off x="1595466" y="3886460"/>
            <a:ext cx="5832648" cy="7200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3785811" y="2381488"/>
            <a:ext cx="1451958" cy="584775"/>
          </a:xfrm>
          <a:prstGeom prst="rect">
            <a:avLst/>
          </a:prstGeom>
          <a:noFill/>
        </p:spPr>
        <p:txBody>
          <a:bodyPr wrap="square" rtlCol="0">
            <a:spAutoFit/>
          </a:bodyPr>
          <a:lstStyle/>
          <a:p>
            <a:r>
              <a:rPr lang="es-MX" sz="3200" dirty="0"/>
              <a:t>Cuenta</a:t>
            </a:r>
            <a:endParaRPr lang="es-SV" sz="3200" dirty="0"/>
          </a:p>
        </p:txBody>
      </p:sp>
      <p:sp>
        <p:nvSpPr>
          <p:cNvPr id="12" name="11 Rectángulo"/>
          <p:cNvSpPr/>
          <p:nvPr/>
        </p:nvSpPr>
        <p:spPr>
          <a:xfrm>
            <a:off x="1824066" y="3265162"/>
            <a:ext cx="1162498" cy="584775"/>
          </a:xfrm>
          <a:prstGeom prst="rect">
            <a:avLst/>
          </a:prstGeom>
        </p:spPr>
        <p:txBody>
          <a:bodyPr wrap="none">
            <a:spAutoFit/>
          </a:bodyPr>
          <a:lstStyle/>
          <a:p>
            <a:r>
              <a:rPr lang="es-MX" sz="3200" dirty="0">
                <a:solidFill>
                  <a:prstClr val="black"/>
                </a:solidFill>
              </a:rPr>
              <a:t> saldo</a:t>
            </a:r>
            <a:endParaRPr lang="es-SV" dirty="0"/>
          </a:p>
        </p:txBody>
      </p:sp>
      <p:sp>
        <p:nvSpPr>
          <p:cNvPr id="13" name="12 Rectángulo"/>
          <p:cNvSpPr/>
          <p:nvPr/>
        </p:nvSpPr>
        <p:spPr>
          <a:xfrm>
            <a:off x="1824066" y="4019580"/>
            <a:ext cx="2960644" cy="1569660"/>
          </a:xfrm>
          <a:prstGeom prst="rect">
            <a:avLst/>
          </a:prstGeom>
        </p:spPr>
        <p:txBody>
          <a:bodyPr wrap="square">
            <a:spAutoFit/>
          </a:bodyPr>
          <a:lstStyle/>
          <a:p>
            <a:r>
              <a:rPr lang="es-MX" sz="3200" dirty="0">
                <a:solidFill>
                  <a:prstClr val="black"/>
                </a:solidFill>
              </a:rPr>
              <a:t> depositar </a:t>
            </a:r>
          </a:p>
          <a:p>
            <a:r>
              <a:rPr lang="es-MX" sz="3200" dirty="0">
                <a:solidFill>
                  <a:prstClr val="black"/>
                </a:solidFill>
              </a:rPr>
              <a:t> retirar </a:t>
            </a:r>
          </a:p>
          <a:p>
            <a:r>
              <a:rPr lang="es-MX" sz="3200" dirty="0">
                <a:solidFill>
                  <a:prstClr val="black"/>
                </a:solidFill>
              </a:rPr>
              <a:t> </a:t>
            </a:r>
            <a:r>
              <a:rPr lang="es-MX" sz="3200" dirty="0" err="1">
                <a:solidFill>
                  <a:prstClr val="black"/>
                </a:solidFill>
              </a:rPr>
              <a:t>calcularSaldo</a:t>
            </a:r>
            <a:endParaRPr lang="es-SV" dirty="0"/>
          </a:p>
        </p:txBody>
      </p:sp>
    </p:spTree>
    <p:extLst>
      <p:ext uri="{BB962C8B-B14F-4D97-AF65-F5344CB8AC3E}">
        <p14:creationId xmlns:p14="http://schemas.microsoft.com/office/powerpoint/2010/main" val="1117710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ATRIBUTOS</a:t>
            </a:r>
            <a:endParaRPr lang="es-SV" dirty="0"/>
          </a:p>
        </p:txBody>
      </p:sp>
      <p:sp>
        <p:nvSpPr>
          <p:cNvPr id="3" name="2 Marcador de contenido"/>
          <p:cNvSpPr>
            <a:spLocks noGrp="1"/>
          </p:cNvSpPr>
          <p:nvPr>
            <p:ph idx="1"/>
          </p:nvPr>
        </p:nvSpPr>
        <p:spPr/>
        <p:txBody>
          <a:bodyPr>
            <a:normAutofit fontScale="92500" lnSpcReduction="10000"/>
          </a:bodyPr>
          <a:lstStyle/>
          <a:p>
            <a:pPr marL="571500" indent="0">
              <a:lnSpc>
                <a:spcPct val="115000"/>
              </a:lnSpc>
              <a:spcAft>
                <a:spcPts val="1000"/>
              </a:spcAft>
              <a:buNone/>
            </a:pPr>
            <a:r>
              <a:rPr lang="es-SV" dirty="0">
                <a:latin typeface="Times New Roman"/>
                <a:ea typeface="Times New Roman"/>
                <a:cs typeface="Times New Roman"/>
              </a:rPr>
              <a:t>Los atributos o </a:t>
            </a:r>
            <a:r>
              <a:rPr lang="es-SV" b="1" dirty="0">
                <a:latin typeface="Times New Roman"/>
                <a:ea typeface="Times New Roman"/>
                <a:cs typeface="Times New Roman"/>
              </a:rPr>
              <a:t>características</a:t>
            </a:r>
            <a:r>
              <a:rPr lang="es-SV" dirty="0">
                <a:latin typeface="Times New Roman"/>
                <a:ea typeface="Times New Roman"/>
                <a:cs typeface="Times New Roman"/>
              </a:rPr>
              <a:t> de una Clase pueden tener </a:t>
            </a:r>
            <a:r>
              <a:rPr lang="es-SV" b="1" dirty="0">
                <a:latin typeface="Times New Roman"/>
                <a:ea typeface="Times New Roman"/>
                <a:cs typeface="Times New Roman"/>
              </a:rPr>
              <a:t>cinco tipos de accesibilidad</a:t>
            </a:r>
            <a:r>
              <a:rPr lang="es-SV" dirty="0">
                <a:latin typeface="Times New Roman"/>
                <a:ea typeface="Times New Roman"/>
                <a:cs typeface="Times New Roman"/>
              </a:rPr>
              <a:t>, que definen el grado de </a:t>
            </a:r>
            <a:r>
              <a:rPr lang="es-SV" b="1" dirty="0">
                <a:latin typeface="Times New Roman"/>
                <a:ea typeface="Times New Roman"/>
                <a:cs typeface="Times New Roman"/>
              </a:rPr>
              <a:t>comunicación y visibilidad </a:t>
            </a:r>
            <a:r>
              <a:rPr lang="es-SV" dirty="0">
                <a:latin typeface="Times New Roman"/>
                <a:ea typeface="Times New Roman"/>
                <a:cs typeface="Times New Roman"/>
              </a:rPr>
              <a:t>de ellos con el entorno, estos son: </a:t>
            </a:r>
          </a:p>
          <a:p>
            <a:endParaRPr lang="es-SV" dirty="0"/>
          </a:p>
          <a:p>
            <a:pPr marL="914400" lvl="2" indent="0">
              <a:lnSpc>
                <a:spcPct val="115000"/>
              </a:lnSpc>
              <a:spcAft>
                <a:spcPts val="1000"/>
              </a:spcAft>
              <a:buSzPts val="1000"/>
              <a:buNone/>
              <a:tabLst>
                <a:tab pos="1371600" algn="l"/>
              </a:tabLst>
            </a:pPr>
            <a:r>
              <a:rPr lang="es-SV" sz="3200" b="1" dirty="0" err="1">
                <a:latin typeface="Times New Roman"/>
                <a:ea typeface="Times New Roman"/>
                <a:cs typeface="Times New Roman"/>
              </a:rPr>
              <a:t>Public</a:t>
            </a:r>
            <a:r>
              <a:rPr lang="es-VE" sz="3200" dirty="0">
                <a:latin typeface="Arial" pitchFamily="34" charset="0"/>
                <a:cs typeface="Arial" pitchFamily="34" charset="0"/>
              </a:rPr>
              <a:t>(  +  )</a:t>
            </a:r>
            <a:r>
              <a:rPr lang="es-SV" sz="3200" b="1" dirty="0">
                <a:latin typeface="Times New Roman"/>
                <a:ea typeface="Times New Roman"/>
                <a:cs typeface="Times New Roman"/>
              </a:rPr>
              <a:t> </a:t>
            </a:r>
            <a:r>
              <a:rPr lang="es-SV" sz="3200" dirty="0">
                <a:latin typeface="Times New Roman"/>
                <a:ea typeface="Times New Roman"/>
                <a:cs typeface="Times New Roman"/>
              </a:rPr>
              <a:t>: Indica que el atributo </a:t>
            </a:r>
            <a:r>
              <a:rPr lang="es-SV" sz="3200" b="1" dirty="0">
                <a:latin typeface="Times New Roman"/>
                <a:ea typeface="Times New Roman"/>
                <a:cs typeface="Times New Roman"/>
              </a:rPr>
              <a:t>será visible </a:t>
            </a:r>
            <a:r>
              <a:rPr lang="es-SV" sz="3200" dirty="0">
                <a:latin typeface="Times New Roman"/>
                <a:ea typeface="Times New Roman"/>
                <a:cs typeface="Times New Roman"/>
              </a:rPr>
              <a:t>tanto </a:t>
            </a:r>
            <a:r>
              <a:rPr lang="es-SV" sz="3200" b="1" dirty="0">
                <a:latin typeface="Times New Roman"/>
                <a:ea typeface="Times New Roman"/>
                <a:cs typeface="Times New Roman"/>
              </a:rPr>
              <a:t>dentro</a:t>
            </a:r>
            <a:r>
              <a:rPr lang="es-SV" sz="3200" dirty="0">
                <a:latin typeface="Times New Roman"/>
                <a:ea typeface="Times New Roman"/>
                <a:cs typeface="Times New Roman"/>
              </a:rPr>
              <a:t> como </a:t>
            </a:r>
            <a:r>
              <a:rPr lang="es-SV" sz="3200" b="1" dirty="0">
                <a:latin typeface="Times New Roman"/>
                <a:ea typeface="Times New Roman"/>
                <a:cs typeface="Times New Roman"/>
              </a:rPr>
              <a:t>fuera</a:t>
            </a:r>
            <a:r>
              <a:rPr lang="es-SV" sz="3200" dirty="0">
                <a:latin typeface="Times New Roman"/>
                <a:ea typeface="Times New Roman"/>
                <a:cs typeface="Times New Roman"/>
              </a:rPr>
              <a:t> de la </a:t>
            </a:r>
            <a:r>
              <a:rPr lang="es-SV" sz="3200" b="1" dirty="0">
                <a:latin typeface="Times New Roman"/>
                <a:ea typeface="Times New Roman"/>
                <a:cs typeface="Times New Roman"/>
              </a:rPr>
              <a:t>clase</a:t>
            </a:r>
            <a:r>
              <a:rPr lang="es-SV" sz="3200" dirty="0">
                <a:latin typeface="Times New Roman"/>
                <a:ea typeface="Times New Roman"/>
                <a:cs typeface="Times New Roman"/>
              </a:rPr>
              <a:t>, es decir, es accesible desde </a:t>
            </a:r>
            <a:r>
              <a:rPr lang="es-SV" sz="3200" b="1" dirty="0">
                <a:latin typeface="Times New Roman"/>
                <a:ea typeface="Times New Roman"/>
                <a:cs typeface="Times New Roman"/>
              </a:rPr>
              <a:t>todos lados</a:t>
            </a:r>
            <a:r>
              <a:rPr lang="es-SV" sz="3200" dirty="0">
                <a:latin typeface="Times New Roman"/>
                <a:ea typeface="Times New Roman"/>
                <a:cs typeface="Times New Roman"/>
              </a:rPr>
              <a:t>. </a:t>
            </a:r>
          </a:p>
          <a:p>
            <a:pPr marL="571500" indent="0">
              <a:lnSpc>
                <a:spcPct val="115000"/>
              </a:lnSpc>
              <a:spcAft>
                <a:spcPts val="1000"/>
              </a:spcAft>
              <a:buNone/>
            </a:pPr>
            <a:endParaRPr lang="es-SV" sz="2800" dirty="0">
              <a:ea typeface="Calibri"/>
              <a:cs typeface="Times New Roman"/>
            </a:endParaRPr>
          </a:p>
          <a:p>
            <a:endParaRPr lang="es-SV" dirty="0"/>
          </a:p>
        </p:txBody>
      </p:sp>
      <p:pic>
        <p:nvPicPr>
          <p:cNvPr id="5" name="4 Imagen" descr="http://users.dcc.uchile.cl/~psalinas/uml/img/modelo/public.jpg"/>
          <p:cNvPicPr/>
          <p:nvPr/>
        </p:nvPicPr>
        <p:blipFill>
          <a:blip r:embed="rId2">
            <a:extLst>
              <a:ext uri="{28A0092B-C50C-407E-A947-70E740481C1C}">
                <a14:useLocalDpi xmlns:a14="http://schemas.microsoft.com/office/drawing/2010/main" val="0"/>
              </a:ext>
            </a:extLst>
          </a:blip>
          <a:srcRect/>
          <a:stretch>
            <a:fillRect/>
          </a:stretch>
        </p:blipFill>
        <p:spPr bwMode="auto">
          <a:xfrm>
            <a:off x="8100392" y="908720"/>
            <a:ext cx="342900" cy="266700"/>
          </a:xfrm>
          <a:prstGeom prst="rect">
            <a:avLst/>
          </a:prstGeom>
          <a:noFill/>
          <a:ln>
            <a:noFill/>
          </a:ln>
        </p:spPr>
      </p:pic>
    </p:spTree>
    <p:extLst>
      <p:ext uri="{BB962C8B-B14F-4D97-AF65-F5344CB8AC3E}">
        <p14:creationId xmlns:p14="http://schemas.microsoft.com/office/powerpoint/2010/main" val="1009747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normAutofit lnSpcReduction="10000"/>
          </a:bodyPr>
          <a:lstStyle/>
          <a:p>
            <a:endParaRPr lang="es-SV" dirty="0"/>
          </a:p>
          <a:p>
            <a:pPr marL="914400" lvl="2" indent="0">
              <a:lnSpc>
                <a:spcPct val="115000"/>
              </a:lnSpc>
              <a:spcAft>
                <a:spcPts val="1000"/>
              </a:spcAft>
              <a:buSzPts val="1000"/>
              <a:buNone/>
              <a:tabLst>
                <a:tab pos="1371600" algn="l"/>
              </a:tabLst>
            </a:pPr>
            <a:r>
              <a:rPr lang="es-SV" sz="3000" b="1" dirty="0" err="1">
                <a:latin typeface="Times New Roman"/>
                <a:ea typeface="Times New Roman"/>
                <a:cs typeface="Times New Roman"/>
              </a:rPr>
              <a:t>Private</a:t>
            </a:r>
            <a:r>
              <a:rPr lang="es-SV" sz="3000" b="1" dirty="0">
                <a:latin typeface="Times New Roman"/>
                <a:ea typeface="Times New Roman"/>
                <a:cs typeface="Times New Roman"/>
              </a:rPr>
              <a:t> </a:t>
            </a:r>
            <a:r>
              <a:rPr lang="es-VE" sz="3200" dirty="0">
                <a:latin typeface="Arial" pitchFamily="34" charset="0"/>
                <a:cs typeface="Arial" pitchFamily="34" charset="0"/>
              </a:rPr>
              <a:t>(  -  )</a:t>
            </a:r>
            <a:r>
              <a:rPr lang="es-SV" sz="3000" dirty="0">
                <a:latin typeface="Times New Roman"/>
                <a:ea typeface="Times New Roman"/>
                <a:cs typeface="Times New Roman"/>
              </a:rPr>
              <a:t>: Indica que el atributo sólo será accesible desde </a:t>
            </a:r>
            <a:r>
              <a:rPr lang="es-SV" sz="3000" b="1" dirty="0">
                <a:latin typeface="Times New Roman"/>
                <a:ea typeface="Times New Roman"/>
                <a:cs typeface="Times New Roman"/>
              </a:rPr>
              <a:t>dentro</a:t>
            </a:r>
            <a:r>
              <a:rPr lang="es-SV" sz="3000" dirty="0">
                <a:latin typeface="Times New Roman"/>
                <a:ea typeface="Times New Roman"/>
                <a:cs typeface="Times New Roman"/>
              </a:rPr>
              <a:t> de la clase (sólo sus métodos lo pueden </a:t>
            </a:r>
            <a:r>
              <a:rPr lang="es-SV" sz="3000" dirty="0" err="1">
                <a:latin typeface="Times New Roman"/>
                <a:ea typeface="Times New Roman"/>
                <a:cs typeface="Times New Roman"/>
              </a:rPr>
              <a:t>accesar</a:t>
            </a:r>
            <a:r>
              <a:rPr lang="es-SV" sz="3000" dirty="0">
                <a:latin typeface="Times New Roman"/>
                <a:ea typeface="Times New Roman"/>
                <a:cs typeface="Times New Roman"/>
              </a:rPr>
              <a:t>). </a:t>
            </a:r>
          </a:p>
          <a:p>
            <a:pPr marL="914400" lvl="2" indent="0">
              <a:lnSpc>
                <a:spcPct val="115000"/>
              </a:lnSpc>
              <a:spcAft>
                <a:spcPts val="1000"/>
              </a:spcAft>
              <a:buSzPts val="1000"/>
              <a:buNone/>
              <a:tabLst>
                <a:tab pos="1371600" algn="l"/>
              </a:tabLst>
            </a:pPr>
            <a:r>
              <a:rPr lang="es-SV" sz="3000" b="1" dirty="0" err="1">
                <a:latin typeface="Times New Roman"/>
                <a:ea typeface="Times New Roman"/>
                <a:cs typeface="Times New Roman"/>
              </a:rPr>
              <a:t>Protected</a:t>
            </a:r>
            <a:r>
              <a:rPr lang="es-SV" sz="3000" b="1" dirty="0">
                <a:latin typeface="Times New Roman"/>
                <a:ea typeface="Times New Roman"/>
                <a:cs typeface="Times New Roman"/>
              </a:rPr>
              <a:t> </a:t>
            </a:r>
            <a:r>
              <a:rPr lang="es-VE" sz="3200" dirty="0">
                <a:latin typeface="Arial" pitchFamily="34" charset="0"/>
                <a:cs typeface="Arial" pitchFamily="34" charset="0"/>
              </a:rPr>
              <a:t>(  #  )</a:t>
            </a:r>
            <a:r>
              <a:rPr lang="es-SV" sz="3000" dirty="0">
                <a:latin typeface="Times New Roman"/>
                <a:ea typeface="Times New Roman"/>
                <a:cs typeface="Times New Roman"/>
              </a:rPr>
              <a:t>: Indica que el atributo </a:t>
            </a:r>
            <a:r>
              <a:rPr lang="es-SV" sz="3000" b="1" dirty="0">
                <a:latin typeface="Times New Roman"/>
                <a:ea typeface="Times New Roman"/>
                <a:cs typeface="Times New Roman"/>
              </a:rPr>
              <a:t>no será accesible desde fuera</a:t>
            </a:r>
            <a:r>
              <a:rPr lang="es-SV" sz="3000" dirty="0">
                <a:latin typeface="Times New Roman"/>
                <a:ea typeface="Times New Roman"/>
                <a:cs typeface="Times New Roman"/>
              </a:rPr>
              <a:t> de la clase, pero </a:t>
            </a:r>
            <a:r>
              <a:rPr lang="es-SV" sz="3000" b="1" dirty="0">
                <a:latin typeface="Times New Roman"/>
                <a:ea typeface="Times New Roman"/>
                <a:cs typeface="Times New Roman"/>
              </a:rPr>
              <a:t>si</a:t>
            </a:r>
            <a:r>
              <a:rPr lang="es-SV" sz="3000" dirty="0">
                <a:latin typeface="Times New Roman"/>
                <a:ea typeface="Times New Roman"/>
                <a:cs typeface="Times New Roman"/>
              </a:rPr>
              <a:t> podrá ser </a:t>
            </a:r>
            <a:r>
              <a:rPr lang="es-SV" sz="3000" dirty="0" err="1">
                <a:latin typeface="Times New Roman"/>
                <a:ea typeface="Times New Roman"/>
                <a:cs typeface="Times New Roman"/>
              </a:rPr>
              <a:t>accesado</a:t>
            </a:r>
            <a:r>
              <a:rPr lang="es-SV" sz="3000" dirty="0">
                <a:latin typeface="Times New Roman"/>
                <a:ea typeface="Times New Roman"/>
                <a:cs typeface="Times New Roman"/>
              </a:rPr>
              <a:t> por </a:t>
            </a:r>
            <a:r>
              <a:rPr lang="es-SV" sz="3000" b="1" dirty="0">
                <a:latin typeface="Times New Roman"/>
                <a:ea typeface="Times New Roman"/>
                <a:cs typeface="Times New Roman"/>
              </a:rPr>
              <a:t>métodos</a:t>
            </a:r>
            <a:r>
              <a:rPr lang="es-SV" sz="3000" dirty="0">
                <a:latin typeface="Times New Roman"/>
                <a:ea typeface="Times New Roman"/>
                <a:cs typeface="Times New Roman"/>
              </a:rPr>
              <a:t> de la clase y por las </a:t>
            </a:r>
            <a:r>
              <a:rPr lang="es-SV" sz="3000" b="1" dirty="0">
                <a:latin typeface="Times New Roman"/>
                <a:ea typeface="Times New Roman"/>
                <a:cs typeface="Times New Roman"/>
              </a:rPr>
              <a:t>subclases</a:t>
            </a:r>
            <a:r>
              <a:rPr lang="es-SV" sz="3000" dirty="0">
                <a:latin typeface="Times New Roman"/>
                <a:ea typeface="Times New Roman"/>
                <a:cs typeface="Times New Roman"/>
              </a:rPr>
              <a:t> que heredan de ella. </a:t>
            </a:r>
          </a:p>
          <a:p>
            <a:endParaRPr lang="es-SV" dirty="0"/>
          </a:p>
        </p:txBody>
      </p:sp>
      <p:pic>
        <p:nvPicPr>
          <p:cNvPr id="5" name="4 Imagen" descr="http://users.dcc.uchile.cl/~psalinas/uml/img/modelo/private.jpg"/>
          <p:cNvPicPr/>
          <p:nvPr/>
        </p:nvPicPr>
        <p:blipFill>
          <a:blip r:embed="rId2">
            <a:extLst>
              <a:ext uri="{28A0092B-C50C-407E-A947-70E740481C1C}">
                <a14:useLocalDpi xmlns:a14="http://schemas.microsoft.com/office/drawing/2010/main" val="0"/>
              </a:ext>
            </a:extLst>
          </a:blip>
          <a:srcRect/>
          <a:stretch>
            <a:fillRect/>
          </a:stretch>
        </p:blipFill>
        <p:spPr bwMode="auto">
          <a:xfrm>
            <a:off x="7956376" y="836712"/>
            <a:ext cx="323850" cy="304800"/>
          </a:xfrm>
          <a:prstGeom prst="rect">
            <a:avLst/>
          </a:prstGeom>
          <a:noFill/>
          <a:ln>
            <a:noFill/>
          </a:ln>
        </p:spPr>
      </p:pic>
      <p:pic>
        <p:nvPicPr>
          <p:cNvPr id="6" name="5 Imagen" descr="http://users.dcc.uchile.cl/~psalinas/uml/img/modelo/protected.jpg"/>
          <p:cNvPicPr/>
          <p:nvPr/>
        </p:nvPicPr>
        <p:blipFill>
          <a:blip r:embed="rId3">
            <a:extLst>
              <a:ext uri="{28A0092B-C50C-407E-A947-70E740481C1C}">
                <a14:useLocalDpi xmlns:a14="http://schemas.microsoft.com/office/drawing/2010/main" val="0"/>
              </a:ext>
            </a:extLst>
          </a:blip>
          <a:srcRect/>
          <a:stretch>
            <a:fillRect/>
          </a:stretch>
        </p:blipFill>
        <p:spPr bwMode="auto">
          <a:xfrm>
            <a:off x="683568" y="703362"/>
            <a:ext cx="323850" cy="285750"/>
          </a:xfrm>
          <a:prstGeom prst="rect">
            <a:avLst/>
          </a:prstGeom>
          <a:noFill/>
          <a:ln>
            <a:noFill/>
          </a:ln>
        </p:spPr>
      </p:pic>
    </p:spTree>
    <p:extLst>
      <p:ext uri="{BB962C8B-B14F-4D97-AF65-F5344CB8AC3E}">
        <p14:creationId xmlns:p14="http://schemas.microsoft.com/office/powerpoint/2010/main" val="589587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r>
              <a:rPr lang="es-MX" b="1" dirty="0" err="1"/>
              <a:t>Internal</a:t>
            </a:r>
            <a:r>
              <a:rPr lang="es-MX" b="1" dirty="0"/>
              <a:t> </a:t>
            </a:r>
            <a:r>
              <a:rPr lang="es-MX" dirty="0"/>
              <a:t>(  ~  ): Los miembros de tipo </a:t>
            </a:r>
            <a:r>
              <a:rPr lang="es-MX" dirty="0" err="1"/>
              <a:t>internal</a:t>
            </a:r>
            <a:r>
              <a:rPr lang="es-MX" dirty="0"/>
              <a:t> solo resultan accesibles dentro del ensamblado al que pertenecen.</a:t>
            </a:r>
          </a:p>
          <a:p>
            <a:r>
              <a:rPr lang="es-MX" b="1" dirty="0" err="1"/>
              <a:t>protected</a:t>
            </a:r>
            <a:r>
              <a:rPr lang="es-MX" b="1" dirty="0"/>
              <a:t> </a:t>
            </a:r>
            <a:r>
              <a:rPr lang="es-MX" b="1" dirty="0" err="1"/>
              <a:t>internal</a:t>
            </a:r>
            <a:r>
              <a:rPr lang="es-MX" b="1" dirty="0"/>
              <a:t> </a:t>
            </a:r>
            <a:r>
              <a:rPr lang="es-MX" dirty="0"/>
              <a:t>( #~ ): Permite que la propia clase, sus subclases y las del ensamblado al que pertenece accedan a sus miembros.</a:t>
            </a:r>
          </a:p>
        </p:txBody>
      </p:sp>
    </p:spTree>
    <p:extLst>
      <p:ext uri="{BB962C8B-B14F-4D97-AF65-F5344CB8AC3E}">
        <p14:creationId xmlns:p14="http://schemas.microsoft.com/office/powerpoint/2010/main" val="1784758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METODOS</a:t>
            </a:r>
            <a:endParaRPr lang="es-SV" dirty="0"/>
          </a:p>
        </p:txBody>
      </p:sp>
      <p:sp>
        <p:nvSpPr>
          <p:cNvPr id="3" name="2 Marcador de contenido"/>
          <p:cNvSpPr>
            <a:spLocks noGrp="1"/>
          </p:cNvSpPr>
          <p:nvPr>
            <p:ph idx="1"/>
          </p:nvPr>
        </p:nvSpPr>
        <p:spPr/>
        <p:txBody>
          <a:bodyPr/>
          <a:lstStyle/>
          <a:p>
            <a:pPr marL="914400">
              <a:lnSpc>
                <a:spcPct val="115000"/>
              </a:lnSpc>
              <a:spcAft>
                <a:spcPts val="1000"/>
              </a:spcAft>
            </a:pPr>
            <a:r>
              <a:rPr lang="es-SV" dirty="0">
                <a:latin typeface="Times New Roman"/>
                <a:ea typeface="Times New Roman"/>
                <a:cs typeface="Times New Roman"/>
              </a:rPr>
              <a:t>Los métodos u </a:t>
            </a:r>
            <a:r>
              <a:rPr lang="es-SV" b="1" dirty="0">
                <a:latin typeface="Times New Roman"/>
                <a:ea typeface="Times New Roman"/>
                <a:cs typeface="Times New Roman"/>
              </a:rPr>
              <a:t>operaciones</a:t>
            </a:r>
            <a:r>
              <a:rPr lang="es-SV" dirty="0">
                <a:latin typeface="Times New Roman"/>
                <a:ea typeface="Times New Roman"/>
                <a:cs typeface="Times New Roman"/>
              </a:rPr>
              <a:t> de una clase son la forma en como ésta </a:t>
            </a:r>
            <a:r>
              <a:rPr lang="es-SV" b="1" dirty="0">
                <a:latin typeface="Times New Roman"/>
                <a:ea typeface="Times New Roman"/>
                <a:cs typeface="Times New Roman"/>
              </a:rPr>
              <a:t>interactúa</a:t>
            </a:r>
            <a:r>
              <a:rPr lang="es-SV" dirty="0">
                <a:latin typeface="Times New Roman"/>
                <a:ea typeface="Times New Roman"/>
                <a:cs typeface="Times New Roman"/>
              </a:rPr>
              <a:t> con su entorno.</a:t>
            </a:r>
          </a:p>
          <a:p>
            <a:pPr marL="914400">
              <a:lnSpc>
                <a:spcPct val="115000"/>
              </a:lnSpc>
              <a:spcAft>
                <a:spcPts val="1000"/>
              </a:spcAft>
            </a:pPr>
            <a:r>
              <a:rPr lang="es-SV" dirty="0">
                <a:latin typeface="Times New Roman"/>
                <a:ea typeface="Times New Roman"/>
                <a:cs typeface="Times New Roman"/>
              </a:rPr>
              <a:t>Pueden tener los mismos </a:t>
            </a:r>
            <a:r>
              <a:rPr lang="es-SV" b="1" dirty="0">
                <a:latin typeface="Times New Roman"/>
                <a:ea typeface="Times New Roman"/>
                <a:cs typeface="Times New Roman"/>
              </a:rPr>
              <a:t>modificadores</a:t>
            </a:r>
            <a:r>
              <a:rPr lang="es-SV" dirty="0">
                <a:latin typeface="Times New Roman"/>
                <a:ea typeface="Times New Roman"/>
                <a:cs typeface="Times New Roman"/>
              </a:rPr>
              <a:t> de </a:t>
            </a:r>
            <a:r>
              <a:rPr lang="es-SV" b="1" dirty="0">
                <a:latin typeface="Times New Roman"/>
                <a:ea typeface="Times New Roman"/>
                <a:cs typeface="Times New Roman"/>
              </a:rPr>
              <a:t>acceso</a:t>
            </a:r>
            <a:r>
              <a:rPr lang="es-SV" dirty="0">
                <a:latin typeface="Times New Roman"/>
                <a:ea typeface="Times New Roman"/>
                <a:cs typeface="Times New Roman"/>
              </a:rPr>
              <a:t> que los atributos: </a:t>
            </a:r>
            <a:r>
              <a:rPr lang="es-SV" dirty="0" err="1">
                <a:latin typeface="Times New Roman"/>
                <a:ea typeface="Times New Roman"/>
                <a:cs typeface="Times New Roman"/>
              </a:rPr>
              <a:t>public</a:t>
            </a:r>
            <a:r>
              <a:rPr lang="es-VE" dirty="0">
                <a:latin typeface="Arial" pitchFamily="34" charset="0"/>
                <a:cs typeface="Arial" pitchFamily="34" charset="0"/>
              </a:rPr>
              <a:t>(+,       )</a:t>
            </a:r>
            <a:r>
              <a:rPr lang="es-SV" dirty="0">
                <a:latin typeface="Times New Roman"/>
                <a:ea typeface="Times New Roman"/>
                <a:cs typeface="Times New Roman"/>
              </a:rPr>
              <a:t> , </a:t>
            </a:r>
            <a:r>
              <a:rPr lang="es-SV" dirty="0" err="1">
                <a:latin typeface="Times New Roman"/>
                <a:ea typeface="Times New Roman"/>
                <a:cs typeface="Times New Roman"/>
              </a:rPr>
              <a:t>private</a:t>
            </a:r>
            <a:r>
              <a:rPr lang="es-SV" dirty="0">
                <a:latin typeface="Times New Roman"/>
                <a:ea typeface="Times New Roman"/>
                <a:cs typeface="Times New Roman"/>
              </a:rPr>
              <a:t> </a:t>
            </a:r>
            <a:r>
              <a:rPr lang="es-VE" dirty="0">
                <a:latin typeface="Arial" pitchFamily="34" charset="0"/>
                <a:cs typeface="Arial" pitchFamily="34" charset="0"/>
              </a:rPr>
              <a:t>(-,       )</a:t>
            </a:r>
            <a:r>
              <a:rPr lang="es-SV" dirty="0">
                <a:latin typeface="Times New Roman"/>
                <a:ea typeface="Times New Roman"/>
                <a:cs typeface="Times New Roman"/>
              </a:rPr>
              <a:t>,  </a:t>
            </a:r>
            <a:r>
              <a:rPr lang="es-SV" dirty="0" err="1">
                <a:latin typeface="Times New Roman"/>
                <a:ea typeface="Times New Roman"/>
                <a:cs typeface="Times New Roman"/>
              </a:rPr>
              <a:t>protected</a:t>
            </a:r>
            <a:r>
              <a:rPr lang="es-SV" dirty="0">
                <a:latin typeface="Times New Roman"/>
                <a:ea typeface="Times New Roman"/>
                <a:cs typeface="Times New Roman"/>
              </a:rPr>
              <a:t> </a:t>
            </a:r>
            <a:r>
              <a:rPr lang="es-VE" dirty="0">
                <a:latin typeface="Arial" pitchFamily="34" charset="0"/>
                <a:cs typeface="Arial" pitchFamily="34" charset="0"/>
              </a:rPr>
              <a:t>(#,       )</a:t>
            </a:r>
            <a:r>
              <a:rPr lang="es-SV" dirty="0">
                <a:latin typeface="Times New Roman"/>
                <a:ea typeface="Times New Roman"/>
                <a:cs typeface="Times New Roman"/>
              </a:rPr>
              <a:t>, </a:t>
            </a:r>
            <a:r>
              <a:rPr lang="es-SV" dirty="0" err="1">
                <a:latin typeface="Times New Roman"/>
                <a:ea typeface="Times New Roman"/>
                <a:cs typeface="Times New Roman"/>
              </a:rPr>
              <a:t>internal</a:t>
            </a:r>
            <a:r>
              <a:rPr lang="es-SV" dirty="0">
                <a:latin typeface="Times New Roman"/>
                <a:ea typeface="Times New Roman"/>
                <a:cs typeface="Times New Roman"/>
              </a:rPr>
              <a:t> o </a:t>
            </a:r>
            <a:r>
              <a:rPr lang="es-SV" dirty="0" err="1">
                <a:latin typeface="Times New Roman"/>
                <a:ea typeface="Times New Roman"/>
                <a:cs typeface="Times New Roman"/>
              </a:rPr>
              <a:t>protected</a:t>
            </a:r>
            <a:r>
              <a:rPr lang="es-SV" dirty="0">
                <a:latin typeface="Times New Roman"/>
                <a:ea typeface="Times New Roman"/>
                <a:cs typeface="Times New Roman"/>
              </a:rPr>
              <a:t> </a:t>
            </a:r>
            <a:r>
              <a:rPr lang="es-SV" dirty="0" err="1">
                <a:latin typeface="Times New Roman"/>
                <a:ea typeface="Times New Roman"/>
                <a:cs typeface="Times New Roman"/>
              </a:rPr>
              <a:t>internal</a:t>
            </a:r>
            <a:r>
              <a:rPr lang="es-SV" dirty="0">
                <a:latin typeface="Times New Roman"/>
                <a:ea typeface="Times New Roman"/>
                <a:cs typeface="Times New Roman"/>
              </a:rPr>
              <a:t>.</a:t>
            </a:r>
            <a:endParaRPr lang="es-SV" sz="2800" dirty="0">
              <a:ea typeface="Calibri"/>
              <a:cs typeface="Times New Roman"/>
            </a:endParaRPr>
          </a:p>
        </p:txBody>
      </p:sp>
      <p:pic>
        <p:nvPicPr>
          <p:cNvPr id="5" name="4 Imagen" descr="http://users.dcc.uchile.cl/~psalinas/uml/img/modelo/public2.jpg"/>
          <p:cNvPicPr/>
          <p:nvPr/>
        </p:nvPicPr>
        <p:blipFill>
          <a:blip r:embed="rId2">
            <a:extLst>
              <a:ext uri="{28A0092B-C50C-407E-A947-70E740481C1C}">
                <a14:useLocalDpi xmlns:a14="http://schemas.microsoft.com/office/drawing/2010/main" val="0"/>
              </a:ext>
            </a:extLst>
          </a:blip>
          <a:srcRect/>
          <a:stretch>
            <a:fillRect/>
          </a:stretch>
        </p:blipFill>
        <p:spPr bwMode="auto">
          <a:xfrm>
            <a:off x="7236296" y="4293096"/>
            <a:ext cx="327309" cy="257175"/>
          </a:xfrm>
          <a:prstGeom prst="rect">
            <a:avLst/>
          </a:prstGeom>
          <a:noFill/>
          <a:ln>
            <a:noFill/>
          </a:ln>
        </p:spPr>
      </p:pic>
      <p:pic>
        <p:nvPicPr>
          <p:cNvPr id="6" name="5 Imagen" descr="http://users.dcc.uchile.cl/~psalinas/uml/img/modelo/private2.jpg"/>
          <p:cNvPicPr/>
          <p:nvPr/>
        </p:nvPicPr>
        <p:blipFill>
          <a:blip r:embed="rId3">
            <a:extLst>
              <a:ext uri="{28A0092B-C50C-407E-A947-70E740481C1C}">
                <a14:useLocalDpi xmlns:a14="http://schemas.microsoft.com/office/drawing/2010/main" val="0"/>
              </a:ext>
            </a:extLst>
          </a:blip>
          <a:srcRect/>
          <a:stretch>
            <a:fillRect/>
          </a:stretch>
        </p:blipFill>
        <p:spPr bwMode="auto">
          <a:xfrm>
            <a:off x="3347864" y="4869160"/>
            <a:ext cx="356235" cy="314325"/>
          </a:xfrm>
          <a:prstGeom prst="rect">
            <a:avLst/>
          </a:prstGeom>
          <a:noFill/>
          <a:ln>
            <a:noFill/>
          </a:ln>
        </p:spPr>
      </p:pic>
      <p:pic>
        <p:nvPicPr>
          <p:cNvPr id="7" name="6 Imagen" descr="http://users.dcc.uchile.cl/~psalinas/uml/img/modelo/protected2.jpg"/>
          <p:cNvPicPr/>
          <p:nvPr/>
        </p:nvPicPr>
        <p:blipFill>
          <a:blip r:embed="rId4">
            <a:extLst>
              <a:ext uri="{28A0092B-C50C-407E-A947-70E740481C1C}">
                <a14:useLocalDpi xmlns:a14="http://schemas.microsoft.com/office/drawing/2010/main" val="0"/>
              </a:ext>
            </a:extLst>
          </a:blip>
          <a:srcRect/>
          <a:stretch>
            <a:fillRect/>
          </a:stretch>
        </p:blipFill>
        <p:spPr bwMode="auto">
          <a:xfrm>
            <a:off x="6660232" y="4869160"/>
            <a:ext cx="356235" cy="295275"/>
          </a:xfrm>
          <a:prstGeom prst="rect">
            <a:avLst/>
          </a:prstGeom>
          <a:noFill/>
          <a:ln>
            <a:noFill/>
          </a:ln>
        </p:spPr>
      </p:pic>
    </p:spTree>
    <p:extLst>
      <p:ext uri="{BB962C8B-B14F-4D97-AF65-F5344CB8AC3E}">
        <p14:creationId xmlns:p14="http://schemas.microsoft.com/office/powerpoint/2010/main" val="2397567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solidFill>
                  <a:prstClr val="black"/>
                </a:solidFill>
              </a:rPr>
              <a:t>RELACIONES ENTRE CLASES</a:t>
            </a:r>
            <a:endParaRPr lang="es-MX" dirty="0"/>
          </a:p>
        </p:txBody>
      </p:sp>
      <p:sp>
        <p:nvSpPr>
          <p:cNvPr id="3" name="2 Marcador de contenido"/>
          <p:cNvSpPr>
            <a:spLocks noGrp="1"/>
          </p:cNvSpPr>
          <p:nvPr>
            <p:ph idx="1"/>
          </p:nvPr>
        </p:nvSpPr>
        <p:spPr/>
        <p:txBody>
          <a:bodyPr>
            <a:normAutofit lnSpcReduction="10000"/>
          </a:bodyPr>
          <a:lstStyle/>
          <a:p>
            <a:pPr lvl="0"/>
            <a:r>
              <a:rPr lang="es-MX" dirty="0">
                <a:solidFill>
                  <a:prstClr val="black"/>
                </a:solidFill>
              </a:rPr>
              <a:t>Las clases no actúan aisladas entre sí, al contrario, están relacionadas unas con otras.</a:t>
            </a:r>
          </a:p>
          <a:p>
            <a:r>
              <a:rPr lang="es-MX" dirty="0"/>
              <a:t>Las relaciones permiten que una clase conozca sobre los atributos, operaciones y relaciones de otras clases.</a:t>
            </a:r>
          </a:p>
          <a:p>
            <a:r>
              <a:rPr lang="es-MX" dirty="0"/>
              <a:t>Las relaciones entre clases se corresponden con las relaciones entre objetos físicos del mundo real u objetos imaginarios de un mundo virtual.</a:t>
            </a:r>
          </a:p>
        </p:txBody>
      </p:sp>
    </p:spTree>
    <p:extLst>
      <p:ext uri="{BB962C8B-B14F-4D97-AF65-F5344CB8AC3E}">
        <p14:creationId xmlns:p14="http://schemas.microsoft.com/office/powerpoint/2010/main" val="722064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MX" dirty="0"/>
              <a:t>MULTIPLICIDAD EN LAS RELACIONES</a:t>
            </a:r>
            <a:endParaRPr lang="es-SV" dirty="0"/>
          </a:p>
        </p:txBody>
      </p:sp>
      <p:sp>
        <p:nvSpPr>
          <p:cNvPr id="3" name="2 Marcador de contenido"/>
          <p:cNvSpPr>
            <a:spLocks noGrp="1"/>
          </p:cNvSpPr>
          <p:nvPr>
            <p:ph idx="1"/>
          </p:nvPr>
        </p:nvSpPr>
        <p:spPr>
          <a:xfrm>
            <a:off x="457200" y="1268760"/>
            <a:ext cx="8229600" cy="5112568"/>
          </a:xfrm>
        </p:spPr>
        <p:txBody>
          <a:bodyPr>
            <a:normAutofit lnSpcReduction="10000"/>
          </a:bodyPr>
          <a:lstStyle/>
          <a:p>
            <a:pPr algn="just">
              <a:lnSpc>
                <a:spcPct val="115000"/>
              </a:lnSpc>
              <a:spcAft>
                <a:spcPts val="1000"/>
              </a:spcAft>
            </a:pPr>
            <a:r>
              <a:rPr lang="es-SV" dirty="0">
                <a:ea typeface="Calibri"/>
                <a:cs typeface="Times New Roman"/>
              </a:rPr>
              <a:t>Representa la cantidad de objetos de una clase que se relacionan con un objeto de la clase asociada. Puede ser:</a:t>
            </a:r>
            <a:endParaRPr lang="es-SV" sz="2800" dirty="0">
              <a:ea typeface="Calibri"/>
              <a:cs typeface="Times New Roman"/>
            </a:endParaRPr>
          </a:p>
          <a:p>
            <a:pPr lvl="0" algn="just">
              <a:lnSpc>
                <a:spcPct val="115000"/>
              </a:lnSpc>
              <a:buFont typeface="Symbol"/>
              <a:buChar char=""/>
            </a:pPr>
            <a:r>
              <a:rPr lang="es-SV" dirty="0">
                <a:ea typeface="Calibri"/>
                <a:cs typeface="Times New Roman"/>
              </a:rPr>
              <a:t>uno a muchos: 1..*    (1..n)</a:t>
            </a:r>
            <a:endParaRPr lang="es-SV" sz="2800" dirty="0">
              <a:ea typeface="Calibri"/>
              <a:cs typeface="Times New Roman"/>
            </a:endParaRPr>
          </a:p>
          <a:p>
            <a:pPr lvl="0" algn="just">
              <a:lnSpc>
                <a:spcPct val="115000"/>
              </a:lnSpc>
              <a:buFont typeface="Symbol"/>
              <a:buChar char=""/>
            </a:pPr>
            <a:r>
              <a:rPr lang="es-SV" dirty="0">
                <a:ea typeface="Calibri"/>
                <a:cs typeface="Times New Roman"/>
              </a:rPr>
              <a:t>0 a muchos: 0..*         (0..n)</a:t>
            </a:r>
          </a:p>
          <a:p>
            <a:pPr lvl="0" algn="just">
              <a:lnSpc>
                <a:spcPct val="115000"/>
              </a:lnSpc>
              <a:buFont typeface="Symbol"/>
              <a:buChar char=""/>
            </a:pPr>
            <a:r>
              <a:rPr lang="es-SV" sz="2800" dirty="0">
                <a:ea typeface="Calibri"/>
                <a:cs typeface="Times New Roman"/>
              </a:rPr>
              <a:t>x  a  y   (enteros)                (x .. y)</a:t>
            </a:r>
          </a:p>
          <a:p>
            <a:pPr lvl="0" algn="just">
              <a:lnSpc>
                <a:spcPct val="115000"/>
              </a:lnSpc>
              <a:spcAft>
                <a:spcPts val="1000"/>
              </a:spcAft>
              <a:buFont typeface="Symbol"/>
              <a:buChar char=""/>
            </a:pPr>
            <a:r>
              <a:rPr lang="es-SV" dirty="0">
                <a:ea typeface="Calibri"/>
                <a:cs typeface="Times New Roman"/>
              </a:rPr>
              <a:t>m   (entero)                   (m denota el entero).</a:t>
            </a:r>
          </a:p>
          <a:p>
            <a:pPr lvl="0" algn="just">
              <a:lnSpc>
                <a:spcPct val="115000"/>
              </a:lnSpc>
              <a:spcAft>
                <a:spcPts val="1000"/>
              </a:spcAft>
              <a:buFont typeface="Symbol"/>
              <a:buChar char=""/>
            </a:pPr>
            <a:r>
              <a:rPr lang="es-SV" sz="2800" dirty="0">
                <a:ea typeface="Calibri"/>
                <a:cs typeface="Times New Roman"/>
              </a:rPr>
              <a:t>m , n  (enteros)                    (m ó n)</a:t>
            </a:r>
          </a:p>
          <a:p>
            <a:pPr marL="0" indent="0">
              <a:buNone/>
            </a:pPr>
            <a:endParaRPr lang="es-SV" dirty="0"/>
          </a:p>
        </p:txBody>
      </p:sp>
    </p:spTree>
    <p:extLst>
      <p:ext uri="{BB962C8B-B14F-4D97-AF65-F5344CB8AC3E}">
        <p14:creationId xmlns:p14="http://schemas.microsoft.com/office/powerpoint/2010/main" val="3920709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RELACIONES ENTRE CLASES</a:t>
            </a:r>
            <a:endParaRPr lang="es-SV" dirty="0"/>
          </a:p>
        </p:txBody>
      </p:sp>
      <p:sp>
        <p:nvSpPr>
          <p:cNvPr id="3" name="2 Marcador de contenido"/>
          <p:cNvSpPr>
            <a:spLocks noGrp="1"/>
          </p:cNvSpPr>
          <p:nvPr>
            <p:ph idx="1"/>
          </p:nvPr>
        </p:nvSpPr>
        <p:spPr/>
        <p:txBody>
          <a:bodyPr>
            <a:normAutofit/>
          </a:bodyPr>
          <a:lstStyle/>
          <a:p>
            <a:pPr marL="0" indent="0">
              <a:buNone/>
            </a:pPr>
            <a:r>
              <a:rPr lang="es-SV" dirty="0"/>
              <a:t>En el modelo de clases, existen los siguientes tipos de relaciones: </a:t>
            </a:r>
          </a:p>
          <a:p>
            <a:pPr marL="514350" indent="-514350">
              <a:buAutoNum type="arabicPeriod"/>
            </a:pPr>
            <a:r>
              <a:rPr lang="es-SV" dirty="0"/>
              <a:t>Dependencia</a:t>
            </a:r>
          </a:p>
          <a:p>
            <a:pPr marL="514350" indent="-514350">
              <a:buAutoNum type="arabicPeriod"/>
            </a:pPr>
            <a:r>
              <a:rPr lang="es-SV" dirty="0"/>
              <a:t>Asociación </a:t>
            </a:r>
          </a:p>
          <a:p>
            <a:pPr marL="514350" indent="-514350">
              <a:buAutoNum type="arabicPeriod"/>
            </a:pPr>
            <a:r>
              <a:rPr lang="es-SV" dirty="0"/>
              <a:t>Agregación</a:t>
            </a:r>
          </a:p>
          <a:p>
            <a:pPr marL="514350" indent="-514350">
              <a:buAutoNum type="arabicPeriod"/>
            </a:pPr>
            <a:r>
              <a:rPr lang="es-SV" dirty="0"/>
              <a:t>composición</a:t>
            </a:r>
          </a:p>
          <a:p>
            <a:pPr marL="514350" indent="-514350">
              <a:buAutoNum type="arabicPeriod"/>
            </a:pPr>
            <a:r>
              <a:rPr lang="es-SV" dirty="0"/>
              <a:t>Generalización</a:t>
            </a:r>
          </a:p>
        </p:txBody>
      </p:sp>
    </p:spTree>
    <p:extLst>
      <p:ext uri="{BB962C8B-B14F-4D97-AF65-F5344CB8AC3E}">
        <p14:creationId xmlns:p14="http://schemas.microsoft.com/office/powerpoint/2010/main" val="4003317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DEPENDENCIA</a:t>
            </a:r>
            <a:endParaRPr lang="es-ES" dirty="0"/>
          </a:p>
        </p:txBody>
      </p:sp>
      <p:sp>
        <p:nvSpPr>
          <p:cNvPr id="3" name="Marcador de contenido 2"/>
          <p:cNvSpPr>
            <a:spLocks noGrp="1"/>
          </p:cNvSpPr>
          <p:nvPr>
            <p:ph idx="1"/>
          </p:nvPr>
        </p:nvSpPr>
        <p:spPr/>
        <p:txBody>
          <a:bodyPr/>
          <a:lstStyle/>
          <a:p>
            <a:r>
              <a:rPr lang="es-SV" dirty="0"/>
              <a:t>Esta relación indica la necesidad de una clase hacia otra, es decir que la implantación de una clase depende de otra.</a:t>
            </a:r>
          </a:p>
          <a:p>
            <a:endParaRPr lang="es-SV" dirty="0"/>
          </a:p>
          <a:p>
            <a:r>
              <a:rPr lang="es-MX" dirty="0"/>
              <a:t>Significa que una clase utiliza o necesita a otra para poder funcionar.</a:t>
            </a:r>
          </a:p>
          <a:p>
            <a:endParaRPr lang="es-MX" dirty="0"/>
          </a:p>
          <a:p>
            <a:endParaRPr lang="es-ES" dirty="0"/>
          </a:p>
        </p:txBody>
      </p:sp>
    </p:spTree>
    <p:extLst>
      <p:ext uri="{BB962C8B-B14F-4D97-AF65-F5344CB8AC3E}">
        <p14:creationId xmlns:p14="http://schemas.microsoft.com/office/powerpoint/2010/main" val="2798304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DEPENDENCIA</a:t>
            </a:r>
          </a:p>
        </p:txBody>
      </p:sp>
      <p:sp>
        <p:nvSpPr>
          <p:cNvPr id="3" name="2 Marcador de contenido"/>
          <p:cNvSpPr>
            <a:spLocks noGrp="1"/>
          </p:cNvSpPr>
          <p:nvPr>
            <p:ph idx="1"/>
          </p:nvPr>
        </p:nvSpPr>
        <p:spPr/>
        <p:txBody>
          <a:bodyPr>
            <a:normAutofit/>
          </a:bodyPr>
          <a:lstStyle/>
          <a:p>
            <a:r>
              <a:rPr lang="es-MX" dirty="0"/>
              <a:t>Un cambio en la especificación de la clase de la que se depende, puede afectar a la clase que la utiliza.</a:t>
            </a:r>
          </a:p>
          <a:p>
            <a:endParaRPr lang="es-MX" dirty="0"/>
          </a:p>
          <a:p>
            <a:r>
              <a:rPr lang="es-MX" dirty="0"/>
              <a:t>Se representa por una flecha punteada que va dirigida al elemento del cual se depende.</a:t>
            </a:r>
          </a:p>
          <a:p>
            <a:endParaRPr lang="es-MX" dirty="0"/>
          </a:p>
          <a:p>
            <a:r>
              <a:rPr lang="es-MX" dirty="0"/>
              <a:t>Es la relación más débil entre dos clases.</a:t>
            </a:r>
          </a:p>
          <a:p>
            <a:endParaRPr lang="es-MX" dirty="0"/>
          </a:p>
        </p:txBody>
      </p:sp>
    </p:spTree>
    <p:extLst>
      <p:ext uri="{BB962C8B-B14F-4D97-AF65-F5344CB8AC3E}">
        <p14:creationId xmlns:p14="http://schemas.microsoft.com/office/powerpoint/2010/main" val="369622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457200" y="1600200"/>
            <a:ext cx="8363272" cy="4525963"/>
          </a:xfrm>
        </p:spPr>
        <p:txBody>
          <a:bodyPr/>
          <a:lstStyle/>
          <a:p>
            <a:endParaRPr lang="es-MX" dirty="0"/>
          </a:p>
          <a:p>
            <a:endParaRPr lang="es-MX" dirty="0"/>
          </a:p>
          <a:p>
            <a:endParaRPr lang="es-MX" dirty="0"/>
          </a:p>
          <a:p>
            <a:endParaRPr lang="es-MX" dirty="0"/>
          </a:p>
          <a:p>
            <a:r>
              <a:rPr lang="es-MX" dirty="0"/>
              <a:t>Ventana depende de la clase </a:t>
            </a:r>
            <a:r>
              <a:rPr lang="es-MX" dirty="0" err="1"/>
              <a:t>CerrarVentana</a:t>
            </a:r>
            <a:r>
              <a:rPr lang="es-MX" dirty="0"/>
              <a:t> porque necesita leer el contenido de esta clase para poder cerrar la ventana.</a:t>
            </a:r>
          </a:p>
          <a:p>
            <a:endParaRPr lang="es-MX" dirty="0"/>
          </a:p>
          <a:p>
            <a:endParaRPr lang="es-MX" dirty="0"/>
          </a:p>
        </p:txBody>
      </p:sp>
      <p:sp>
        <p:nvSpPr>
          <p:cNvPr id="4" name="3 Rectángulo"/>
          <p:cNvSpPr/>
          <p:nvPr/>
        </p:nvSpPr>
        <p:spPr>
          <a:xfrm>
            <a:off x="767230" y="2060848"/>
            <a:ext cx="2952328"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5 Rectángulo"/>
          <p:cNvSpPr/>
          <p:nvPr/>
        </p:nvSpPr>
        <p:spPr>
          <a:xfrm>
            <a:off x="5580112" y="2060848"/>
            <a:ext cx="2952328"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8" name="7 Conector recto de flecha"/>
          <p:cNvCxnSpPr>
            <a:stCxn id="4" idx="3"/>
            <a:endCxn id="6" idx="1"/>
          </p:cNvCxnSpPr>
          <p:nvPr/>
        </p:nvCxnSpPr>
        <p:spPr>
          <a:xfrm>
            <a:off x="3719558" y="2708920"/>
            <a:ext cx="1860554" cy="0"/>
          </a:xfrm>
          <a:prstGeom prst="straightConnector1">
            <a:avLst/>
          </a:prstGeom>
          <a:ln w="2540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1379298" y="2060848"/>
            <a:ext cx="1728192" cy="523220"/>
          </a:xfrm>
          <a:prstGeom prst="rect">
            <a:avLst/>
          </a:prstGeom>
          <a:noFill/>
        </p:spPr>
        <p:txBody>
          <a:bodyPr wrap="square" rtlCol="0">
            <a:spAutoFit/>
          </a:bodyPr>
          <a:lstStyle/>
          <a:p>
            <a:r>
              <a:rPr lang="es-MX" sz="2800" dirty="0"/>
              <a:t>Ventana</a:t>
            </a:r>
          </a:p>
        </p:txBody>
      </p:sp>
      <p:sp>
        <p:nvSpPr>
          <p:cNvPr id="10" name="9 CuadroTexto"/>
          <p:cNvSpPr txBox="1"/>
          <p:nvPr/>
        </p:nvSpPr>
        <p:spPr>
          <a:xfrm>
            <a:off x="5724128" y="2060848"/>
            <a:ext cx="2808312" cy="523220"/>
          </a:xfrm>
          <a:prstGeom prst="rect">
            <a:avLst/>
          </a:prstGeom>
          <a:noFill/>
        </p:spPr>
        <p:txBody>
          <a:bodyPr wrap="square" rtlCol="0">
            <a:spAutoFit/>
          </a:bodyPr>
          <a:lstStyle/>
          <a:p>
            <a:r>
              <a:rPr lang="es-MX" sz="2800" dirty="0" err="1"/>
              <a:t>CerrarVentana</a:t>
            </a:r>
            <a:endParaRPr lang="es-MX" sz="2800" dirty="0"/>
          </a:p>
        </p:txBody>
      </p:sp>
      <p:cxnSp>
        <p:nvCxnSpPr>
          <p:cNvPr id="11" name="10 Conector recto"/>
          <p:cNvCxnSpPr/>
          <p:nvPr/>
        </p:nvCxnSpPr>
        <p:spPr>
          <a:xfrm>
            <a:off x="767230" y="2584068"/>
            <a:ext cx="2952328"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12 Conector recto"/>
          <p:cNvCxnSpPr/>
          <p:nvPr/>
        </p:nvCxnSpPr>
        <p:spPr>
          <a:xfrm>
            <a:off x="5580112" y="2584068"/>
            <a:ext cx="2952328"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13 Conector recto"/>
          <p:cNvCxnSpPr/>
          <p:nvPr/>
        </p:nvCxnSpPr>
        <p:spPr>
          <a:xfrm>
            <a:off x="767230" y="2996952"/>
            <a:ext cx="2952328"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14 Conector recto"/>
          <p:cNvCxnSpPr/>
          <p:nvPr/>
        </p:nvCxnSpPr>
        <p:spPr>
          <a:xfrm>
            <a:off x="5580112" y="2996952"/>
            <a:ext cx="2952328"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3789222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ASOCIACION</a:t>
            </a:r>
            <a:endParaRPr lang="es-ES" dirty="0"/>
          </a:p>
        </p:txBody>
      </p:sp>
      <p:sp>
        <p:nvSpPr>
          <p:cNvPr id="3" name="Marcador de contenido 2"/>
          <p:cNvSpPr>
            <a:spLocks noGrp="1"/>
          </p:cNvSpPr>
          <p:nvPr>
            <p:ph idx="1"/>
          </p:nvPr>
        </p:nvSpPr>
        <p:spPr/>
        <p:txBody>
          <a:bodyPr/>
          <a:lstStyle/>
          <a:p>
            <a:r>
              <a:rPr lang="es-SV" dirty="0"/>
              <a:t>Es la relación más importante y común entre clases. </a:t>
            </a:r>
          </a:p>
          <a:p>
            <a:endParaRPr lang="es-SV" dirty="0"/>
          </a:p>
          <a:p>
            <a:r>
              <a:rPr lang="es-SV" dirty="0"/>
              <a:t>Refleja una relación entre dos clases independientes que se mantiene durante la vida de los objetos de dichas clases o al menos durante un tiempo prolongado</a:t>
            </a:r>
            <a:endParaRPr lang="es-ES" dirty="0"/>
          </a:p>
        </p:txBody>
      </p:sp>
    </p:spTree>
    <p:extLst>
      <p:ext uri="{BB962C8B-B14F-4D97-AF65-F5344CB8AC3E}">
        <p14:creationId xmlns:p14="http://schemas.microsoft.com/office/powerpoint/2010/main" val="3811023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ASOCIACION</a:t>
            </a:r>
            <a:endParaRPr lang="es-SV" dirty="0"/>
          </a:p>
        </p:txBody>
      </p:sp>
      <p:sp>
        <p:nvSpPr>
          <p:cNvPr id="3" name="2 Marcador de contenido"/>
          <p:cNvSpPr>
            <a:spLocks noGrp="1"/>
          </p:cNvSpPr>
          <p:nvPr>
            <p:ph idx="1"/>
          </p:nvPr>
        </p:nvSpPr>
        <p:spPr/>
        <p:txBody>
          <a:bodyPr/>
          <a:lstStyle/>
          <a:p>
            <a:pPr marL="0" indent="0">
              <a:buNone/>
            </a:pPr>
            <a:r>
              <a:rPr lang="es-SV" dirty="0">
                <a:ea typeface="Calibri"/>
                <a:cs typeface="Times New Roman"/>
              </a:rPr>
              <a:t>Esta relación se establece cuando dos clases tienen una dependencia de utilización.</a:t>
            </a:r>
          </a:p>
          <a:p>
            <a:pPr marL="0" indent="0">
              <a:buNone/>
            </a:pPr>
            <a:r>
              <a:rPr lang="es-SV" dirty="0">
                <a:ea typeface="Calibri"/>
                <a:cs typeface="Times New Roman"/>
              </a:rPr>
              <a:t>Ambas clases tienen la misma jerarquía.</a:t>
            </a:r>
          </a:p>
          <a:p>
            <a:pPr marL="0" indent="0">
              <a:buNone/>
            </a:pPr>
            <a:r>
              <a:rPr lang="es-SV" dirty="0">
                <a:ea typeface="Calibri"/>
                <a:cs typeface="Times New Roman"/>
              </a:rPr>
              <a:t>Significa que una clase contiene una referencia a un objeto u objetos de la otra clase en forma de atributo.</a:t>
            </a:r>
          </a:p>
          <a:p>
            <a:pPr marL="0" indent="0">
              <a:buNone/>
            </a:pPr>
            <a:r>
              <a:rPr lang="es-SV" dirty="0">
                <a:ea typeface="Calibri"/>
                <a:cs typeface="Times New Roman"/>
              </a:rPr>
              <a:t>Esta relación permite asociar objetos que colaboran entre sí. </a:t>
            </a:r>
            <a:endParaRPr lang="es-SV" dirty="0"/>
          </a:p>
        </p:txBody>
      </p:sp>
    </p:spTree>
    <p:extLst>
      <p:ext uri="{BB962C8B-B14F-4D97-AF65-F5344CB8AC3E}">
        <p14:creationId xmlns:p14="http://schemas.microsoft.com/office/powerpoint/2010/main" val="1423175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r>
              <a:rPr lang="es-MX" dirty="0"/>
              <a:t>Se representa por una línea continua que conecta las clases, acompañada del nombre de la asociación.</a:t>
            </a:r>
          </a:p>
          <a:p>
            <a:endParaRPr lang="es-MX" dirty="0"/>
          </a:p>
          <a:p>
            <a:pPr marL="0" indent="0">
              <a:buNone/>
            </a:pPr>
            <a:endParaRPr lang="es-MX" dirty="0"/>
          </a:p>
          <a:p>
            <a:endParaRPr lang="es-MX" dirty="0"/>
          </a:p>
          <a:p>
            <a:endParaRPr lang="es-MX" dirty="0"/>
          </a:p>
          <a:p>
            <a:endParaRPr lang="es-MX" dirty="0"/>
          </a:p>
        </p:txBody>
      </p:sp>
      <p:sp>
        <p:nvSpPr>
          <p:cNvPr id="4" name="3 Rectángulo"/>
          <p:cNvSpPr/>
          <p:nvPr/>
        </p:nvSpPr>
        <p:spPr>
          <a:xfrm>
            <a:off x="539552" y="4093432"/>
            <a:ext cx="216024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4 Rectángulo"/>
          <p:cNvSpPr/>
          <p:nvPr/>
        </p:nvSpPr>
        <p:spPr>
          <a:xfrm>
            <a:off x="6660232" y="4068101"/>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7" name="6 Conector recto"/>
          <p:cNvCxnSpPr>
            <a:stCxn id="4" idx="3"/>
            <a:endCxn id="5" idx="1"/>
          </p:cNvCxnSpPr>
          <p:nvPr/>
        </p:nvCxnSpPr>
        <p:spPr>
          <a:xfrm flipV="1">
            <a:off x="2699792" y="4716173"/>
            <a:ext cx="3960440" cy="253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873922" y="3974314"/>
            <a:ext cx="1491499" cy="584775"/>
          </a:xfrm>
          <a:prstGeom prst="rect">
            <a:avLst/>
          </a:prstGeom>
          <a:noFill/>
        </p:spPr>
        <p:txBody>
          <a:bodyPr wrap="none" rtlCol="0">
            <a:spAutoFit/>
          </a:bodyPr>
          <a:lstStyle/>
          <a:p>
            <a:r>
              <a:rPr lang="es-MX" sz="3200" dirty="0"/>
              <a:t>Jugador</a:t>
            </a:r>
          </a:p>
        </p:txBody>
      </p:sp>
      <p:sp>
        <p:nvSpPr>
          <p:cNvPr id="9" name="8 CuadroTexto"/>
          <p:cNvSpPr txBox="1"/>
          <p:nvPr/>
        </p:nvSpPr>
        <p:spPr>
          <a:xfrm>
            <a:off x="7072447" y="3974313"/>
            <a:ext cx="1339213" cy="584775"/>
          </a:xfrm>
          <a:prstGeom prst="rect">
            <a:avLst/>
          </a:prstGeom>
          <a:noFill/>
        </p:spPr>
        <p:txBody>
          <a:bodyPr wrap="none" rtlCol="0">
            <a:spAutoFit/>
          </a:bodyPr>
          <a:lstStyle/>
          <a:p>
            <a:r>
              <a:rPr lang="es-MX" sz="3200" dirty="0"/>
              <a:t>Equipo</a:t>
            </a:r>
          </a:p>
        </p:txBody>
      </p:sp>
      <p:sp>
        <p:nvSpPr>
          <p:cNvPr id="10" name="9 CuadroTexto"/>
          <p:cNvSpPr txBox="1"/>
          <p:nvPr/>
        </p:nvSpPr>
        <p:spPr>
          <a:xfrm>
            <a:off x="3059832" y="3983984"/>
            <a:ext cx="2952328" cy="584775"/>
          </a:xfrm>
          <a:prstGeom prst="rect">
            <a:avLst/>
          </a:prstGeom>
          <a:noFill/>
        </p:spPr>
        <p:txBody>
          <a:bodyPr wrap="square" rtlCol="0">
            <a:spAutoFit/>
          </a:bodyPr>
          <a:lstStyle/>
          <a:p>
            <a:r>
              <a:rPr lang="es-MX" sz="3200" dirty="0"/>
              <a:t>Juega en </a:t>
            </a:r>
          </a:p>
        </p:txBody>
      </p:sp>
      <p:cxnSp>
        <p:nvCxnSpPr>
          <p:cNvPr id="14" name="13 Conector recto de flecha"/>
          <p:cNvCxnSpPr>
            <a:endCxn id="10" idx="3"/>
          </p:cNvCxnSpPr>
          <p:nvPr/>
        </p:nvCxnSpPr>
        <p:spPr>
          <a:xfrm>
            <a:off x="4716016" y="4276371"/>
            <a:ext cx="1296144" cy="1"/>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539552" y="5029537"/>
            <a:ext cx="2160240"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14 Conector recto"/>
          <p:cNvCxnSpPr/>
          <p:nvPr/>
        </p:nvCxnSpPr>
        <p:spPr>
          <a:xfrm>
            <a:off x="524388" y="4569096"/>
            <a:ext cx="2160240"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15 Conector recto"/>
          <p:cNvCxnSpPr/>
          <p:nvPr/>
        </p:nvCxnSpPr>
        <p:spPr>
          <a:xfrm flipV="1">
            <a:off x="6660232" y="4559088"/>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16 Conector recto"/>
          <p:cNvCxnSpPr/>
          <p:nvPr/>
        </p:nvCxnSpPr>
        <p:spPr>
          <a:xfrm flipV="1">
            <a:off x="6671449" y="4941168"/>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494404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r>
              <a:rPr lang="es-MX" dirty="0"/>
              <a:t>Se puede representar los roles que juegan las clases dentro de la asociación.</a:t>
            </a:r>
          </a:p>
          <a:p>
            <a:pPr marL="0" indent="0">
              <a:buNone/>
            </a:pPr>
            <a:endParaRPr lang="es-MX" dirty="0"/>
          </a:p>
          <a:p>
            <a:endParaRPr lang="es-MX" dirty="0"/>
          </a:p>
          <a:p>
            <a:endParaRPr lang="es-MX" dirty="0"/>
          </a:p>
          <a:p>
            <a:endParaRPr lang="es-MX" dirty="0"/>
          </a:p>
        </p:txBody>
      </p:sp>
      <p:sp>
        <p:nvSpPr>
          <p:cNvPr id="4" name="3 Rectángulo"/>
          <p:cNvSpPr/>
          <p:nvPr/>
        </p:nvSpPr>
        <p:spPr>
          <a:xfrm>
            <a:off x="539552" y="3272615"/>
            <a:ext cx="216024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5" name="4 Rectángulo"/>
          <p:cNvSpPr/>
          <p:nvPr/>
        </p:nvSpPr>
        <p:spPr>
          <a:xfrm>
            <a:off x="6496044" y="3266572"/>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cxnSp>
        <p:nvCxnSpPr>
          <p:cNvPr id="7" name="6 Conector recto"/>
          <p:cNvCxnSpPr>
            <a:stCxn id="4" idx="3"/>
            <a:endCxn id="5" idx="1"/>
          </p:cNvCxnSpPr>
          <p:nvPr/>
        </p:nvCxnSpPr>
        <p:spPr>
          <a:xfrm flipV="1">
            <a:off x="2699792" y="3914644"/>
            <a:ext cx="3796252" cy="60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892115" y="3245085"/>
            <a:ext cx="1491499" cy="584775"/>
          </a:xfrm>
          <a:prstGeom prst="rect">
            <a:avLst/>
          </a:prstGeom>
          <a:noFill/>
        </p:spPr>
        <p:txBody>
          <a:bodyPr wrap="none" rtlCol="0">
            <a:spAutoFit/>
          </a:bodyPr>
          <a:lstStyle/>
          <a:p>
            <a:r>
              <a:rPr lang="es-MX" sz="3200" dirty="0">
                <a:solidFill>
                  <a:prstClr val="black"/>
                </a:solidFill>
              </a:rPr>
              <a:t>Jugador</a:t>
            </a:r>
          </a:p>
        </p:txBody>
      </p:sp>
      <p:sp>
        <p:nvSpPr>
          <p:cNvPr id="9" name="8 CuadroTexto"/>
          <p:cNvSpPr txBox="1"/>
          <p:nvPr/>
        </p:nvSpPr>
        <p:spPr>
          <a:xfrm>
            <a:off x="6937393" y="3266572"/>
            <a:ext cx="1339213" cy="584775"/>
          </a:xfrm>
          <a:prstGeom prst="rect">
            <a:avLst/>
          </a:prstGeom>
          <a:noFill/>
        </p:spPr>
        <p:txBody>
          <a:bodyPr wrap="none" rtlCol="0">
            <a:spAutoFit/>
          </a:bodyPr>
          <a:lstStyle/>
          <a:p>
            <a:r>
              <a:rPr lang="es-MX" sz="3200" dirty="0">
                <a:solidFill>
                  <a:prstClr val="black"/>
                </a:solidFill>
              </a:rPr>
              <a:t>Equipo</a:t>
            </a:r>
          </a:p>
        </p:txBody>
      </p:sp>
      <p:sp>
        <p:nvSpPr>
          <p:cNvPr id="10" name="9 CuadroTexto"/>
          <p:cNvSpPr txBox="1"/>
          <p:nvPr/>
        </p:nvSpPr>
        <p:spPr>
          <a:xfrm>
            <a:off x="3059832" y="3089661"/>
            <a:ext cx="2952328" cy="584775"/>
          </a:xfrm>
          <a:prstGeom prst="rect">
            <a:avLst/>
          </a:prstGeom>
          <a:noFill/>
        </p:spPr>
        <p:txBody>
          <a:bodyPr wrap="square" rtlCol="0">
            <a:spAutoFit/>
          </a:bodyPr>
          <a:lstStyle/>
          <a:p>
            <a:r>
              <a:rPr lang="es-MX" sz="3200" dirty="0">
                <a:solidFill>
                  <a:prstClr val="black"/>
                </a:solidFill>
              </a:rPr>
              <a:t>Juega en </a:t>
            </a:r>
          </a:p>
        </p:txBody>
      </p:sp>
      <p:cxnSp>
        <p:nvCxnSpPr>
          <p:cNvPr id="14" name="13 Conector recto de flecha"/>
          <p:cNvCxnSpPr>
            <a:endCxn id="10" idx="3"/>
          </p:cNvCxnSpPr>
          <p:nvPr/>
        </p:nvCxnSpPr>
        <p:spPr>
          <a:xfrm>
            <a:off x="4716016" y="3382048"/>
            <a:ext cx="1296144" cy="1"/>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2723321" y="4161360"/>
            <a:ext cx="1858201" cy="584775"/>
          </a:xfrm>
          <a:prstGeom prst="rect">
            <a:avLst/>
          </a:prstGeom>
          <a:noFill/>
        </p:spPr>
        <p:txBody>
          <a:bodyPr wrap="none" rtlCol="0">
            <a:spAutoFit/>
          </a:bodyPr>
          <a:lstStyle/>
          <a:p>
            <a:r>
              <a:rPr lang="es-MX" sz="3200" dirty="0">
                <a:solidFill>
                  <a:prstClr val="black"/>
                </a:solidFill>
              </a:rPr>
              <a:t>Empleado</a:t>
            </a:r>
          </a:p>
        </p:txBody>
      </p:sp>
      <p:sp>
        <p:nvSpPr>
          <p:cNvPr id="15" name="14 CuadroTexto"/>
          <p:cNvSpPr txBox="1"/>
          <p:nvPr/>
        </p:nvSpPr>
        <p:spPr>
          <a:xfrm>
            <a:off x="4867650" y="4161358"/>
            <a:ext cx="1628394" cy="584775"/>
          </a:xfrm>
          <a:prstGeom prst="rect">
            <a:avLst/>
          </a:prstGeom>
          <a:noFill/>
        </p:spPr>
        <p:txBody>
          <a:bodyPr wrap="none" rtlCol="0">
            <a:spAutoFit/>
          </a:bodyPr>
          <a:lstStyle/>
          <a:p>
            <a:r>
              <a:rPr lang="es-MX" sz="3200" dirty="0">
                <a:solidFill>
                  <a:prstClr val="black"/>
                </a:solidFill>
              </a:rPr>
              <a:t>Empresa</a:t>
            </a:r>
          </a:p>
        </p:txBody>
      </p:sp>
      <p:cxnSp>
        <p:nvCxnSpPr>
          <p:cNvPr id="16" name="15 Conector recto"/>
          <p:cNvCxnSpPr/>
          <p:nvPr/>
        </p:nvCxnSpPr>
        <p:spPr>
          <a:xfrm flipV="1">
            <a:off x="6503003" y="4207976"/>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16 Conector recto"/>
          <p:cNvCxnSpPr/>
          <p:nvPr/>
        </p:nvCxnSpPr>
        <p:spPr>
          <a:xfrm flipV="1">
            <a:off x="6503003" y="3851347"/>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17 Conector recto"/>
          <p:cNvCxnSpPr/>
          <p:nvPr/>
        </p:nvCxnSpPr>
        <p:spPr>
          <a:xfrm flipV="1">
            <a:off x="539552" y="4212980"/>
            <a:ext cx="2183769" cy="15012"/>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18 Conector recto"/>
          <p:cNvCxnSpPr/>
          <p:nvPr/>
        </p:nvCxnSpPr>
        <p:spPr>
          <a:xfrm flipV="1">
            <a:off x="539552" y="3824856"/>
            <a:ext cx="2160240"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459897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MX" dirty="0"/>
              <a:t>MULTIPLICIDAD EN LAS RELACIONES</a:t>
            </a:r>
            <a:endParaRPr lang="es-SV" dirty="0"/>
          </a:p>
        </p:txBody>
      </p:sp>
      <p:sp>
        <p:nvSpPr>
          <p:cNvPr id="3" name="2 Marcador de contenido"/>
          <p:cNvSpPr>
            <a:spLocks noGrp="1"/>
          </p:cNvSpPr>
          <p:nvPr>
            <p:ph idx="1"/>
          </p:nvPr>
        </p:nvSpPr>
        <p:spPr>
          <a:xfrm>
            <a:off x="457200" y="1268760"/>
            <a:ext cx="8229600" cy="5112568"/>
          </a:xfrm>
        </p:spPr>
        <p:txBody>
          <a:bodyPr>
            <a:normAutofit lnSpcReduction="10000"/>
          </a:bodyPr>
          <a:lstStyle/>
          <a:p>
            <a:pPr algn="just">
              <a:lnSpc>
                <a:spcPct val="115000"/>
              </a:lnSpc>
              <a:spcAft>
                <a:spcPts val="1000"/>
              </a:spcAft>
            </a:pPr>
            <a:r>
              <a:rPr lang="es-SV" dirty="0">
                <a:ea typeface="Calibri"/>
                <a:cs typeface="Times New Roman"/>
              </a:rPr>
              <a:t>Representa la cantidad de objetos de una clase que se relacionan con un objeto de la clase asociada. Puede ser:</a:t>
            </a:r>
            <a:endParaRPr lang="es-SV" sz="2800" dirty="0">
              <a:ea typeface="Calibri"/>
              <a:cs typeface="Times New Roman"/>
            </a:endParaRPr>
          </a:p>
          <a:p>
            <a:pPr lvl="0" algn="just">
              <a:lnSpc>
                <a:spcPct val="115000"/>
              </a:lnSpc>
              <a:buFont typeface="Symbol"/>
              <a:buChar char=""/>
            </a:pPr>
            <a:r>
              <a:rPr lang="es-SV" dirty="0">
                <a:ea typeface="Calibri"/>
                <a:cs typeface="Times New Roman"/>
              </a:rPr>
              <a:t>uno a muchos: 1..*    (1..n)</a:t>
            </a:r>
            <a:endParaRPr lang="es-SV" sz="2800" dirty="0">
              <a:ea typeface="Calibri"/>
              <a:cs typeface="Times New Roman"/>
            </a:endParaRPr>
          </a:p>
          <a:p>
            <a:pPr lvl="0" algn="just">
              <a:lnSpc>
                <a:spcPct val="115000"/>
              </a:lnSpc>
              <a:buFont typeface="Symbol"/>
              <a:buChar char=""/>
            </a:pPr>
            <a:r>
              <a:rPr lang="es-SV" dirty="0">
                <a:ea typeface="Calibri"/>
                <a:cs typeface="Times New Roman"/>
              </a:rPr>
              <a:t>0 a muchos: 0..*         (0..n)</a:t>
            </a:r>
          </a:p>
          <a:p>
            <a:pPr lvl="0" algn="just">
              <a:lnSpc>
                <a:spcPct val="115000"/>
              </a:lnSpc>
              <a:buFont typeface="Symbol"/>
              <a:buChar char=""/>
            </a:pPr>
            <a:r>
              <a:rPr lang="es-SV" sz="2800" dirty="0">
                <a:ea typeface="Calibri"/>
                <a:cs typeface="Times New Roman"/>
              </a:rPr>
              <a:t>x  a  y   (enteros)                (x .. y)</a:t>
            </a:r>
          </a:p>
          <a:p>
            <a:pPr lvl="0" algn="just">
              <a:lnSpc>
                <a:spcPct val="115000"/>
              </a:lnSpc>
              <a:spcAft>
                <a:spcPts val="1000"/>
              </a:spcAft>
              <a:buFont typeface="Symbol"/>
              <a:buChar char=""/>
            </a:pPr>
            <a:r>
              <a:rPr lang="es-SV" dirty="0">
                <a:ea typeface="Calibri"/>
                <a:cs typeface="Times New Roman"/>
              </a:rPr>
              <a:t>m   (entero)                   (m denota el entero).</a:t>
            </a:r>
          </a:p>
          <a:p>
            <a:pPr lvl="0" algn="just">
              <a:lnSpc>
                <a:spcPct val="115000"/>
              </a:lnSpc>
              <a:spcAft>
                <a:spcPts val="1000"/>
              </a:spcAft>
              <a:buFont typeface="Symbol"/>
              <a:buChar char=""/>
            </a:pPr>
            <a:r>
              <a:rPr lang="es-SV" sz="2800" dirty="0">
                <a:ea typeface="Calibri"/>
                <a:cs typeface="Times New Roman"/>
              </a:rPr>
              <a:t>m , n  (enteros)                    (m ó n)</a:t>
            </a:r>
          </a:p>
          <a:p>
            <a:pPr marL="0" indent="0">
              <a:buNone/>
            </a:pPr>
            <a:endParaRPr lang="es-SV" dirty="0"/>
          </a:p>
        </p:txBody>
      </p:sp>
    </p:spTree>
    <p:extLst>
      <p:ext uri="{BB962C8B-B14F-4D97-AF65-F5344CB8AC3E}">
        <p14:creationId xmlns:p14="http://schemas.microsoft.com/office/powerpoint/2010/main" val="1849170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SV" dirty="0"/>
              <a:t>EJEMPLO</a:t>
            </a:r>
          </a:p>
        </p:txBody>
      </p:sp>
      <p:sp>
        <p:nvSpPr>
          <p:cNvPr id="3" name="2 Marcador de contenido"/>
          <p:cNvSpPr>
            <a:spLocks noGrp="1"/>
          </p:cNvSpPr>
          <p:nvPr>
            <p:ph idx="1"/>
          </p:nvPr>
        </p:nvSpPr>
        <p:spPr/>
        <p:txBody>
          <a:bodyPr/>
          <a:lstStyle/>
          <a:p>
            <a:pPr lvl="0"/>
            <a:endParaRPr lang="es-SV" dirty="0">
              <a:solidFill>
                <a:prstClr val="black"/>
              </a:solidFill>
            </a:endParaRPr>
          </a:p>
          <a:p>
            <a:pPr lvl="0"/>
            <a:endParaRPr lang="es-SV" dirty="0">
              <a:solidFill>
                <a:prstClr val="black"/>
              </a:solidFill>
            </a:endParaRPr>
          </a:p>
          <a:p>
            <a:pPr lvl="0"/>
            <a:endParaRPr lang="es-SV" dirty="0">
              <a:solidFill>
                <a:prstClr val="black"/>
              </a:solidFill>
            </a:endParaRPr>
          </a:p>
          <a:p>
            <a:pPr lvl="0"/>
            <a:endParaRPr lang="es-SV" dirty="0">
              <a:solidFill>
                <a:prstClr val="black"/>
              </a:solidFill>
            </a:endParaRPr>
          </a:p>
          <a:p>
            <a:pPr lvl="0"/>
            <a:endParaRPr lang="es-SV" dirty="0">
              <a:solidFill>
                <a:prstClr val="black"/>
              </a:solidFill>
            </a:endParaRPr>
          </a:p>
        </p:txBody>
      </p:sp>
      <p:pic>
        <p:nvPicPr>
          <p:cNvPr id="4" name="3 Imagen"/>
          <p:cNvPicPr/>
          <p:nvPr/>
        </p:nvPicPr>
        <p:blipFill rotWithShape="1">
          <a:blip r:embed="rId2">
            <a:extLst>
              <a:ext uri="{28A0092B-C50C-407E-A947-70E740481C1C}">
                <a14:useLocalDpi xmlns:a14="http://schemas.microsoft.com/office/drawing/2010/main" val="0"/>
              </a:ext>
            </a:extLst>
          </a:blip>
          <a:srcRect l="23610" t="18127" r="48363" b="68278"/>
          <a:stretch/>
        </p:blipFill>
        <p:spPr bwMode="auto">
          <a:xfrm>
            <a:off x="1619672" y="1556792"/>
            <a:ext cx="5616624" cy="2376264"/>
          </a:xfrm>
          <a:prstGeom prst="rect">
            <a:avLst/>
          </a:prstGeom>
          <a:ln>
            <a:noFill/>
          </a:ln>
          <a:extLst>
            <a:ext uri="{53640926-AAD7-44D8-BBD7-CCE9431645EC}">
              <a14:shadowObscured xmlns:a14="http://schemas.microsoft.com/office/drawing/2010/main"/>
            </a:ext>
          </a:extLst>
        </p:spPr>
      </p:pic>
      <p:sp>
        <p:nvSpPr>
          <p:cNvPr id="6" name="5 Rectángulo"/>
          <p:cNvSpPr/>
          <p:nvPr/>
        </p:nvSpPr>
        <p:spPr>
          <a:xfrm>
            <a:off x="840160" y="4149080"/>
            <a:ext cx="7632848" cy="2324354"/>
          </a:xfrm>
          <a:prstGeom prst="rect">
            <a:avLst/>
          </a:prstGeom>
        </p:spPr>
        <p:txBody>
          <a:bodyPr wrap="square">
            <a:spAutoFit/>
          </a:bodyPr>
          <a:lstStyle/>
          <a:p>
            <a:pPr algn="just">
              <a:lnSpc>
                <a:spcPct val="115000"/>
              </a:lnSpc>
              <a:spcAft>
                <a:spcPts val="1000"/>
              </a:spcAft>
            </a:pPr>
            <a:r>
              <a:rPr lang="es-SV" sz="3200" dirty="0">
                <a:solidFill>
                  <a:prstClr val="black"/>
                </a:solidFill>
                <a:ea typeface="Calibri"/>
                <a:cs typeface="Times New Roman"/>
              </a:rPr>
              <a:t>Un cliente puede tener asociadas muchas Ordenes de Compra, en cambio una Orden de Compra sólo puede tener asociado a un cliente.</a:t>
            </a:r>
          </a:p>
        </p:txBody>
      </p:sp>
    </p:spTree>
    <p:extLst>
      <p:ext uri="{BB962C8B-B14F-4D97-AF65-F5344CB8AC3E}">
        <p14:creationId xmlns:p14="http://schemas.microsoft.com/office/powerpoint/2010/main" val="4055834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lstStyle/>
          <a:p>
            <a:endParaRPr lang="es-MX" dirty="0"/>
          </a:p>
          <a:p>
            <a:endParaRPr lang="es-MX" dirty="0"/>
          </a:p>
          <a:p>
            <a:endParaRPr lang="es-MX" dirty="0"/>
          </a:p>
          <a:p>
            <a:endParaRPr lang="es-MX" dirty="0"/>
          </a:p>
          <a:p>
            <a:r>
              <a:rPr lang="es-MX" dirty="0"/>
              <a:t>Un estudiante puede tener asociada muchas asignaturas; de igual forma, una asignatura puede tener asociados muchos estudiantes.</a:t>
            </a:r>
            <a:endParaRPr lang="es-SV" dirty="0"/>
          </a:p>
        </p:txBody>
      </p:sp>
      <p:grpSp>
        <p:nvGrpSpPr>
          <p:cNvPr id="5" name="4 Grupo"/>
          <p:cNvGrpSpPr/>
          <p:nvPr/>
        </p:nvGrpSpPr>
        <p:grpSpPr>
          <a:xfrm>
            <a:off x="508715" y="1929772"/>
            <a:ext cx="8178406" cy="1302189"/>
            <a:chOff x="539552" y="3266570"/>
            <a:chExt cx="8178406" cy="1302189"/>
          </a:xfrm>
        </p:grpSpPr>
        <p:sp>
          <p:nvSpPr>
            <p:cNvPr id="6" name="5 Rectángulo"/>
            <p:cNvSpPr/>
            <p:nvPr/>
          </p:nvSpPr>
          <p:spPr>
            <a:xfrm>
              <a:off x="539552" y="3272615"/>
              <a:ext cx="216024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7" name="6 Rectángulo"/>
            <p:cNvSpPr/>
            <p:nvPr/>
          </p:nvSpPr>
          <p:spPr>
            <a:xfrm>
              <a:off x="6496044" y="3266572"/>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cxnSp>
          <p:nvCxnSpPr>
            <p:cNvPr id="8" name="7 Conector recto"/>
            <p:cNvCxnSpPr>
              <a:stCxn id="6" idx="3"/>
              <a:endCxn id="7" idx="1"/>
            </p:cNvCxnSpPr>
            <p:nvPr/>
          </p:nvCxnSpPr>
          <p:spPr>
            <a:xfrm flipV="1">
              <a:off x="2699792" y="3914644"/>
              <a:ext cx="3796252" cy="60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643282" y="3266571"/>
              <a:ext cx="1952779" cy="584775"/>
            </a:xfrm>
            <a:prstGeom prst="rect">
              <a:avLst/>
            </a:prstGeom>
            <a:noFill/>
          </p:spPr>
          <p:txBody>
            <a:bodyPr wrap="none" rtlCol="0">
              <a:spAutoFit/>
            </a:bodyPr>
            <a:lstStyle/>
            <a:p>
              <a:r>
                <a:rPr lang="es-MX" sz="3200" dirty="0">
                  <a:solidFill>
                    <a:prstClr val="black"/>
                  </a:solidFill>
                </a:rPr>
                <a:t>Estudiante</a:t>
              </a:r>
            </a:p>
          </p:txBody>
        </p:sp>
        <p:sp>
          <p:nvSpPr>
            <p:cNvPr id="10" name="9 CuadroTexto"/>
            <p:cNvSpPr txBox="1"/>
            <p:nvPr/>
          </p:nvSpPr>
          <p:spPr>
            <a:xfrm>
              <a:off x="6611512" y="3266570"/>
              <a:ext cx="1966244" cy="584775"/>
            </a:xfrm>
            <a:prstGeom prst="rect">
              <a:avLst/>
            </a:prstGeom>
            <a:noFill/>
          </p:spPr>
          <p:txBody>
            <a:bodyPr wrap="none" rtlCol="0">
              <a:spAutoFit/>
            </a:bodyPr>
            <a:lstStyle/>
            <a:p>
              <a:r>
                <a:rPr lang="es-MX" sz="3200" dirty="0">
                  <a:solidFill>
                    <a:prstClr val="black"/>
                  </a:solidFill>
                </a:rPr>
                <a:t>Asignatura</a:t>
              </a:r>
            </a:p>
          </p:txBody>
        </p:sp>
      </p:grpSp>
      <p:sp>
        <p:nvSpPr>
          <p:cNvPr id="11" name="10 CuadroTexto"/>
          <p:cNvSpPr txBox="1"/>
          <p:nvPr/>
        </p:nvSpPr>
        <p:spPr>
          <a:xfrm>
            <a:off x="2771800" y="1978474"/>
            <a:ext cx="992579" cy="584775"/>
          </a:xfrm>
          <a:prstGeom prst="rect">
            <a:avLst/>
          </a:prstGeom>
          <a:noFill/>
        </p:spPr>
        <p:txBody>
          <a:bodyPr wrap="none" rtlCol="0">
            <a:spAutoFit/>
          </a:bodyPr>
          <a:lstStyle/>
          <a:p>
            <a:r>
              <a:rPr lang="es-MX" sz="3200" dirty="0">
                <a:solidFill>
                  <a:prstClr val="black"/>
                </a:solidFill>
              </a:rPr>
              <a:t>0 .. *</a:t>
            </a:r>
          </a:p>
        </p:txBody>
      </p:sp>
      <p:sp>
        <p:nvSpPr>
          <p:cNvPr id="12" name="11 CuadroTexto"/>
          <p:cNvSpPr txBox="1"/>
          <p:nvPr/>
        </p:nvSpPr>
        <p:spPr>
          <a:xfrm>
            <a:off x="5472628" y="2586180"/>
            <a:ext cx="992579" cy="584775"/>
          </a:xfrm>
          <a:prstGeom prst="rect">
            <a:avLst/>
          </a:prstGeom>
          <a:noFill/>
        </p:spPr>
        <p:txBody>
          <a:bodyPr wrap="none" rtlCol="0">
            <a:spAutoFit/>
          </a:bodyPr>
          <a:lstStyle/>
          <a:p>
            <a:r>
              <a:rPr lang="es-MX" sz="3200" dirty="0">
                <a:solidFill>
                  <a:prstClr val="black"/>
                </a:solidFill>
              </a:rPr>
              <a:t>0 .. *</a:t>
            </a:r>
          </a:p>
        </p:txBody>
      </p:sp>
      <p:cxnSp>
        <p:nvCxnSpPr>
          <p:cNvPr id="13" name="12 Conector recto"/>
          <p:cNvCxnSpPr/>
          <p:nvPr/>
        </p:nvCxnSpPr>
        <p:spPr>
          <a:xfrm flipV="1">
            <a:off x="508715" y="2509543"/>
            <a:ext cx="2160240"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14 Conector recto"/>
          <p:cNvCxnSpPr/>
          <p:nvPr/>
        </p:nvCxnSpPr>
        <p:spPr>
          <a:xfrm flipV="1">
            <a:off x="509962" y="2852728"/>
            <a:ext cx="2160240"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15 Conector recto"/>
          <p:cNvCxnSpPr/>
          <p:nvPr/>
        </p:nvCxnSpPr>
        <p:spPr>
          <a:xfrm flipV="1">
            <a:off x="6483677" y="2497559"/>
            <a:ext cx="220344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17 Conector recto"/>
          <p:cNvCxnSpPr/>
          <p:nvPr/>
        </p:nvCxnSpPr>
        <p:spPr>
          <a:xfrm flipV="1">
            <a:off x="6483677" y="2857732"/>
            <a:ext cx="220344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446145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lstStyle/>
          <a:p>
            <a:pPr>
              <a:lnSpc>
                <a:spcPct val="115000"/>
              </a:lnSpc>
              <a:spcAft>
                <a:spcPts val="1000"/>
              </a:spcAft>
            </a:pPr>
            <a:r>
              <a:rPr lang="es-SV" dirty="0"/>
              <a:t>Las dos clases están unidas por una línea y no por una flecha.</a:t>
            </a:r>
          </a:p>
          <a:p>
            <a:endParaRPr lang="es-SV" dirty="0"/>
          </a:p>
        </p:txBody>
      </p:sp>
    </p:spTree>
    <p:extLst>
      <p:ext uri="{BB962C8B-B14F-4D97-AF65-F5344CB8AC3E}">
        <p14:creationId xmlns:p14="http://schemas.microsoft.com/office/powerpoint/2010/main" val="2954377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lstStyle/>
          <a:p>
            <a:endParaRPr lang="es-MX" dirty="0"/>
          </a:p>
          <a:p>
            <a:endParaRPr lang="es-MX" dirty="0"/>
          </a:p>
          <a:p>
            <a:endParaRPr lang="es-MX" dirty="0"/>
          </a:p>
          <a:p>
            <a:endParaRPr lang="es-MX" dirty="0"/>
          </a:p>
          <a:p>
            <a:r>
              <a:rPr lang="es-MX" dirty="0"/>
              <a:t>Un motorista puede tener asociada un taxis; de igual forma, un taxi puede tener asociados un motoristas.</a:t>
            </a:r>
            <a:endParaRPr lang="es-SV" dirty="0"/>
          </a:p>
        </p:txBody>
      </p:sp>
      <p:grpSp>
        <p:nvGrpSpPr>
          <p:cNvPr id="5" name="4 Grupo"/>
          <p:cNvGrpSpPr/>
          <p:nvPr/>
        </p:nvGrpSpPr>
        <p:grpSpPr>
          <a:xfrm>
            <a:off x="508715" y="1929773"/>
            <a:ext cx="8178406" cy="1302188"/>
            <a:chOff x="539552" y="3266571"/>
            <a:chExt cx="8178406" cy="1302188"/>
          </a:xfrm>
        </p:grpSpPr>
        <p:sp>
          <p:nvSpPr>
            <p:cNvPr id="6" name="5 Rectángulo"/>
            <p:cNvSpPr/>
            <p:nvPr/>
          </p:nvSpPr>
          <p:spPr>
            <a:xfrm>
              <a:off x="539552" y="3272615"/>
              <a:ext cx="216024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7" name="6 Rectángulo"/>
            <p:cNvSpPr/>
            <p:nvPr/>
          </p:nvSpPr>
          <p:spPr>
            <a:xfrm>
              <a:off x="6496044" y="3266572"/>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cxnSp>
          <p:nvCxnSpPr>
            <p:cNvPr id="8" name="7 Conector recto"/>
            <p:cNvCxnSpPr>
              <a:stCxn id="6" idx="3"/>
              <a:endCxn id="7" idx="1"/>
            </p:cNvCxnSpPr>
            <p:nvPr/>
          </p:nvCxnSpPr>
          <p:spPr>
            <a:xfrm flipV="1">
              <a:off x="2699792" y="3914644"/>
              <a:ext cx="3796252" cy="60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643282" y="3266571"/>
              <a:ext cx="2011256" cy="584775"/>
            </a:xfrm>
            <a:prstGeom prst="rect">
              <a:avLst/>
            </a:prstGeom>
            <a:noFill/>
          </p:spPr>
          <p:txBody>
            <a:bodyPr wrap="none" rtlCol="0">
              <a:spAutoFit/>
            </a:bodyPr>
            <a:lstStyle/>
            <a:p>
              <a:r>
                <a:rPr lang="es-MX" sz="3200" dirty="0">
                  <a:solidFill>
                    <a:prstClr val="black"/>
                  </a:solidFill>
                </a:rPr>
                <a:t>  Motorista</a:t>
              </a:r>
            </a:p>
          </p:txBody>
        </p:sp>
        <p:sp>
          <p:nvSpPr>
            <p:cNvPr id="10" name="9 CuadroTexto"/>
            <p:cNvSpPr txBox="1"/>
            <p:nvPr/>
          </p:nvSpPr>
          <p:spPr>
            <a:xfrm>
              <a:off x="7099108" y="3286278"/>
              <a:ext cx="818879" cy="584775"/>
            </a:xfrm>
            <a:prstGeom prst="rect">
              <a:avLst/>
            </a:prstGeom>
            <a:noFill/>
          </p:spPr>
          <p:txBody>
            <a:bodyPr wrap="none" rtlCol="0">
              <a:spAutoFit/>
            </a:bodyPr>
            <a:lstStyle/>
            <a:p>
              <a:r>
                <a:rPr lang="es-MX" sz="3200" dirty="0">
                  <a:solidFill>
                    <a:prstClr val="black"/>
                  </a:solidFill>
                </a:rPr>
                <a:t>Taxi</a:t>
              </a:r>
            </a:p>
          </p:txBody>
        </p:sp>
      </p:grpSp>
      <p:sp>
        <p:nvSpPr>
          <p:cNvPr id="11" name="10 CuadroTexto"/>
          <p:cNvSpPr txBox="1"/>
          <p:nvPr/>
        </p:nvSpPr>
        <p:spPr>
          <a:xfrm>
            <a:off x="5976060" y="2647344"/>
            <a:ext cx="393056" cy="584775"/>
          </a:xfrm>
          <a:prstGeom prst="rect">
            <a:avLst/>
          </a:prstGeom>
          <a:noFill/>
        </p:spPr>
        <p:txBody>
          <a:bodyPr wrap="none" rtlCol="0">
            <a:spAutoFit/>
          </a:bodyPr>
          <a:lstStyle/>
          <a:p>
            <a:r>
              <a:rPr lang="es-MX" sz="3200" dirty="0">
                <a:solidFill>
                  <a:prstClr val="black"/>
                </a:solidFill>
              </a:rPr>
              <a:t>1</a:t>
            </a:r>
          </a:p>
        </p:txBody>
      </p:sp>
      <p:sp>
        <p:nvSpPr>
          <p:cNvPr id="12" name="11 CuadroTexto"/>
          <p:cNvSpPr txBox="1"/>
          <p:nvPr/>
        </p:nvSpPr>
        <p:spPr>
          <a:xfrm>
            <a:off x="2771800" y="1920678"/>
            <a:ext cx="393056" cy="584775"/>
          </a:xfrm>
          <a:prstGeom prst="rect">
            <a:avLst/>
          </a:prstGeom>
          <a:noFill/>
        </p:spPr>
        <p:txBody>
          <a:bodyPr wrap="none" rtlCol="0">
            <a:spAutoFit/>
          </a:bodyPr>
          <a:lstStyle/>
          <a:p>
            <a:r>
              <a:rPr lang="es-MX" sz="3200" dirty="0">
                <a:solidFill>
                  <a:prstClr val="black"/>
                </a:solidFill>
              </a:rPr>
              <a:t>1</a:t>
            </a:r>
          </a:p>
        </p:txBody>
      </p:sp>
      <p:cxnSp>
        <p:nvCxnSpPr>
          <p:cNvPr id="13" name="12 Conector recto"/>
          <p:cNvCxnSpPr/>
          <p:nvPr/>
        </p:nvCxnSpPr>
        <p:spPr>
          <a:xfrm flipV="1">
            <a:off x="508715" y="2509543"/>
            <a:ext cx="2160240"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14 Conector recto"/>
          <p:cNvCxnSpPr/>
          <p:nvPr/>
        </p:nvCxnSpPr>
        <p:spPr>
          <a:xfrm flipV="1">
            <a:off x="509962" y="2852728"/>
            <a:ext cx="2160240"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15 Conector recto"/>
          <p:cNvCxnSpPr/>
          <p:nvPr/>
        </p:nvCxnSpPr>
        <p:spPr>
          <a:xfrm flipV="1">
            <a:off x="6483677" y="2497559"/>
            <a:ext cx="220344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17 Conector recto"/>
          <p:cNvCxnSpPr/>
          <p:nvPr/>
        </p:nvCxnSpPr>
        <p:spPr>
          <a:xfrm flipV="1">
            <a:off x="6483677" y="2857732"/>
            <a:ext cx="220344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9839941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CLASE ASOCIACION</a:t>
            </a:r>
          </a:p>
        </p:txBody>
      </p:sp>
      <p:sp>
        <p:nvSpPr>
          <p:cNvPr id="3" name="2 Marcador de contenido"/>
          <p:cNvSpPr>
            <a:spLocks noGrp="1"/>
          </p:cNvSpPr>
          <p:nvPr>
            <p:ph idx="1"/>
          </p:nvPr>
        </p:nvSpPr>
        <p:spPr/>
        <p:txBody>
          <a:bodyPr/>
          <a:lstStyle/>
          <a:p>
            <a:r>
              <a:rPr lang="es-MX" dirty="0"/>
              <a:t>Cuando una clase se conecta a una asociación se denomina clase asociación.</a:t>
            </a:r>
          </a:p>
          <a:p>
            <a:r>
              <a:rPr lang="es-MX" dirty="0"/>
              <a:t>La clase asociación no se conecta a ninguno de los extremos de la asociación, sino que se conecta a la asociación real, a través de una línea punteada.</a:t>
            </a:r>
          </a:p>
          <a:p>
            <a:r>
              <a:rPr lang="es-MX" dirty="0"/>
              <a:t>Se utiliza para añadir información extra en un enlace.</a:t>
            </a:r>
          </a:p>
        </p:txBody>
      </p:sp>
    </p:spTree>
    <p:extLst>
      <p:ext uri="{BB962C8B-B14F-4D97-AF65-F5344CB8AC3E}">
        <p14:creationId xmlns:p14="http://schemas.microsoft.com/office/powerpoint/2010/main" val="19839537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457200" y="1600200"/>
            <a:ext cx="8229600" cy="4781128"/>
          </a:xfrm>
        </p:spPr>
        <p:txBody>
          <a:bodyPr/>
          <a:lstStyle/>
          <a:p>
            <a:r>
              <a:rPr lang="es-MX" dirty="0"/>
              <a:t>Clase asociación Empleado:</a:t>
            </a:r>
          </a:p>
          <a:p>
            <a:pPr marL="0" indent="0">
              <a:buNone/>
            </a:pPr>
            <a:endParaRPr lang="es-MX" dirty="0"/>
          </a:p>
          <a:p>
            <a:endParaRPr lang="es-MX" dirty="0"/>
          </a:p>
          <a:p>
            <a:endParaRPr lang="es-MX" dirty="0"/>
          </a:p>
          <a:p>
            <a:endParaRPr lang="es-MX" dirty="0"/>
          </a:p>
        </p:txBody>
      </p:sp>
      <p:grpSp>
        <p:nvGrpSpPr>
          <p:cNvPr id="10" name="9 Grupo"/>
          <p:cNvGrpSpPr/>
          <p:nvPr/>
        </p:nvGrpSpPr>
        <p:grpSpPr>
          <a:xfrm>
            <a:off x="539552" y="3243964"/>
            <a:ext cx="8178406" cy="1337164"/>
            <a:chOff x="539552" y="3231595"/>
            <a:chExt cx="8178406" cy="1337164"/>
          </a:xfrm>
        </p:grpSpPr>
        <p:sp>
          <p:nvSpPr>
            <p:cNvPr id="4" name="3 Rectángulo"/>
            <p:cNvSpPr/>
            <p:nvPr/>
          </p:nvSpPr>
          <p:spPr>
            <a:xfrm>
              <a:off x="539552" y="3272615"/>
              <a:ext cx="216024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5" name="4 Rectángulo"/>
            <p:cNvSpPr/>
            <p:nvPr/>
          </p:nvSpPr>
          <p:spPr>
            <a:xfrm>
              <a:off x="6496044" y="3266572"/>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cxnSp>
          <p:nvCxnSpPr>
            <p:cNvPr id="7" name="6 Conector recto"/>
            <p:cNvCxnSpPr>
              <a:stCxn id="4" idx="3"/>
              <a:endCxn id="5" idx="1"/>
            </p:cNvCxnSpPr>
            <p:nvPr/>
          </p:nvCxnSpPr>
          <p:spPr>
            <a:xfrm flipV="1">
              <a:off x="2699792" y="3914644"/>
              <a:ext cx="3796252" cy="60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873922" y="3231595"/>
              <a:ext cx="1517595" cy="584775"/>
            </a:xfrm>
            <a:prstGeom prst="rect">
              <a:avLst/>
            </a:prstGeom>
            <a:noFill/>
          </p:spPr>
          <p:txBody>
            <a:bodyPr wrap="none" rtlCol="0">
              <a:spAutoFit/>
            </a:bodyPr>
            <a:lstStyle/>
            <a:p>
              <a:r>
                <a:rPr lang="es-MX" sz="3200" dirty="0">
                  <a:solidFill>
                    <a:prstClr val="black"/>
                  </a:solidFill>
                </a:rPr>
                <a:t>Persona</a:t>
              </a:r>
            </a:p>
          </p:txBody>
        </p:sp>
        <p:sp>
          <p:nvSpPr>
            <p:cNvPr id="9" name="8 CuadroTexto"/>
            <p:cNvSpPr txBox="1"/>
            <p:nvPr/>
          </p:nvSpPr>
          <p:spPr>
            <a:xfrm>
              <a:off x="6848218" y="3231595"/>
              <a:ext cx="1322157" cy="584775"/>
            </a:xfrm>
            <a:prstGeom prst="rect">
              <a:avLst/>
            </a:prstGeom>
            <a:noFill/>
          </p:spPr>
          <p:txBody>
            <a:bodyPr wrap="none" rtlCol="0">
              <a:spAutoFit/>
            </a:bodyPr>
            <a:lstStyle/>
            <a:p>
              <a:r>
                <a:rPr lang="es-MX" sz="3200" dirty="0">
                  <a:solidFill>
                    <a:prstClr val="black"/>
                  </a:solidFill>
                </a:rPr>
                <a:t>Puesto</a:t>
              </a:r>
            </a:p>
          </p:txBody>
        </p:sp>
      </p:grpSp>
      <p:sp>
        <p:nvSpPr>
          <p:cNvPr id="16" name="15 Rectángulo"/>
          <p:cNvSpPr/>
          <p:nvPr/>
        </p:nvSpPr>
        <p:spPr>
          <a:xfrm>
            <a:off x="3635896" y="4941168"/>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cxnSp>
        <p:nvCxnSpPr>
          <p:cNvPr id="11" name="10 Conector recto"/>
          <p:cNvCxnSpPr>
            <a:stCxn id="16" idx="0"/>
          </p:cNvCxnSpPr>
          <p:nvPr/>
        </p:nvCxnSpPr>
        <p:spPr>
          <a:xfrm flipV="1">
            <a:off x="4746853" y="3920687"/>
            <a:ext cx="0" cy="1020481"/>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3660015" y="4906615"/>
            <a:ext cx="2304256" cy="1077218"/>
          </a:xfrm>
          <a:prstGeom prst="rect">
            <a:avLst/>
          </a:prstGeom>
          <a:noFill/>
        </p:spPr>
        <p:txBody>
          <a:bodyPr wrap="square" rtlCol="0">
            <a:spAutoFit/>
          </a:bodyPr>
          <a:lstStyle/>
          <a:p>
            <a:r>
              <a:rPr lang="es-MX" sz="3200" dirty="0">
                <a:solidFill>
                  <a:prstClr val="black"/>
                </a:solidFill>
              </a:rPr>
              <a:t>  Empleado</a:t>
            </a:r>
          </a:p>
          <a:p>
            <a:r>
              <a:rPr lang="es-MX" sz="3200" dirty="0">
                <a:solidFill>
                  <a:prstClr val="black"/>
                </a:solidFill>
              </a:rPr>
              <a:t>-</a:t>
            </a:r>
            <a:r>
              <a:rPr lang="es-MX" sz="3200" dirty="0" err="1">
                <a:solidFill>
                  <a:prstClr val="black"/>
                </a:solidFill>
              </a:rPr>
              <a:t>Salario:float</a:t>
            </a:r>
            <a:endParaRPr lang="es-MX" sz="3200" dirty="0">
              <a:solidFill>
                <a:prstClr val="black"/>
              </a:solidFill>
            </a:endParaRPr>
          </a:p>
        </p:txBody>
      </p:sp>
      <p:cxnSp>
        <p:nvCxnSpPr>
          <p:cNvPr id="14" name="13 Conector recto"/>
          <p:cNvCxnSpPr/>
          <p:nvPr/>
        </p:nvCxnSpPr>
        <p:spPr>
          <a:xfrm flipV="1">
            <a:off x="3654366" y="5445224"/>
            <a:ext cx="220344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14 Conector recto"/>
          <p:cNvCxnSpPr/>
          <p:nvPr/>
        </p:nvCxnSpPr>
        <p:spPr>
          <a:xfrm flipV="1">
            <a:off x="3645131" y="5877272"/>
            <a:ext cx="220344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17 Conector recto"/>
          <p:cNvCxnSpPr/>
          <p:nvPr/>
        </p:nvCxnSpPr>
        <p:spPr>
          <a:xfrm flipV="1">
            <a:off x="6514514" y="4209287"/>
            <a:ext cx="220344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18 Conector recto"/>
          <p:cNvCxnSpPr/>
          <p:nvPr/>
        </p:nvCxnSpPr>
        <p:spPr>
          <a:xfrm flipV="1">
            <a:off x="6514514" y="3818625"/>
            <a:ext cx="220344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0" name="19 Conector recto"/>
          <p:cNvCxnSpPr/>
          <p:nvPr/>
        </p:nvCxnSpPr>
        <p:spPr>
          <a:xfrm flipV="1">
            <a:off x="539552" y="3717032"/>
            <a:ext cx="2160240"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1" name="20 Conector recto"/>
          <p:cNvCxnSpPr/>
          <p:nvPr/>
        </p:nvCxnSpPr>
        <p:spPr>
          <a:xfrm flipV="1">
            <a:off x="539552" y="4199279"/>
            <a:ext cx="2160240"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0883537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AGREGACION</a:t>
            </a:r>
          </a:p>
        </p:txBody>
      </p:sp>
      <p:sp>
        <p:nvSpPr>
          <p:cNvPr id="3" name="2 Marcador de contenido"/>
          <p:cNvSpPr>
            <a:spLocks noGrp="1"/>
          </p:cNvSpPr>
          <p:nvPr>
            <p:ph idx="1"/>
          </p:nvPr>
        </p:nvSpPr>
        <p:spPr/>
        <p:txBody>
          <a:bodyPr/>
          <a:lstStyle/>
          <a:p>
            <a:r>
              <a:rPr lang="es-ES" dirty="0"/>
              <a:t>La agregación es un tipo de asociación que indica que una clase es parte de otra clase.</a:t>
            </a:r>
          </a:p>
          <a:p>
            <a:r>
              <a:rPr lang="es-ES" dirty="0"/>
              <a:t> </a:t>
            </a:r>
            <a:r>
              <a:rPr lang="es-MX" dirty="0"/>
              <a:t>Una de las clases juega un papel importante dentro de la relación con las otras clases.</a:t>
            </a:r>
          </a:p>
          <a:p>
            <a:r>
              <a:rPr lang="es-MX" dirty="0"/>
              <a:t>Permite la representación de relaciones como «maestro y esclavo», «todo y parte de» o «compuesto y componentes»</a:t>
            </a:r>
          </a:p>
        </p:txBody>
      </p:sp>
    </p:spTree>
    <p:extLst>
      <p:ext uri="{BB962C8B-B14F-4D97-AF65-F5344CB8AC3E}">
        <p14:creationId xmlns:p14="http://schemas.microsoft.com/office/powerpoint/2010/main" val="37622006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AGREGACION</a:t>
            </a:r>
            <a:endParaRPr lang="es-SV" dirty="0"/>
          </a:p>
        </p:txBody>
      </p:sp>
      <p:sp>
        <p:nvSpPr>
          <p:cNvPr id="3" name="2 Marcador de contenido"/>
          <p:cNvSpPr>
            <a:spLocks noGrp="1"/>
          </p:cNvSpPr>
          <p:nvPr>
            <p:ph idx="1"/>
          </p:nvPr>
        </p:nvSpPr>
        <p:spPr>
          <a:xfrm>
            <a:off x="457200" y="1600200"/>
            <a:ext cx="8229600" cy="4853136"/>
          </a:xfrm>
        </p:spPr>
        <p:txBody>
          <a:bodyPr/>
          <a:lstStyle/>
          <a:p>
            <a:pPr marL="0" lvl="0" indent="0">
              <a:buNone/>
            </a:pPr>
            <a:r>
              <a:rPr lang="es-SV" dirty="0">
                <a:solidFill>
                  <a:prstClr val="black"/>
                </a:solidFill>
                <a:ea typeface="Calibri"/>
                <a:cs typeface="Times New Roman"/>
              </a:rPr>
              <a:t>Esta relación también es conocida como </a:t>
            </a:r>
            <a:r>
              <a:rPr lang="es-SV" i="1" dirty="0">
                <a:solidFill>
                  <a:prstClr val="black"/>
                </a:solidFill>
                <a:ea typeface="Calibri"/>
                <a:cs typeface="Times New Roman"/>
              </a:rPr>
              <a:t>“forma parte de …”</a:t>
            </a:r>
            <a:r>
              <a:rPr lang="es-SV" dirty="0">
                <a:solidFill>
                  <a:prstClr val="black"/>
                </a:solidFill>
                <a:ea typeface="Calibri"/>
                <a:cs typeface="Times New Roman"/>
              </a:rPr>
              <a:t> </a:t>
            </a:r>
            <a:endParaRPr lang="es-SV" dirty="0">
              <a:solidFill>
                <a:prstClr val="black"/>
              </a:solidFill>
            </a:endParaRPr>
          </a:p>
          <a:p>
            <a:pPr marL="0" indent="0">
              <a:buNone/>
            </a:pPr>
            <a:endParaRPr lang="es-SV" dirty="0">
              <a:ea typeface="Calibri"/>
              <a:cs typeface="Times New Roman"/>
            </a:endParaRPr>
          </a:p>
          <a:p>
            <a:pPr marL="0" indent="0">
              <a:buNone/>
            </a:pPr>
            <a:r>
              <a:rPr lang="es-SV" dirty="0">
                <a:ea typeface="Calibri"/>
                <a:cs typeface="Times New Roman"/>
              </a:rPr>
              <a:t>por ejemplo si se tiene la clase: computadora, esta tiene un monitor, que es otra clase; el monitor forma parte de la computadora; por lo tanto tienen una relación de agregación. </a:t>
            </a:r>
            <a:endParaRPr lang="es-SV" dirty="0"/>
          </a:p>
        </p:txBody>
      </p:sp>
    </p:spTree>
    <p:extLst>
      <p:ext uri="{BB962C8B-B14F-4D97-AF65-F5344CB8AC3E}">
        <p14:creationId xmlns:p14="http://schemas.microsoft.com/office/powerpoint/2010/main" val="21375938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r>
              <a:rPr lang="es-MX" dirty="0"/>
              <a:t>Se representa con un rombo a continuación de la clase que representa el </a:t>
            </a:r>
            <a:r>
              <a:rPr lang="es-MX" b="1" dirty="0"/>
              <a:t>todo</a:t>
            </a:r>
            <a:r>
              <a:rPr lang="es-MX" dirty="0"/>
              <a:t> «propietaria» y una línea recta que apunta a la clase que representa la </a:t>
            </a:r>
            <a:r>
              <a:rPr lang="es-MX" b="1" dirty="0"/>
              <a:t>parte</a:t>
            </a:r>
            <a:r>
              <a:rPr lang="es-MX" dirty="0"/>
              <a:t> «poseída».</a:t>
            </a:r>
          </a:p>
          <a:p>
            <a:r>
              <a:rPr lang="es-MX" dirty="0"/>
              <a:t>Esta relación se conoce como «tiene un» ya que el todo tiene sus partes; una clase es parte de otra clase.</a:t>
            </a:r>
          </a:p>
        </p:txBody>
      </p:sp>
    </p:spTree>
    <p:extLst>
      <p:ext uri="{BB962C8B-B14F-4D97-AF65-F5344CB8AC3E}">
        <p14:creationId xmlns:p14="http://schemas.microsoft.com/office/powerpoint/2010/main" val="43920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dirty="0"/>
          </a:p>
        </p:txBody>
      </p:sp>
      <p:pic>
        <p:nvPicPr>
          <p:cNvPr id="1026" name="Picture 2" descr="https://www.seas.es/blog/wp-content/uploads/ScreenShot08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1700807"/>
            <a:ext cx="2376264" cy="4015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7671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EJEMPLO</a:t>
            </a:r>
          </a:p>
        </p:txBody>
      </p:sp>
      <p:sp>
        <p:nvSpPr>
          <p:cNvPr id="3" name="2 Marcador de contenido"/>
          <p:cNvSpPr>
            <a:spLocks noGrp="1"/>
          </p:cNvSpPr>
          <p:nvPr>
            <p:ph idx="1"/>
          </p:nvPr>
        </p:nvSpPr>
        <p:spPr>
          <a:xfrm>
            <a:off x="457200" y="1600200"/>
            <a:ext cx="8229600" cy="4781128"/>
          </a:xfrm>
        </p:spPr>
        <p:txBody>
          <a:bodyPr/>
          <a:lstStyle/>
          <a:p>
            <a:pPr marL="0" indent="0">
              <a:buNone/>
            </a:pPr>
            <a:endParaRPr lang="es-MX" dirty="0"/>
          </a:p>
          <a:p>
            <a:endParaRPr lang="es-MX" dirty="0"/>
          </a:p>
          <a:p>
            <a:endParaRPr lang="es-MX" dirty="0"/>
          </a:p>
        </p:txBody>
      </p:sp>
      <p:grpSp>
        <p:nvGrpSpPr>
          <p:cNvPr id="7" name="6 Grupo"/>
          <p:cNvGrpSpPr/>
          <p:nvPr/>
        </p:nvGrpSpPr>
        <p:grpSpPr>
          <a:xfrm>
            <a:off x="539552" y="1412776"/>
            <a:ext cx="8046033" cy="3888432"/>
            <a:chOff x="539552" y="1484784"/>
            <a:chExt cx="8046033" cy="3888432"/>
          </a:xfrm>
        </p:grpSpPr>
        <p:sp>
          <p:nvSpPr>
            <p:cNvPr id="4" name="3 Rectángulo"/>
            <p:cNvSpPr/>
            <p:nvPr/>
          </p:nvSpPr>
          <p:spPr>
            <a:xfrm>
              <a:off x="2949025" y="1556792"/>
              <a:ext cx="288032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5" name="4 Rectángulo"/>
            <p:cNvSpPr/>
            <p:nvPr/>
          </p:nvSpPr>
          <p:spPr>
            <a:xfrm>
              <a:off x="3405463" y="4077072"/>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8" name="7 CuadroTexto"/>
            <p:cNvSpPr txBox="1"/>
            <p:nvPr/>
          </p:nvSpPr>
          <p:spPr>
            <a:xfrm>
              <a:off x="3173053" y="1484784"/>
              <a:ext cx="2476384" cy="584775"/>
            </a:xfrm>
            <a:prstGeom prst="rect">
              <a:avLst/>
            </a:prstGeom>
            <a:noFill/>
          </p:spPr>
          <p:txBody>
            <a:bodyPr wrap="none" rtlCol="0">
              <a:spAutoFit/>
            </a:bodyPr>
            <a:lstStyle/>
            <a:p>
              <a:r>
                <a:rPr lang="es-MX" sz="3200" dirty="0">
                  <a:solidFill>
                    <a:prstClr val="black"/>
                  </a:solidFill>
                </a:rPr>
                <a:t>Computadora</a:t>
              </a:r>
            </a:p>
          </p:txBody>
        </p:sp>
        <p:sp>
          <p:nvSpPr>
            <p:cNvPr id="16" name="15 Rectángulo"/>
            <p:cNvSpPr/>
            <p:nvPr/>
          </p:nvSpPr>
          <p:spPr>
            <a:xfrm>
              <a:off x="539552" y="4077072"/>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5" name="14 Rectángulo"/>
            <p:cNvSpPr/>
            <p:nvPr/>
          </p:nvSpPr>
          <p:spPr>
            <a:xfrm>
              <a:off x="6363671" y="4067788"/>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8" name="17 CuadroTexto"/>
            <p:cNvSpPr txBox="1"/>
            <p:nvPr/>
          </p:nvSpPr>
          <p:spPr>
            <a:xfrm>
              <a:off x="3550931" y="4092349"/>
              <a:ext cx="1930978" cy="584775"/>
            </a:xfrm>
            <a:prstGeom prst="rect">
              <a:avLst/>
            </a:prstGeom>
            <a:noFill/>
          </p:spPr>
          <p:txBody>
            <a:bodyPr wrap="none" rtlCol="0">
              <a:spAutoFit/>
            </a:bodyPr>
            <a:lstStyle/>
            <a:p>
              <a:r>
                <a:rPr lang="es-MX" sz="3200" dirty="0">
                  <a:solidFill>
                    <a:prstClr val="black"/>
                  </a:solidFill>
                </a:rPr>
                <a:t>Periféricos</a:t>
              </a:r>
            </a:p>
          </p:txBody>
        </p:sp>
        <p:sp>
          <p:nvSpPr>
            <p:cNvPr id="19" name="18 CuadroTexto"/>
            <p:cNvSpPr txBox="1"/>
            <p:nvPr/>
          </p:nvSpPr>
          <p:spPr>
            <a:xfrm>
              <a:off x="1211125" y="4131084"/>
              <a:ext cx="878767" cy="584775"/>
            </a:xfrm>
            <a:prstGeom prst="rect">
              <a:avLst/>
            </a:prstGeom>
            <a:noFill/>
          </p:spPr>
          <p:txBody>
            <a:bodyPr wrap="none" rtlCol="0">
              <a:spAutoFit/>
            </a:bodyPr>
            <a:lstStyle/>
            <a:p>
              <a:r>
                <a:rPr lang="es-MX" sz="3200" dirty="0">
                  <a:solidFill>
                    <a:prstClr val="black"/>
                  </a:solidFill>
                </a:rPr>
                <a:t>CPU</a:t>
              </a:r>
            </a:p>
          </p:txBody>
        </p:sp>
        <p:sp>
          <p:nvSpPr>
            <p:cNvPr id="20" name="19 CuadroTexto"/>
            <p:cNvSpPr txBox="1"/>
            <p:nvPr/>
          </p:nvSpPr>
          <p:spPr>
            <a:xfrm>
              <a:off x="6615258" y="4067788"/>
              <a:ext cx="1718740" cy="584775"/>
            </a:xfrm>
            <a:prstGeom prst="rect">
              <a:avLst/>
            </a:prstGeom>
            <a:noFill/>
          </p:spPr>
          <p:txBody>
            <a:bodyPr wrap="none" rtlCol="0">
              <a:spAutoFit/>
            </a:bodyPr>
            <a:lstStyle/>
            <a:p>
              <a:r>
                <a:rPr lang="es-MX" sz="3200" dirty="0">
                  <a:solidFill>
                    <a:prstClr val="black"/>
                  </a:solidFill>
                </a:rPr>
                <a:t>Memoria</a:t>
              </a:r>
            </a:p>
          </p:txBody>
        </p:sp>
        <p:sp>
          <p:nvSpPr>
            <p:cNvPr id="12" name="11 Rombo"/>
            <p:cNvSpPr/>
            <p:nvPr/>
          </p:nvSpPr>
          <p:spPr>
            <a:xfrm>
              <a:off x="4173161" y="2885030"/>
              <a:ext cx="432048" cy="432048"/>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1" name="20 Conector recto"/>
            <p:cNvCxnSpPr>
              <a:stCxn id="12" idx="2"/>
            </p:cNvCxnSpPr>
            <p:nvPr/>
          </p:nvCxnSpPr>
          <p:spPr>
            <a:xfrm>
              <a:off x="4389185" y="3317078"/>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a:off x="1428813" y="3697075"/>
              <a:ext cx="60458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27 Conector recto"/>
            <p:cNvCxnSpPr/>
            <p:nvPr/>
          </p:nvCxnSpPr>
          <p:spPr>
            <a:xfrm>
              <a:off x="1428813" y="3697075"/>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28 Conector recto"/>
            <p:cNvCxnSpPr/>
            <p:nvPr/>
          </p:nvCxnSpPr>
          <p:spPr>
            <a:xfrm>
              <a:off x="4389185" y="3716091"/>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29 Conector recto"/>
            <p:cNvCxnSpPr/>
            <p:nvPr/>
          </p:nvCxnSpPr>
          <p:spPr>
            <a:xfrm>
              <a:off x="7474628" y="3697075"/>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 name="21 Conector recto"/>
          <p:cNvCxnSpPr/>
          <p:nvPr/>
        </p:nvCxnSpPr>
        <p:spPr>
          <a:xfrm flipV="1">
            <a:off x="539551" y="4591644"/>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22 Conector recto"/>
          <p:cNvCxnSpPr/>
          <p:nvPr/>
        </p:nvCxnSpPr>
        <p:spPr>
          <a:xfrm flipV="1">
            <a:off x="539552" y="4941168"/>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24 Conector recto"/>
          <p:cNvCxnSpPr/>
          <p:nvPr/>
        </p:nvCxnSpPr>
        <p:spPr>
          <a:xfrm flipV="1">
            <a:off x="3405463" y="4553228"/>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25 Conector recto"/>
          <p:cNvCxnSpPr/>
          <p:nvPr/>
        </p:nvCxnSpPr>
        <p:spPr>
          <a:xfrm flipV="1">
            <a:off x="3405463" y="4927696"/>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26 Conector recto"/>
          <p:cNvCxnSpPr/>
          <p:nvPr/>
        </p:nvCxnSpPr>
        <p:spPr>
          <a:xfrm flipV="1">
            <a:off x="6345834" y="4600112"/>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30 Conector recto"/>
          <p:cNvCxnSpPr/>
          <p:nvPr/>
        </p:nvCxnSpPr>
        <p:spPr>
          <a:xfrm flipV="1">
            <a:off x="6363671" y="4932700"/>
            <a:ext cx="2221914" cy="10008"/>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2" name="31 Conector recto"/>
          <p:cNvCxnSpPr/>
          <p:nvPr/>
        </p:nvCxnSpPr>
        <p:spPr>
          <a:xfrm flipV="1">
            <a:off x="2949025" y="1997551"/>
            <a:ext cx="2880320" cy="1039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32 Conector recto"/>
          <p:cNvCxnSpPr/>
          <p:nvPr/>
        </p:nvCxnSpPr>
        <p:spPr>
          <a:xfrm flipV="1">
            <a:off x="2970907" y="2420888"/>
            <a:ext cx="2880320" cy="1039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9128729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6" name="5 Rectángulo"/>
          <p:cNvSpPr/>
          <p:nvPr/>
        </p:nvSpPr>
        <p:spPr>
          <a:xfrm>
            <a:off x="2949025" y="1556792"/>
            <a:ext cx="288032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7" name="6 CuadroTexto"/>
          <p:cNvSpPr txBox="1"/>
          <p:nvPr/>
        </p:nvSpPr>
        <p:spPr>
          <a:xfrm>
            <a:off x="3498285" y="1423166"/>
            <a:ext cx="1906869" cy="584775"/>
          </a:xfrm>
          <a:prstGeom prst="rect">
            <a:avLst/>
          </a:prstGeom>
          <a:noFill/>
        </p:spPr>
        <p:txBody>
          <a:bodyPr wrap="none" rtlCol="0">
            <a:spAutoFit/>
          </a:bodyPr>
          <a:lstStyle/>
          <a:p>
            <a:r>
              <a:rPr lang="es-MX" sz="3200" dirty="0">
                <a:solidFill>
                  <a:prstClr val="black"/>
                </a:solidFill>
              </a:rPr>
              <a:t>Automóvil</a:t>
            </a:r>
          </a:p>
        </p:txBody>
      </p:sp>
      <p:sp>
        <p:nvSpPr>
          <p:cNvPr id="8" name="7 Rectángulo"/>
          <p:cNvSpPr/>
          <p:nvPr/>
        </p:nvSpPr>
        <p:spPr>
          <a:xfrm>
            <a:off x="539552" y="4077072"/>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9" name="8 Rectángulo"/>
          <p:cNvSpPr/>
          <p:nvPr/>
        </p:nvSpPr>
        <p:spPr>
          <a:xfrm>
            <a:off x="6363671" y="4067788"/>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0" name="9 CuadroTexto"/>
          <p:cNvSpPr txBox="1"/>
          <p:nvPr/>
        </p:nvSpPr>
        <p:spPr>
          <a:xfrm>
            <a:off x="989429" y="4004407"/>
            <a:ext cx="1245021" cy="584775"/>
          </a:xfrm>
          <a:prstGeom prst="rect">
            <a:avLst/>
          </a:prstGeom>
          <a:noFill/>
        </p:spPr>
        <p:txBody>
          <a:bodyPr wrap="none" rtlCol="0">
            <a:spAutoFit/>
          </a:bodyPr>
          <a:lstStyle/>
          <a:p>
            <a:r>
              <a:rPr lang="es-MX" sz="3200" dirty="0">
                <a:solidFill>
                  <a:prstClr val="black"/>
                </a:solidFill>
              </a:rPr>
              <a:t>Motor</a:t>
            </a:r>
          </a:p>
        </p:txBody>
      </p:sp>
      <p:sp>
        <p:nvSpPr>
          <p:cNvPr id="11" name="10 CuadroTexto"/>
          <p:cNvSpPr txBox="1"/>
          <p:nvPr/>
        </p:nvSpPr>
        <p:spPr>
          <a:xfrm>
            <a:off x="6798385" y="3994424"/>
            <a:ext cx="1352486" cy="584775"/>
          </a:xfrm>
          <a:prstGeom prst="rect">
            <a:avLst/>
          </a:prstGeom>
          <a:noFill/>
        </p:spPr>
        <p:txBody>
          <a:bodyPr wrap="none" rtlCol="0">
            <a:spAutoFit/>
          </a:bodyPr>
          <a:lstStyle/>
          <a:p>
            <a:r>
              <a:rPr lang="es-MX" sz="3200" dirty="0">
                <a:solidFill>
                  <a:prstClr val="black"/>
                </a:solidFill>
              </a:rPr>
              <a:t>Llantas</a:t>
            </a:r>
          </a:p>
        </p:txBody>
      </p:sp>
      <p:sp>
        <p:nvSpPr>
          <p:cNvPr id="12" name="11 Rombo"/>
          <p:cNvSpPr/>
          <p:nvPr/>
        </p:nvSpPr>
        <p:spPr>
          <a:xfrm>
            <a:off x="4173161" y="2885030"/>
            <a:ext cx="432048" cy="432048"/>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cxnSp>
        <p:nvCxnSpPr>
          <p:cNvPr id="13" name="12 Conector recto"/>
          <p:cNvCxnSpPr>
            <a:stCxn id="12" idx="2"/>
          </p:cNvCxnSpPr>
          <p:nvPr/>
        </p:nvCxnSpPr>
        <p:spPr>
          <a:xfrm>
            <a:off x="4389185" y="3317078"/>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a:off x="1428813" y="3697075"/>
            <a:ext cx="60458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a:off x="1428813" y="3697075"/>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7474628" y="3697075"/>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3851920" y="3238508"/>
            <a:ext cx="432047" cy="523220"/>
          </a:xfrm>
          <a:prstGeom prst="rect">
            <a:avLst/>
          </a:prstGeom>
          <a:noFill/>
        </p:spPr>
        <p:txBody>
          <a:bodyPr wrap="square" rtlCol="0">
            <a:spAutoFit/>
          </a:bodyPr>
          <a:lstStyle/>
          <a:p>
            <a:r>
              <a:rPr lang="es-MX" sz="2800" dirty="0"/>
              <a:t>1</a:t>
            </a:r>
          </a:p>
        </p:txBody>
      </p:sp>
      <p:sp>
        <p:nvSpPr>
          <p:cNvPr id="18" name="17 CuadroTexto"/>
          <p:cNvSpPr txBox="1"/>
          <p:nvPr/>
        </p:nvSpPr>
        <p:spPr>
          <a:xfrm>
            <a:off x="989430" y="3500118"/>
            <a:ext cx="432047" cy="523220"/>
          </a:xfrm>
          <a:prstGeom prst="rect">
            <a:avLst/>
          </a:prstGeom>
          <a:noFill/>
        </p:spPr>
        <p:txBody>
          <a:bodyPr wrap="square" rtlCol="0">
            <a:spAutoFit/>
          </a:bodyPr>
          <a:lstStyle/>
          <a:p>
            <a:r>
              <a:rPr lang="es-MX" sz="2800" dirty="0"/>
              <a:t>1</a:t>
            </a:r>
          </a:p>
        </p:txBody>
      </p:sp>
      <p:sp>
        <p:nvSpPr>
          <p:cNvPr id="19" name="18 CuadroTexto"/>
          <p:cNvSpPr txBox="1"/>
          <p:nvPr/>
        </p:nvSpPr>
        <p:spPr>
          <a:xfrm>
            <a:off x="7596336" y="3544568"/>
            <a:ext cx="432047" cy="523220"/>
          </a:xfrm>
          <a:prstGeom prst="rect">
            <a:avLst/>
          </a:prstGeom>
          <a:noFill/>
        </p:spPr>
        <p:txBody>
          <a:bodyPr wrap="square" rtlCol="0">
            <a:spAutoFit/>
          </a:bodyPr>
          <a:lstStyle/>
          <a:p>
            <a:r>
              <a:rPr lang="es-MX" sz="2800" dirty="0"/>
              <a:t>4</a:t>
            </a:r>
          </a:p>
        </p:txBody>
      </p:sp>
      <p:sp>
        <p:nvSpPr>
          <p:cNvPr id="21" name="20 Rectángulo"/>
          <p:cNvSpPr/>
          <p:nvPr/>
        </p:nvSpPr>
        <p:spPr>
          <a:xfrm>
            <a:off x="3101425" y="4067787"/>
            <a:ext cx="288032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22" name="21 CuadroTexto"/>
          <p:cNvSpPr txBox="1"/>
          <p:nvPr/>
        </p:nvSpPr>
        <p:spPr>
          <a:xfrm>
            <a:off x="3081553" y="4020168"/>
            <a:ext cx="2885534" cy="584775"/>
          </a:xfrm>
          <a:prstGeom prst="rect">
            <a:avLst/>
          </a:prstGeom>
          <a:noFill/>
        </p:spPr>
        <p:txBody>
          <a:bodyPr wrap="none" rtlCol="0">
            <a:spAutoFit/>
          </a:bodyPr>
          <a:lstStyle/>
          <a:p>
            <a:r>
              <a:rPr lang="es-MX" sz="3200" dirty="0">
                <a:solidFill>
                  <a:prstClr val="black"/>
                </a:solidFill>
              </a:rPr>
              <a:t>Caja de cambios</a:t>
            </a:r>
          </a:p>
        </p:txBody>
      </p:sp>
      <p:cxnSp>
        <p:nvCxnSpPr>
          <p:cNvPr id="23" name="22 Conector recto"/>
          <p:cNvCxnSpPr/>
          <p:nvPr/>
        </p:nvCxnSpPr>
        <p:spPr>
          <a:xfrm>
            <a:off x="4389185" y="3687385"/>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flipV="1">
            <a:off x="2949025" y="1997551"/>
            <a:ext cx="2880320" cy="1039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24 Conector recto"/>
          <p:cNvCxnSpPr/>
          <p:nvPr/>
        </p:nvCxnSpPr>
        <p:spPr>
          <a:xfrm flipV="1">
            <a:off x="2949025" y="2420888"/>
            <a:ext cx="2880320" cy="1039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25 Conector recto"/>
          <p:cNvCxnSpPr/>
          <p:nvPr/>
        </p:nvCxnSpPr>
        <p:spPr>
          <a:xfrm flipV="1">
            <a:off x="3096211" y="5018314"/>
            <a:ext cx="2880320" cy="1039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26 Conector recto"/>
          <p:cNvCxnSpPr/>
          <p:nvPr/>
        </p:nvCxnSpPr>
        <p:spPr>
          <a:xfrm flipV="1">
            <a:off x="3101425" y="4649003"/>
            <a:ext cx="2880320" cy="1039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8" name="27 Conector recto"/>
          <p:cNvCxnSpPr/>
          <p:nvPr/>
        </p:nvCxnSpPr>
        <p:spPr>
          <a:xfrm flipV="1">
            <a:off x="539552" y="5002084"/>
            <a:ext cx="2221914" cy="5195"/>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28 Conector recto"/>
          <p:cNvCxnSpPr/>
          <p:nvPr/>
        </p:nvCxnSpPr>
        <p:spPr>
          <a:xfrm flipV="1">
            <a:off x="539552" y="4699819"/>
            <a:ext cx="2221914" cy="5195"/>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29 Conector recto"/>
          <p:cNvCxnSpPr/>
          <p:nvPr/>
        </p:nvCxnSpPr>
        <p:spPr>
          <a:xfrm flipV="1">
            <a:off x="6350886" y="4574004"/>
            <a:ext cx="2221914" cy="5195"/>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30 Conector recto"/>
          <p:cNvCxnSpPr/>
          <p:nvPr/>
        </p:nvCxnSpPr>
        <p:spPr>
          <a:xfrm flipV="1">
            <a:off x="6378773" y="5015716"/>
            <a:ext cx="2221914" cy="5195"/>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3974888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COMPOSICION</a:t>
            </a:r>
            <a:endParaRPr lang="es-SV" dirty="0"/>
          </a:p>
        </p:txBody>
      </p:sp>
      <p:sp>
        <p:nvSpPr>
          <p:cNvPr id="3" name="2 Marcador de contenido"/>
          <p:cNvSpPr>
            <a:spLocks noGrp="1"/>
          </p:cNvSpPr>
          <p:nvPr>
            <p:ph idx="1"/>
          </p:nvPr>
        </p:nvSpPr>
        <p:spPr/>
        <p:txBody>
          <a:bodyPr>
            <a:normAutofit/>
          </a:bodyPr>
          <a:lstStyle/>
          <a:p>
            <a:r>
              <a:rPr lang="es-SV" dirty="0"/>
              <a:t>Es un tipo especial de agregación que impone algunas restricciones: si el objeto completo se copia o se borra (elimina), sus partes se copian o se suprimen con el.</a:t>
            </a:r>
          </a:p>
          <a:p>
            <a:r>
              <a:rPr lang="es-SV" dirty="0"/>
              <a:t>Una composición es un tipo de relación entre clases que indica que una clase contiene (o está compuesta por) objetos de otras clases.</a:t>
            </a:r>
          </a:p>
        </p:txBody>
      </p:sp>
    </p:spTree>
    <p:extLst>
      <p:ext uri="{BB962C8B-B14F-4D97-AF65-F5344CB8AC3E}">
        <p14:creationId xmlns:p14="http://schemas.microsoft.com/office/powerpoint/2010/main" val="32335151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pPr lvl="0"/>
            <a:r>
              <a:rPr lang="es-SV" sz="3000" dirty="0">
                <a:solidFill>
                  <a:prstClr val="black"/>
                </a:solidFill>
              </a:rPr>
              <a:t>Representa una relación fuerte entre clases. </a:t>
            </a:r>
          </a:p>
          <a:p>
            <a:pPr lvl="0"/>
            <a:r>
              <a:rPr lang="es-SV" sz="3000" dirty="0">
                <a:solidFill>
                  <a:prstClr val="black"/>
                </a:solidFill>
              </a:rPr>
              <a:t>A diferencia de la agregación, la composición indica que la relación entre los objetos es de tipo “parte/todo”. </a:t>
            </a:r>
          </a:p>
          <a:p>
            <a:pPr lvl="0"/>
            <a:r>
              <a:rPr lang="es-SV" sz="3000" dirty="0">
                <a:solidFill>
                  <a:prstClr val="black"/>
                </a:solidFill>
              </a:rPr>
              <a:t>Se representa por un rombo, igual que la agregación, excepto que el rombo está relleno.</a:t>
            </a:r>
          </a:p>
          <a:p>
            <a:endParaRPr lang="es-MX" dirty="0"/>
          </a:p>
        </p:txBody>
      </p:sp>
    </p:spTree>
    <p:extLst>
      <p:ext uri="{BB962C8B-B14F-4D97-AF65-F5344CB8AC3E}">
        <p14:creationId xmlns:p14="http://schemas.microsoft.com/office/powerpoint/2010/main" val="27262776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6" name="5 Rectángulo"/>
          <p:cNvSpPr/>
          <p:nvPr/>
        </p:nvSpPr>
        <p:spPr>
          <a:xfrm>
            <a:off x="1403648" y="1562861"/>
            <a:ext cx="288032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7" name="6 Rectángulo"/>
          <p:cNvSpPr/>
          <p:nvPr/>
        </p:nvSpPr>
        <p:spPr>
          <a:xfrm>
            <a:off x="1732850" y="3908404"/>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8" name="7 CuadroTexto"/>
          <p:cNvSpPr txBox="1"/>
          <p:nvPr/>
        </p:nvSpPr>
        <p:spPr>
          <a:xfrm>
            <a:off x="2344921" y="1871057"/>
            <a:ext cx="997774" cy="584775"/>
          </a:xfrm>
          <a:prstGeom prst="rect">
            <a:avLst/>
          </a:prstGeom>
          <a:noFill/>
        </p:spPr>
        <p:txBody>
          <a:bodyPr wrap="none" rtlCol="0">
            <a:spAutoFit/>
          </a:bodyPr>
          <a:lstStyle/>
          <a:p>
            <a:r>
              <a:rPr lang="es-MX" sz="3200" dirty="0">
                <a:solidFill>
                  <a:prstClr val="black"/>
                </a:solidFill>
              </a:rPr>
              <a:t>Todo</a:t>
            </a:r>
          </a:p>
        </p:txBody>
      </p:sp>
      <p:sp>
        <p:nvSpPr>
          <p:cNvPr id="9" name="8 CuadroTexto"/>
          <p:cNvSpPr txBox="1"/>
          <p:nvPr/>
        </p:nvSpPr>
        <p:spPr>
          <a:xfrm>
            <a:off x="2376767" y="4330208"/>
            <a:ext cx="1064266" cy="584775"/>
          </a:xfrm>
          <a:prstGeom prst="rect">
            <a:avLst/>
          </a:prstGeom>
          <a:noFill/>
        </p:spPr>
        <p:txBody>
          <a:bodyPr wrap="none" rtlCol="0">
            <a:spAutoFit/>
          </a:bodyPr>
          <a:lstStyle/>
          <a:p>
            <a:r>
              <a:rPr lang="es-MX" sz="3200" dirty="0">
                <a:solidFill>
                  <a:prstClr val="black"/>
                </a:solidFill>
              </a:rPr>
              <a:t>Parte</a:t>
            </a:r>
          </a:p>
        </p:txBody>
      </p:sp>
      <p:cxnSp>
        <p:nvCxnSpPr>
          <p:cNvPr id="12" name="11 Conector recto"/>
          <p:cNvCxnSpPr/>
          <p:nvPr/>
        </p:nvCxnSpPr>
        <p:spPr>
          <a:xfrm>
            <a:off x="2843808" y="3212976"/>
            <a:ext cx="0" cy="6879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18236" y="2859005"/>
            <a:ext cx="451143" cy="457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13 CuadroTexto"/>
          <p:cNvSpPr txBox="1"/>
          <p:nvPr/>
        </p:nvSpPr>
        <p:spPr>
          <a:xfrm>
            <a:off x="5292080" y="1871057"/>
            <a:ext cx="2530624" cy="2677656"/>
          </a:xfrm>
          <a:prstGeom prst="rect">
            <a:avLst/>
          </a:prstGeom>
          <a:noFill/>
        </p:spPr>
        <p:txBody>
          <a:bodyPr wrap="square" rtlCol="0">
            <a:spAutoFit/>
          </a:bodyPr>
          <a:lstStyle/>
          <a:p>
            <a:r>
              <a:rPr lang="es-ES" sz="3200" dirty="0"/>
              <a:t>La supresión del todo</a:t>
            </a:r>
          </a:p>
          <a:p>
            <a:r>
              <a:rPr lang="es-ES" sz="4000" b="1" dirty="0"/>
              <a:t>conlleva</a:t>
            </a:r>
            <a:r>
              <a:rPr lang="es-ES" sz="3200" dirty="0"/>
              <a:t> la supresión de la parte.</a:t>
            </a:r>
            <a:endParaRPr lang="es-MX" sz="3200" dirty="0">
              <a:solidFill>
                <a:prstClr val="black"/>
              </a:solidFill>
            </a:endParaRPr>
          </a:p>
        </p:txBody>
      </p:sp>
    </p:spTree>
    <p:extLst>
      <p:ext uri="{BB962C8B-B14F-4D97-AF65-F5344CB8AC3E}">
        <p14:creationId xmlns:p14="http://schemas.microsoft.com/office/powerpoint/2010/main" val="24903106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pic>
        <p:nvPicPr>
          <p:cNvPr id="5" name="Marcador de contenido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1800" y="1700808"/>
            <a:ext cx="2520280" cy="4355221"/>
          </a:xfrm>
        </p:spPr>
      </p:pic>
    </p:spTree>
    <p:extLst>
      <p:ext uri="{BB962C8B-B14F-4D97-AF65-F5344CB8AC3E}">
        <p14:creationId xmlns:p14="http://schemas.microsoft.com/office/powerpoint/2010/main" val="3789644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EJEMPLO</a:t>
            </a:r>
          </a:p>
        </p:txBody>
      </p:sp>
      <p:sp>
        <p:nvSpPr>
          <p:cNvPr id="3" name="2 Marcador de contenido"/>
          <p:cNvSpPr>
            <a:spLocks noGrp="1"/>
          </p:cNvSpPr>
          <p:nvPr>
            <p:ph idx="1"/>
          </p:nvPr>
        </p:nvSpPr>
        <p:spPr>
          <a:xfrm>
            <a:off x="457200" y="1600200"/>
            <a:ext cx="8229600" cy="4781128"/>
          </a:xfrm>
        </p:spPr>
        <p:txBody>
          <a:bodyPr/>
          <a:lstStyle/>
          <a:p>
            <a:pPr marL="0" indent="0">
              <a:buNone/>
            </a:pPr>
            <a:endParaRPr lang="es-MX" dirty="0"/>
          </a:p>
          <a:p>
            <a:endParaRPr lang="es-MX" dirty="0"/>
          </a:p>
          <a:p>
            <a:endParaRPr lang="es-MX" dirty="0"/>
          </a:p>
        </p:txBody>
      </p:sp>
      <p:grpSp>
        <p:nvGrpSpPr>
          <p:cNvPr id="7" name="6 Grupo"/>
          <p:cNvGrpSpPr/>
          <p:nvPr/>
        </p:nvGrpSpPr>
        <p:grpSpPr>
          <a:xfrm>
            <a:off x="539552" y="1556792"/>
            <a:ext cx="8046033" cy="3816424"/>
            <a:chOff x="539552" y="1556792"/>
            <a:chExt cx="8046033" cy="3816424"/>
          </a:xfrm>
        </p:grpSpPr>
        <p:sp>
          <p:nvSpPr>
            <p:cNvPr id="4" name="3 Rectángulo"/>
            <p:cNvSpPr/>
            <p:nvPr/>
          </p:nvSpPr>
          <p:spPr>
            <a:xfrm>
              <a:off x="2949025" y="1556792"/>
              <a:ext cx="2880320"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8" name="7 CuadroTexto"/>
            <p:cNvSpPr txBox="1"/>
            <p:nvPr/>
          </p:nvSpPr>
          <p:spPr>
            <a:xfrm>
              <a:off x="3150993" y="1556792"/>
              <a:ext cx="2640466" cy="584775"/>
            </a:xfrm>
            <a:prstGeom prst="rect">
              <a:avLst/>
            </a:prstGeom>
            <a:noFill/>
          </p:spPr>
          <p:txBody>
            <a:bodyPr wrap="none" rtlCol="0">
              <a:spAutoFit/>
            </a:bodyPr>
            <a:lstStyle/>
            <a:p>
              <a:r>
                <a:rPr lang="es-MX" sz="3200" dirty="0" err="1">
                  <a:solidFill>
                    <a:prstClr val="black"/>
                  </a:solidFill>
                </a:rPr>
                <a:t>MesaComedor</a:t>
              </a:r>
              <a:endParaRPr lang="es-MX" sz="3200" dirty="0">
                <a:solidFill>
                  <a:prstClr val="black"/>
                </a:solidFill>
              </a:endParaRPr>
            </a:p>
          </p:txBody>
        </p:sp>
        <p:sp>
          <p:nvSpPr>
            <p:cNvPr id="16" name="15 Rectángulo"/>
            <p:cNvSpPr/>
            <p:nvPr/>
          </p:nvSpPr>
          <p:spPr>
            <a:xfrm>
              <a:off x="539552" y="4077072"/>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5" name="14 Rectángulo"/>
            <p:cNvSpPr/>
            <p:nvPr/>
          </p:nvSpPr>
          <p:spPr>
            <a:xfrm>
              <a:off x="6363671" y="4067788"/>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9" name="18 CuadroTexto"/>
            <p:cNvSpPr txBox="1"/>
            <p:nvPr/>
          </p:nvSpPr>
          <p:spPr>
            <a:xfrm>
              <a:off x="941917" y="4067788"/>
              <a:ext cx="1417183" cy="584775"/>
            </a:xfrm>
            <a:prstGeom prst="rect">
              <a:avLst/>
            </a:prstGeom>
            <a:noFill/>
          </p:spPr>
          <p:txBody>
            <a:bodyPr wrap="none" rtlCol="0">
              <a:spAutoFit/>
            </a:bodyPr>
            <a:lstStyle/>
            <a:p>
              <a:r>
                <a:rPr lang="es-MX" sz="3200" dirty="0">
                  <a:solidFill>
                    <a:prstClr val="black"/>
                  </a:solidFill>
                </a:rPr>
                <a:t>Tablero</a:t>
              </a:r>
            </a:p>
          </p:txBody>
        </p:sp>
        <p:sp>
          <p:nvSpPr>
            <p:cNvPr id="20" name="19 CuadroTexto"/>
            <p:cNvSpPr txBox="1"/>
            <p:nvPr/>
          </p:nvSpPr>
          <p:spPr>
            <a:xfrm>
              <a:off x="6925838" y="4057805"/>
              <a:ext cx="1071127" cy="584775"/>
            </a:xfrm>
            <a:prstGeom prst="rect">
              <a:avLst/>
            </a:prstGeom>
            <a:noFill/>
          </p:spPr>
          <p:txBody>
            <a:bodyPr wrap="none" rtlCol="0">
              <a:spAutoFit/>
            </a:bodyPr>
            <a:lstStyle/>
            <a:p>
              <a:r>
                <a:rPr lang="es-MX" sz="3200" dirty="0">
                  <a:solidFill>
                    <a:prstClr val="black"/>
                  </a:solidFill>
                </a:rPr>
                <a:t>Patas</a:t>
              </a:r>
            </a:p>
          </p:txBody>
        </p:sp>
        <p:sp>
          <p:nvSpPr>
            <p:cNvPr id="12" name="11 Rombo"/>
            <p:cNvSpPr/>
            <p:nvPr/>
          </p:nvSpPr>
          <p:spPr>
            <a:xfrm>
              <a:off x="4173161" y="2885030"/>
              <a:ext cx="432048" cy="432048"/>
            </a:xfrm>
            <a:prstGeom prst="diamond">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cxnSp>
          <p:nvCxnSpPr>
            <p:cNvPr id="21" name="20 Conector recto"/>
            <p:cNvCxnSpPr>
              <a:stCxn id="12" idx="2"/>
            </p:cNvCxnSpPr>
            <p:nvPr/>
          </p:nvCxnSpPr>
          <p:spPr>
            <a:xfrm>
              <a:off x="4389185" y="3317078"/>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a:off x="1428813" y="3697075"/>
              <a:ext cx="60458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27 Conector recto"/>
            <p:cNvCxnSpPr/>
            <p:nvPr/>
          </p:nvCxnSpPr>
          <p:spPr>
            <a:xfrm>
              <a:off x="1428813" y="3697075"/>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29 Conector recto"/>
            <p:cNvCxnSpPr/>
            <p:nvPr/>
          </p:nvCxnSpPr>
          <p:spPr>
            <a:xfrm>
              <a:off x="7474628" y="3697075"/>
              <a:ext cx="0" cy="3799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5 CuadroTexto"/>
            <p:cNvSpPr txBox="1"/>
            <p:nvPr/>
          </p:nvSpPr>
          <p:spPr>
            <a:xfrm>
              <a:off x="3851920" y="3238508"/>
              <a:ext cx="432047" cy="523220"/>
            </a:xfrm>
            <a:prstGeom prst="rect">
              <a:avLst/>
            </a:prstGeom>
            <a:noFill/>
          </p:spPr>
          <p:txBody>
            <a:bodyPr wrap="square" rtlCol="0">
              <a:spAutoFit/>
            </a:bodyPr>
            <a:lstStyle/>
            <a:p>
              <a:r>
                <a:rPr lang="es-MX" sz="2800" dirty="0"/>
                <a:t>1</a:t>
              </a:r>
            </a:p>
          </p:txBody>
        </p:sp>
        <p:sp>
          <p:nvSpPr>
            <p:cNvPr id="22" name="21 CuadroTexto"/>
            <p:cNvSpPr txBox="1"/>
            <p:nvPr/>
          </p:nvSpPr>
          <p:spPr>
            <a:xfrm>
              <a:off x="989430" y="3500118"/>
              <a:ext cx="432047" cy="523220"/>
            </a:xfrm>
            <a:prstGeom prst="rect">
              <a:avLst/>
            </a:prstGeom>
            <a:noFill/>
          </p:spPr>
          <p:txBody>
            <a:bodyPr wrap="square" rtlCol="0">
              <a:spAutoFit/>
            </a:bodyPr>
            <a:lstStyle/>
            <a:p>
              <a:r>
                <a:rPr lang="es-MX" sz="2800" dirty="0"/>
                <a:t>1</a:t>
              </a:r>
            </a:p>
          </p:txBody>
        </p:sp>
        <p:sp>
          <p:nvSpPr>
            <p:cNvPr id="23" name="22 CuadroTexto"/>
            <p:cNvSpPr txBox="1"/>
            <p:nvPr/>
          </p:nvSpPr>
          <p:spPr>
            <a:xfrm>
              <a:off x="7596336" y="3544568"/>
              <a:ext cx="432047" cy="523220"/>
            </a:xfrm>
            <a:prstGeom prst="rect">
              <a:avLst/>
            </a:prstGeom>
            <a:noFill/>
          </p:spPr>
          <p:txBody>
            <a:bodyPr wrap="square" rtlCol="0">
              <a:spAutoFit/>
            </a:bodyPr>
            <a:lstStyle/>
            <a:p>
              <a:r>
                <a:rPr lang="es-MX" sz="2800" dirty="0"/>
                <a:t>4</a:t>
              </a:r>
            </a:p>
          </p:txBody>
        </p:sp>
      </p:grpSp>
      <p:cxnSp>
        <p:nvCxnSpPr>
          <p:cNvPr id="25" name="24 Conector recto"/>
          <p:cNvCxnSpPr/>
          <p:nvPr/>
        </p:nvCxnSpPr>
        <p:spPr>
          <a:xfrm flipV="1">
            <a:off x="539552" y="5002084"/>
            <a:ext cx="2221914" cy="5195"/>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25 Conector recto"/>
          <p:cNvCxnSpPr/>
          <p:nvPr/>
        </p:nvCxnSpPr>
        <p:spPr>
          <a:xfrm flipV="1">
            <a:off x="515825" y="4615464"/>
            <a:ext cx="2221914" cy="5195"/>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26 Conector recto"/>
          <p:cNvCxnSpPr/>
          <p:nvPr/>
        </p:nvCxnSpPr>
        <p:spPr>
          <a:xfrm flipV="1">
            <a:off x="6363671" y="4610269"/>
            <a:ext cx="2221914" cy="5195"/>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28 Conector recto"/>
          <p:cNvCxnSpPr/>
          <p:nvPr/>
        </p:nvCxnSpPr>
        <p:spPr>
          <a:xfrm flipV="1">
            <a:off x="6350444" y="5002084"/>
            <a:ext cx="2221914" cy="5195"/>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30 Conector recto"/>
          <p:cNvCxnSpPr/>
          <p:nvPr/>
        </p:nvCxnSpPr>
        <p:spPr>
          <a:xfrm flipV="1">
            <a:off x="2956986" y="2128306"/>
            <a:ext cx="2872359" cy="5196"/>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2" name="31 Conector recto"/>
          <p:cNvCxnSpPr/>
          <p:nvPr/>
        </p:nvCxnSpPr>
        <p:spPr>
          <a:xfrm flipV="1">
            <a:off x="2956986" y="2492896"/>
            <a:ext cx="2872359" cy="5196"/>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560075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pic>
        <p:nvPicPr>
          <p:cNvPr id="4" name="3 Marcador de contenido"/>
          <p:cNvPicPr>
            <a:picLocks noGrp="1"/>
          </p:cNvPicPr>
          <p:nvPr>
            <p:ph idx="1"/>
          </p:nvPr>
        </p:nvPicPr>
        <p:blipFill rotWithShape="1">
          <a:blip r:embed="rId2">
            <a:extLst>
              <a:ext uri="{28A0092B-C50C-407E-A947-70E740481C1C}">
                <a14:useLocalDpi xmlns:a14="http://schemas.microsoft.com/office/drawing/2010/main" val="0"/>
              </a:ext>
            </a:extLst>
          </a:blip>
          <a:srcRect l="24629" t="65257" r="48703" b="12387"/>
          <a:stretch/>
        </p:blipFill>
        <p:spPr bwMode="auto">
          <a:xfrm>
            <a:off x="1043608" y="1961102"/>
            <a:ext cx="6624735" cy="298006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007364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normAutofit/>
          </a:bodyPr>
          <a:lstStyle/>
          <a:p>
            <a:pPr>
              <a:lnSpc>
                <a:spcPct val="115000"/>
              </a:lnSpc>
              <a:spcAft>
                <a:spcPts val="1000"/>
              </a:spcAft>
            </a:pPr>
            <a:r>
              <a:rPr lang="es-SV" dirty="0">
                <a:ea typeface="Calibri"/>
                <a:cs typeface="Times New Roman"/>
              </a:rPr>
              <a:t>Un Almacén posee Clientes y Cuentas. Los rombos van en la clase que está formada por las otras: el todo y las partes. </a:t>
            </a:r>
          </a:p>
          <a:p>
            <a:pPr>
              <a:lnSpc>
                <a:spcPct val="115000"/>
              </a:lnSpc>
              <a:spcAft>
                <a:spcPts val="1000"/>
              </a:spcAft>
            </a:pPr>
            <a:r>
              <a:rPr lang="es-SV" dirty="0">
                <a:ea typeface="Calibri"/>
                <a:cs typeface="Times New Roman"/>
              </a:rPr>
              <a:t>Cuando se destruye la clase Almacén también es destruida la clase Cuenta asociada, en cambio no es afectada la clase Cliente asociada.</a:t>
            </a:r>
            <a:endParaRPr lang="es-SV" sz="2800" dirty="0">
              <a:ea typeface="Calibri"/>
              <a:cs typeface="Times New Roman"/>
            </a:endParaRPr>
          </a:p>
          <a:p>
            <a:endParaRPr lang="es-SV" dirty="0"/>
          </a:p>
        </p:txBody>
      </p:sp>
    </p:spTree>
    <p:extLst>
      <p:ext uri="{BB962C8B-B14F-4D97-AF65-F5344CB8AC3E}">
        <p14:creationId xmlns:p14="http://schemas.microsoft.com/office/powerpoint/2010/main" val="7949663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3506" y="1772816"/>
            <a:ext cx="8390981" cy="4386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53313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GENERALIZACION</a:t>
            </a:r>
          </a:p>
        </p:txBody>
      </p:sp>
      <p:sp>
        <p:nvSpPr>
          <p:cNvPr id="3" name="2 Marcador de contenido"/>
          <p:cNvSpPr>
            <a:spLocks noGrp="1"/>
          </p:cNvSpPr>
          <p:nvPr>
            <p:ph idx="1"/>
          </p:nvPr>
        </p:nvSpPr>
        <p:spPr/>
        <p:txBody>
          <a:bodyPr>
            <a:normAutofit fontScale="92500"/>
          </a:bodyPr>
          <a:lstStyle/>
          <a:p>
            <a:r>
              <a:rPr lang="es-MX" dirty="0"/>
              <a:t>Es una relación entre un elemento general llamado superclase o «padre» y un caso mas concreto de ese elemento denominado subclase o «hijo».</a:t>
            </a:r>
          </a:p>
          <a:p>
            <a:r>
              <a:rPr lang="es-MX" dirty="0"/>
              <a:t>Se conoce como relación</a:t>
            </a:r>
            <a:r>
              <a:rPr lang="es-MX" b="1" dirty="0"/>
              <a:t> es – un </a:t>
            </a:r>
            <a:r>
              <a:rPr lang="es-MX" dirty="0"/>
              <a:t>y en la POO se le llama </a:t>
            </a:r>
            <a:r>
              <a:rPr lang="es-MX" b="1" dirty="0"/>
              <a:t>herencia</a:t>
            </a:r>
            <a:r>
              <a:rPr lang="es-MX" dirty="0"/>
              <a:t>.</a:t>
            </a:r>
          </a:p>
          <a:p>
            <a:r>
              <a:rPr lang="es-MX" dirty="0"/>
              <a:t>Normalmente se lee como «es un» comenzando con la subclase y derivándose a la superclase. </a:t>
            </a:r>
            <a:r>
              <a:rPr lang="es-MX" dirty="0" err="1"/>
              <a:t>Ej</a:t>
            </a:r>
            <a:r>
              <a:rPr lang="es-MX" dirty="0"/>
              <a:t>: un Gato </a:t>
            </a:r>
            <a:r>
              <a:rPr lang="es-MX" b="1" dirty="0"/>
              <a:t>es un </a:t>
            </a:r>
            <a:r>
              <a:rPr lang="es-MX" dirty="0"/>
              <a:t>tipo</a:t>
            </a:r>
            <a:r>
              <a:rPr lang="es-MX" b="1" dirty="0"/>
              <a:t> </a:t>
            </a:r>
            <a:r>
              <a:rPr lang="es-MX" dirty="0"/>
              <a:t>de Animal.</a:t>
            </a:r>
          </a:p>
        </p:txBody>
      </p:sp>
    </p:spTree>
    <p:extLst>
      <p:ext uri="{BB962C8B-B14F-4D97-AF65-F5344CB8AC3E}">
        <p14:creationId xmlns:p14="http://schemas.microsoft.com/office/powerpoint/2010/main" val="29563908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457200" y="1600200"/>
            <a:ext cx="8363272" cy="4525963"/>
          </a:xfrm>
        </p:spPr>
        <p:txBody>
          <a:bodyPr/>
          <a:lstStyle/>
          <a:p>
            <a:r>
              <a:rPr lang="es-MX" dirty="0"/>
              <a:t>La generalización se representa por una línea continua que comienza en la subclase y termina en una flecha cerrada en la superclase.</a:t>
            </a:r>
          </a:p>
          <a:p>
            <a:r>
              <a:rPr lang="es-MX" dirty="0"/>
              <a:t>La generalización no tiene nombre ni ningún tipo de multiplicidad.</a:t>
            </a:r>
          </a:p>
          <a:p>
            <a:r>
              <a:rPr lang="es-MX" dirty="0"/>
              <a:t>Una superclase representa una generalización de las subclases.</a:t>
            </a:r>
          </a:p>
          <a:p>
            <a:endParaRPr lang="es-MX" dirty="0"/>
          </a:p>
        </p:txBody>
      </p:sp>
    </p:spTree>
    <p:extLst>
      <p:ext uri="{BB962C8B-B14F-4D97-AF65-F5344CB8AC3E}">
        <p14:creationId xmlns:p14="http://schemas.microsoft.com/office/powerpoint/2010/main" val="42624206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endParaRPr lang="es-MX" dirty="0"/>
          </a:p>
          <a:p>
            <a:endParaRPr lang="es-MX" dirty="0"/>
          </a:p>
          <a:p>
            <a:endParaRPr lang="es-MX" dirty="0"/>
          </a:p>
          <a:p>
            <a:endParaRPr lang="es-MX" dirty="0"/>
          </a:p>
          <a:p>
            <a:endParaRPr lang="es-MX" dirty="0"/>
          </a:p>
          <a:p>
            <a:endParaRPr lang="es-MX" dirty="0"/>
          </a:p>
          <a:p>
            <a:endParaRPr lang="es-MX" dirty="0"/>
          </a:p>
        </p:txBody>
      </p:sp>
      <p:grpSp>
        <p:nvGrpSpPr>
          <p:cNvPr id="10" name="9 Grupo"/>
          <p:cNvGrpSpPr/>
          <p:nvPr/>
        </p:nvGrpSpPr>
        <p:grpSpPr>
          <a:xfrm>
            <a:off x="3131840" y="1583068"/>
            <a:ext cx="2221914" cy="1413884"/>
            <a:chOff x="3131840" y="1583068"/>
            <a:chExt cx="2221914" cy="1413884"/>
          </a:xfrm>
        </p:grpSpPr>
        <p:sp>
          <p:nvSpPr>
            <p:cNvPr id="5" name="4 Rectángulo"/>
            <p:cNvSpPr/>
            <p:nvPr/>
          </p:nvSpPr>
          <p:spPr>
            <a:xfrm>
              <a:off x="3131840" y="1700808"/>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7" name="6 CuadroTexto"/>
            <p:cNvSpPr txBox="1"/>
            <p:nvPr/>
          </p:nvSpPr>
          <p:spPr>
            <a:xfrm>
              <a:off x="3547282" y="1583068"/>
              <a:ext cx="1353256" cy="584775"/>
            </a:xfrm>
            <a:prstGeom prst="rect">
              <a:avLst/>
            </a:prstGeom>
            <a:noFill/>
          </p:spPr>
          <p:txBody>
            <a:bodyPr wrap="none" rtlCol="0">
              <a:spAutoFit/>
            </a:bodyPr>
            <a:lstStyle/>
            <a:p>
              <a:r>
                <a:rPr lang="es-MX" sz="3200" dirty="0">
                  <a:solidFill>
                    <a:prstClr val="black"/>
                  </a:solidFill>
                </a:rPr>
                <a:t>Animal</a:t>
              </a:r>
            </a:p>
          </p:txBody>
        </p:sp>
      </p:grpSp>
      <p:grpSp>
        <p:nvGrpSpPr>
          <p:cNvPr id="13" name="12 Grupo"/>
          <p:cNvGrpSpPr/>
          <p:nvPr/>
        </p:nvGrpSpPr>
        <p:grpSpPr>
          <a:xfrm>
            <a:off x="3131840" y="4221088"/>
            <a:ext cx="2221914" cy="1440160"/>
            <a:chOff x="3131840" y="4221088"/>
            <a:chExt cx="2221914" cy="1440160"/>
          </a:xfrm>
        </p:grpSpPr>
        <p:sp>
          <p:nvSpPr>
            <p:cNvPr id="6" name="5 Rectángulo"/>
            <p:cNvSpPr/>
            <p:nvPr/>
          </p:nvSpPr>
          <p:spPr>
            <a:xfrm>
              <a:off x="3131840" y="4365104"/>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8" name="7 CuadroTexto"/>
            <p:cNvSpPr txBox="1"/>
            <p:nvPr/>
          </p:nvSpPr>
          <p:spPr>
            <a:xfrm>
              <a:off x="3729927" y="4221088"/>
              <a:ext cx="987963" cy="584775"/>
            </a:xfrm>
            <a:prstGeom prst="rect">
              <a:avLst/>
            </a:prstGeom>
            <a:noFill/>
          </p:spPr>
          <p:txBody>
            <a:bodyPr wrap="none" rtlCol="0">
              <a:spAutoFit/>
            </a:bodyPr>
            <a:lstStyle/>
            <a:p>
              <a:r>
                <a:rPr lang="es-MX" sz="3200" dirty="0">
                  <a:solidFill>
                    <a:prstClr val="black"/>
                  </a:solidFill>
                </a:rPr>
                <a:t>Gato</a:t>
              </a:r>
            </a:p>
          </p:txBody>
        </p:sp>
      </p:grpSp>
      <p:sp>
        <p:nvSpPr>
          <p:cNvPr id="9" name="8 CuadroTexto"/>
          <p:cNvSpPr txBox="1"/>
          <p:nvPr/>
        </p:nvSpPr>
        <p:spPr>
          <a:xfrm>
            <a:off x="4818190" y="3284984"/>
            <a:ext cx="1292341" cy="584775"/>
          </a:xfrm>
          <a:prstGeom prst="rect">
            <a:avLst/>
          </a:prstGeom>
          <a:noFill/>
        </p:spPr>
        <p:txBody>
          <a:bodyPr wrap="none" rtlCol="0">
            <a:spAutoFit/>
          </a:bodyPr>
          <a:lstStyle/>
          <a:p>
            <a:r>
              <a:rPr lang="es-MX" sz="3200" dirty="0">
                <a:solidFill>
                  <a:prstClr val="black"/>
                </a:solidFill>
              </a:rPr>
              <a:t>es - un</a:t>
            </a:r>
          </a:p>
        </p:txBody>
      </p:sp>
      <p:cxnSp>
        <p:nvCxnSpPr>
          <p:cNvPr id="14" name="13 Conector recto"/>
          <p:cNvCxnSpPr/>
          <p:nvPr/>
        </p:nvCxnSpPr>
        <p:spPr>
          <a:xfrm>
            <a:off x="3131305" y="2128306"/>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15 Conector recto"/>
          <p:cNvCxnSpPr/>
          <p:nvPr/>
        </p:nvCxnSpPr>
        <p:spPr>
          <a:xfrm>
            <a:off x="3112685" y="2564904"/>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16 Conector recto"/>
          <p:cNvCxnSpPr/>
          <p:nvPr/>
        </p:nvCxnSpPr>
        <p:spPr>
          <a:xfrm>
            <a:off x="3131305" y="5262839"/>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17 Conector recto"/>
          <p:cNvCxnSpPr/>
          <p:nvPr/>
        </p:nvCxnSpPr>
        <p:spPr>
          <a:xfrm>
            <a:off x="3112683" y="4805863"/>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24" name="23 Grupo"/>
          <p:cNvGrpSpPr/>
          <p:nvPr/>
        </p:nvGrpSpPr>
        <p:grpSpPr>
          <a:xfrm>
            <a:off x="4043887" y="3001322"/>
            <a:ext cx="360040" cy="1363782"/>
            <a:chOff x="4043887" y="3001322"/>
            <a:chExt cx="360040" cy="1363782"/>
          </a:xfrm>
        </p:grpSpPr>
        <p:sp>
          <p:nvSpPr>
            <p:cNvPr id="15" name="14 Triángulo isósceles"/>
            <p:cNvSpPr/>
            <p:nvPr/>
          </p:nvSpPr>
          <p:spPr>
            <a:xfrm>
              <a:off x="4043887" y="3001322"/>
              <a:ext cx="360040" cy="31318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a:p>
          </p:txBody>
        </p:sp>
        <p:cxnSp>
          <p:nvCxnSpPr>
            <p:cNvPr id="20" name="19 Conector recto"/>
            <p:cNvCxnSpPr>
              <a:stCxn id="15" idx="3"/>
            </p:cNvCxnSpPr>
            <p:nvPr/>
          </p:nvCxnSpPr>
          <p:spPr>
            <a:xfrm>
              <a:off x="4223907" y="3314506"/>
              <a:ext cx="0" cy="105059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25001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sp>
        <p:nvSpPr>
          <p:cNvPr id="3" name="2 Marcador de contenido"/>
          <p:cNvSpPr>
            <a:spLocks noGrp="1"/>
          </p:cNvSpPr>
          <p:nvPr>
            <p:ph idx="1"/>
          </p:nvPr>
        </p:nvSpPr>
        <p:spPr/>
        <p:txBody>
          <a:bodyPr/>
          <a:lstStyle/>
          <a:p>
            <a:endParaRPr lang="es-SV" dirty="0"/>
          </a:p>
        </p:txBody>
      </p:sp>
      <p:grpSp>
        <p:nvGrpSpPr>
          <p:cNvPr id="20" name="19 Grupo"/>
          <p:cNvGrpSpPr/>
          <p:nvPr/>
        </p:nvGrpSpPr>
        <p:grpSpPr>
          <a:xfrm>
            <a:off x="1091782" y="1700808"/>
            <a:ext cx="6724530" cy="3744801"/>
            <a:chOff x="1091782" y="1700808"/>
            <a:chExt cx="6724530" cy="3744801"/>
          </a:xfrm>
        </p:grpSpPr>
        <p:grpSp>
          <p:nvGrpSpPr>
            <p:cNvPr id="5" name="4 Grupo"/>
            <p:cNvGrpSpPr/>
            <p:nvPr/>
          </p:nvGrpSpPr>
          <p:grpSpPr>
            <a:xfrm>
              <a:off x="1091782" y="4096231"/>
              <a:ext cx="2221914" cy="1349378"/>
              <a:chOff x="3131840" y="1647574"/>
              <a:chExt cx="2221914" cy="1349378"/>
            </a:xfrm>
          </p:grpSpPr>
          <p:sp>
            <p:nvSpPr>
              <p:cNvPr id="6" name="5 Rectángulo"/>
              <p:cNvSpPr/>
              <p:nvPr/>
            </p:nvSpPr>
            <p:spPr>
              <a:xfrm>
                <a:off x="3131840" y="1700808"/>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7" name="6 CuadroTexto"/>
              <p:cNvSpPr txBox="1"/>
              <p:nvPr/>
            </p:nvSpPr>
            <p:spPr>
              <a:xfrm>
                <a:off x="3313697" y="1647574"/>
                <a:ext cx="1858201" cy="584775"/>
              </a:xfrm>
              <a:prstGeom prst="rect">
                <a:avLst/>
              </a:prstGeom>
              <a:noFill/>
            </p:spPr>
            <p:txBody>
              <a:bodyPr wrap="none" rtlCol="0">
                <a:spAutoFit/>
              </a:bodyPr>
              <a:lstStyle/>
              <a:p>
                <a:r>
                  <a:rPr lang="es-MX" sz="3200" dirty="0">
                    <a:solidFill>
                      <a:prstClr val="black"/>
                    </a:solidFill>
                  </a:rPr>
                  <a:t>Empleado</a:t>
                </a:r>
              </a:p>
            </p:txBody>
          </p:sp>
        </p:grpSp>
        <p:grpSp>
          <p:nvGrpSpPr>
            <p:cNvPr id="8" name="7 Grupo"/>
            <p:cNvGrpSpPr/>
            <p:nvPr/>
          </p:nvGrpSpPr>
          <p:grpSpPr>
            <a:xfrm>
              <a:off x="5594398" y="4037692"/>
              <a:ext cx="2221914" cy="1335523"/>
              <a:chOff x="3131840" y="1661429"/>
              <a:chExt cx="2221914" cy="1335523"/>
            </a:xfrm>
          </p:grpSpPr>
          <p:sp>
            <p:nvSpPr>
              <p:cNvPr id="9" name="8 Rectángulo"/>
              <p:cNvSpPr/>
              <p:nvPr/>
            </p:nvSpPr>
            <p:spPr>
              <a:xfrm>
                <a:off x="3131840" y="1700808"/>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0" name="9 CuadroTexto"/>
              <p:cNvSpPr txBox="1"/>
              <p:nvPr/>
            </p:nvSpPr>
            <p:spPr>
              <a:xfrm>
                <a:off x="3569471" y="1661429"/>
                <a:ext cx="1346651" cy="584775"/>
              </a:xfrm>
              <a:prstGeom prst="rect">
                <a:avLst/>
              </a:prstGeom>
              <a:noFill/>
            </p:spPr>
            <p:txBody>
              <a:bodyPr wrap="none" rtlCol="0">
                <a:spAutoFit/>
              </a:bodyPr>
              <a:lstStyle/>
              <a:p>
                <a:r>
                  <a:rPr lang="es-MX" sz="3200" dirty="0">
                    <a:solidFill>
                      <a:prstClr val="black"/>
                    </a:solidFill>
                  </a:rPr>
                  <a:t>Cliente</a:t>
                </a:r>
              </a:p>
            </p:txBody>
          </p:sp>
        </p:grpSp>
        <p:grpSp>
          <p:nvGrpSpPr>
            <p:cNvPr id="11" name="10 Grupo"/>
            <p:cNvGrpSpPr/>
            <p:nvPr/>
          </p:nvGrpSpPr>
          <p:grpSpPr>
            <a:xfrm>
              <a:off x="3131840" y="1700808"/>
              <a:ext cx="2221914" cy="1296144"/>
              <a:chOff x="3131840" y="1700808"/>
              <a:chExt cx="2221914" cy="1296144"/>
            </a:xfrm>
          </p:grpSpPr>
          <p:sp>
            <p:nvSpPr>
              <p:cNvPr id="12" name="11 Rectángulo"/>
              <p:cNvSpPr/>
              <p:nvPr/>
            </p:nvSpPr>
            <p:spPr>
              <a:xfrm>
                <a:off x="3131840" y="1700808"/>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3" name="12 CuadroTexto"/>
              <p:cNvSpPr txBox="1"/>
              <p:nvPr/>
            </p:nvSpPr>
            <p:spPr>
              <a:xfrm>
                <a:off x="3569717" y="1700808"/>
                <a:ext cx="1517595" cy="584775"/>
              </a:xfrm>
              <a:prstGeom prst="rect">
                <a:avLst/>
              </a:prstGeom>
              <a:noFill/>
            </p:spPr>
            <p:txBody>
              <a:bodyPr wrap="none" rtlCol="0">
                <a:spAutoFit/>
              </a:bodyPr>
              <a:lstStyle/>
              <a:p>
                <a:r>
                  <a:rPr lang="es-MX" sz="3200" dirty="0">
                    <a:solidFill>
                      <a:prstClr val="black"/>
                    </a:solidFill>
                  </a:rPr>
                  <a:t>Persona</a:t>
                </a:r>
              </a:p>
            </p:txBody>
          </p:sp>
        </p:grpSp>
        <p:cxnSp>
          <p:nvCxnSpPr>
            <p:cNvPr id="15" name="14 Conector recto"/>
            <p:cNvCxnSpPr/>
            <p:nvPr/>
          </p:nvCxnSpPr>
          <p:spPr>
            <a:xfrm>
              <a:off x="3286825" y="4797537"/>
              <a:ext cx="230757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 name="20 Conector recto"/>
          <p:cNvCxnSpPr/>
          <p:nvPr/>
        </p:nvCxnSpPr>
        <p:spPr>
          <a:xfrm>
            <a:off x="3131305" y="2285583"/>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21 Conector recto"/>
          <p:cNvCxnSpPr/>
          <p:nvPr/>
        </p:nvCxnSpPr>
        <p:spPr>
          <a:xfrm>
            <a:off x="3131304" y="2636912"/>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22 Conector recto"/>
          <p:cNvCxnSpPr/>
          <p:nvPr/>
        </p:nvCxnSpPr>
        <p:spPr>
          <a:xfrm>
            <a:off x="5593863" y="4615005"/>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23 Conector recto"/>
          <p:cNvCxnSpPr/>
          <p:nvPr/>
        </p:nvCxnSpPr>
        <p:spPr>
          <a:xfrm>
            <a:off x="5594398" y="5013176"/>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24 Conector recto"/>
          <p:cNvCxnSpPr/>
          <p:nvPr/>
        </p:nvCxnSpPr>
        <p:spPr>
          <a:xfrm>
            <a:off x="1091782" y="4681006"/>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25 Conector recto"/>
          <p:cNvCxnSpPr/>
          <p:nvPr/>
        </p:nvCxnSpPr>
        <p:spPr>
          <a:xfrm>
            <a:off x="1091782" y="5021737"/>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27" name="26 Grupo"/>
          <p:cNvGrpSpPr/>
          <p:nvPr/>
        </p:nvGrpSpPr>
        <p:grpSpPr>
          <a:xfrm>
            <a:off x="4043887" y="3001321"/>
            <a:ext cx="360040" cy="1796215"/>
            <a:chOff x="4043887" y="3001322"/>
            <a:chExt cx="360040" cy="1363782"/>
          </a:xfrm>
        </p:grpSpPr>
        <p:sp>
          <p:nvSpPr>
            <p:cNvPr id="28" name="27 Triángulo isósceles"/>
            <p:cNvSpPr/>
            <p:nvPr/>
          </p:nvSpPr>
          <p:spPr>
            <a:xfrm>
              <a:off x="4043887" y="3001322"/>
              <a:ext cx="360040" cy="31318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a:p>
          </p:txBody>
        </p:sp>
        <p:cxnSp>
          <p:nvCxnSpPr>
            <p:cNvPr id="29" name="28 Conector recto"/>
            <p:cNvCxnSpPr>
              <a:stCxn id="28" idx="3"/>
            </p:cNvCxnSpPr>
            <p:nvPr/>
          </p:nvCxnSpPr>
          <p:spPr>
            <a:xfrm>
              <a:off x="4223907" y="3314506"/>
              <a:ext cx="0" cy="105059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42199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60648"/>
            <a:ext cx="8229600" cy="5865515"/>
          </a:xfrm>
        </p:spPr>
        <p:txBody>
          <a:bodyPr/>
          <a:lstStyle/>
          <a:p>
            <a:endParaRPr lang="es-SV" dirty="0"/>
          </a:p>
        </p:txBody>
      </p:sp>
      <p:grpSp>
        <p:nvGrpSpPr>
          <p:cNvPr id="6" name="5 Grupo"/>
          <p:cNvGrpSpPr/>
          <p:nvPr/>
        </p:nvGrpSpPr>
        <p:grpSpPr>
          <a:xfrm>
            <a:off x="1103505" y="2265614"/>
            <a:ext cx="2221914" cy="1131701"/>
            <a:chOff x="3131840" y="1628413"/>
            <a:chExt cx="2221914" cy="1368539"/>
          </a:xfrm>
        </p:grpSpPr>
        <p:sp>
          <p:nvSpPr>
            <p:cNvPr id="15" name="14 Rectángulo"/>
            <p:cNvSpPr/>
            <p:nvPr/>
          </p:nvSpPr>
          <p:spPr>
            <a:xfrm>
              <a:off x="3131840" y="1700808"/>
              <a:ext cx="2221914" cy="1296144"/>
            </a:xfrm>
            <a:prstGeom prst="rect">
              <a:avLst/>
            </a:prstGeom>
            <a:noFill/>
            <a:ln w="3175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6" name="15 CuadroTexto"/>
            <p:cNvSpPr txBox="1"/>
            <p:nvPr/>
          </p:nvSpPr>
          <p:spPr>
            <a:xfrm>
              <a:off x="3313697" y="1628413"/>
              <a:ext cx="1858201" cy="584775"/>
            </a:xfrm>
            <a:prstGeom prst="rect">
              <a:avLst/>
            </a:prstGeom>
            <a:noFill/>
            <a:ln w="31750">
              <a:noFill/>
              <a:tailEnd w="lg" len="lg"/>
            </a:ln>
          </p:spPr>
          <p:txBody>
            <a:bodyPr wrap="none" rtlCol="0">
              <a:spAutoFit/>
            </a:bodyPr>
            <a:lstStyle/>
            <a:p>
              <a:r>
                <a:rPr lang="es-MX" sz="3200" dirty="0">
                  <a:solidFill>
                    <a:prstClr val="black"/>
                  </a:solidFill>
                </a:rPr>
                <a:t>Empleado</a:t>
              </a:r>
            </a:p>
          </p:txBody>
        </p:sp>
      </p:grpSp>
      <p:grpSp>
        <p:nvGrpSpPr>
          <p:cNvPr id="7" name="6 Grupo"/>
          <p:cNvGrpSpPr/>
          <p:nvPr/>
        </p:nvGrpSpPr>
        <p:grpSpPr>
          <a:xfrm>
            <a:off x="5606121" y="2265614"/>
            <a:ext cx="2221914" cy="1071835"/>
            <a:chOff x="3131840" y="1700807"/>
            <a:chExt cx="2221914" cy="1296145"/>
          </a:xfrm>
        </p:grpSpPr>
        <p:sp>
          <p:nvSpPr>
            <p:cNvPr id="13" name="12 Rectángulo"/>
            <p:cNvSpPr/>
            <p:nvPr/>
          </p:nvSpPr>
          <p:spPr>
            <a:xfrm>
              <a:off x="3131840" y="1700808"/>
              <a:ext cx="2221914" cy="1296144"/>
            </a:xfrm>
            <a:prstGeom prst="rect">
              <a:avLst/>
            </a:prstGeom>
            <a:noFill/>
            <a:ln w="3175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4" name="13 CuadroTexto"/>
            <p:cNvSpPr txBox="1"/>
            <p:nvPr/>
          </p:nvSpPr>
          <p:spPr>
            <a:xfrm>
              <a:off x="3530497" y="1700807"/>
              <a:ext cx="1346651" cy="584775"/>
            </a:xfrm>
            <a:prstGeom prst="rect">
              <a:avLst/>
            </a:prstGeom>
            <a:noFill/>
            <a:ln w="31750">
              <a:noFill/>
              <a:tailEnd w="lg" len="lg"/>
            </a:ln>
          </p:spPr>
          <p:txBody>
            <a:bodyPr wrap="none" rtlCol="0">
              <a:spAutoFit/>
            </a:bodyPr>
            <a:lstStyle/>
            <a:p>
              <a:r>
                <a:rPr lang="es-MX" sz="3200" dirty="0">
                  <a:solidFill>
                    <a:prstClr val="black"/>
                  </a:solidFill>
                </a:rPr>
                <a:t>Cliente</a:t>
              </a:r>
            </a:p>
          </p:txBody>
        </p:sp>
      </p:grpSp>
      <p:grpSp>
        <p:nvGrpSpPr>
          <p:cNvPr id="8" name="7 Grupo"/>
          <p:cNvGrpSpPr/>
          <p:nvPr/>
        </p:nvGrpSpPr>
        <p:grpSpPr>
          <a:xfrm>
            <a:off x="3143563" y="194149"/>
            <a:ext cx="2221914" cy="1178272"/>
            <a:chOff x="3131840" y="1572096"/>
            <a:chExt cx="2221914" cy="1424856"/>
          </a:xfrm>
        </p:grpSpPr>
        <p:sp>
          <p:nvSpPr>
            <p:cNvPr id="11" name="10 Rectángulo"/>
            <p:cNvSpPr/>
            <p:nvPr/>
          </p:nvSpPr>
          <p:spPr>
            <a:xfrm>
              <a:off x="3131840" y="1700808"/>
              <a:ext cx="2221914" cy="1296144"/>
            </a:xfrm>
            <a:prstGeom prst="rect">
              <a:avLst/>
            </a:prstGeom>
            <a:noFill/>
            <a:ln w="3175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2" name="11 CuadroTexto"/>
            <p:cNvSpPr txBox="1"/>
            <p:nvPr/>
          </p:nvSpPr>
          <p:spPr>
            <a:xfrm>
              <a:off x="3497351" y="1572096"/>
              <a:ext cx="1517595" cy="584775"/>
            </a:xfrm>
            <a:prstGeom prst="rect">
              <a:avLst/>
            </a:prstGeom>
            <a:noFill/>
            <a:ln w="31750">
              <a:noFill/>
              <a:tailEnd w="lg" len="lg"/>
            </a:ln>
          </p:spPr>
          <p:txBody>
            <a:bodyPr wrap="none" rtlCol="0">
              <a:spAutoFit/>
            </a:bodyPr>
            <a:lstStyle/>
            <a:p>
              <a:r>
                <a:rPr lang="es-MX" sz="3200" dirty="0">
                  <a:solidFill>
                    <a:prstClr val="black"/>
                  </a:solidFill>
                </a:rPr>
                <a:t>Persona</a:t>
              </a:r>
            </a:p>
          </p:txBody>
        </p:sp>
      </p:grpSp>
      <p:cxnSp>
        <p:nvCxnSpPr>
          <p:cNvPr id="9" name="8 Conector recto"/>
          <p:cNvCxnSpPr/>
          <p:nvPr/>
        </p:nvCxnSpPr>
        <p:spPr>
          <a:xfrm>
            <a:off x="3298548" y="2861398"/>
            <a:ext cx="2307573" cy="0"/>
          </a:xfrm>
          <a:prstGeom prst="line">
            <a:avLst/>
          </a:prstGeom>
          <a:ln w="31750">
            <a:solidFill>
              <a:schemeClr val="tx1"/>
            </a:solidFill>
            <a:tailEnd w="lg" len="lg"/>
          </a:ln>
        </p:spPr>
        <p:style>
          <a:lnRef idx="1">
            <a:schemeClr val="accent1"/>
          </a:lnRef>
          <a:fillRef idx="0">
            <a:schemeClr val="accent1"/>
          </a:fillRef>
          <a:effectRef idx="0">
            <a:schemeClr val="accent1"/>
          </a:effectRef>
          <a:fontRef idx="minor">
            <a:schemeClr val="tx1"/>
          </a:fontRef>
        </p:style>
      </p:cxnSp>
      <p:grpSp>
        <p:nvGrpSpPr>
          <p:cNvPr id="17" name="16 Grupo"/>
          <p:cNvGrpSpPr/>
          <p:nvPr/>
        </p:nvGrpSpPr>
        <p:grpSpPr>
          <a:xfrm>
            <a:off x="3286825" y="4677666"/>
            <a:ext cx="2221914" cy="1356140"/>
            <a:chOff x="3131840" y="4305108"/>
            <a:chExt cx="2221914" cy="1356140"/>
          </a:xfrm>
        </p:grpSpPr>
        <p:sp>
          <p:nvSpPr>
            <p:cNvPr id="18" name="17 Rectángulo"/>
            <p:cNvSpPr/>
            <p:nvPr/>
          </p:nvSpPr>
          <p:spPr>
            <a:xfrm>
              <a:off x="3131840" y="4365104"/>
              <a:ext cx="2221914" cy="12961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9" name="18 CuadroTexto"/>
            <p:cNvSpPr txBox="1"/>
            <p:nvPr/>
          </p:nvSpPr>
          <p:spPr>
            <a:xfrm>
              <a:off x="3441851" y="4305108"/>
              <a:ext cx="1628394" cy="584775"/>
            </a:xfrm>
            <a:prstGeom prst="rect">
              <a:avLst/>
            </a:prstGeom>
            <a:noFill/>
          </p:spPr>
          <p:txBody>
            <a:bodyPr wrap="none" rtlCol="0">
              <a:spAutoFit/>
            </a:bodyPr>
            <a:lstStyle/>
            <a:p>
              <a:r>
                <a:rPr lang="es-MX" sz="3200" dirty="0">
                  <a:solidFill>
                    <a:prstClr val="black"/>
                  </a:solidFill>
                </a:rPr>
                <a:t>Empresa</a:t>
              </a:r>
            </a:p>
          </p:txBody>
        </p:sp>
      </p:grpSp>
      <p:cxnSp>
        <p:nvCxnSpPr>
          <p:cNvPr id="21" name="20 Conector recto"/>
          <p:cNvCxnSpPr/>
          <p:nvPr/>
        </p:nvCxnSpPr>
        <p:spPr>
          <a:xfrm>
            <a:off x="2271548" y="3391806"/>
            <a:ext cx="1220332" cy="1014118"/>
          </a:xfrm>
          <a:prstGeom prst="line">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3" name="22 Conector recto"/>
          <p:cNvCxnSpPr/>
          <p:nvPr/>
        </p:nvCxnSpPr>
        <p:spPr>
          <a:xfrm flipH="1">
            <a:off x="5392295" y="3330869"/>
            <a:ext cx="1224966" cy="1029419"/>
          </a:xfrm>
          <a:prstGeom prst="line">
            <a:avLst/>
          </a:prstGeom>
          <a:ln w="25400" cap="sq">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28" name="27 Rombo"/>
          <p:cNvSpPr/>
          <p:nvPr/>
        </p:nvSpPr>
        <p:spPr>
          <a:xfrm>
            <a:off x="4941723" y="4360288"/>
            <a:ext cx="567015" cy="360040"/>
          </a:xfrm>
          <a:prstGeom prst="diamond">
            <a:avLst/>
          </a:prstGeom>
          <a:noFill/>
          <a:ln>
            <a:solidFill>
              <a:schemeClr val="tx1"/>
            </a:solidFill>
          </a:ln>
          <a:scene3d>
            <a:camera prst="orthographicFront">
              <a:rot lat="0" lon="0" rev="27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33" name="32 Decisión"/>
          <p:cNvSpPr/>
          <p:nvPr/>
        </p:nvSpPr>
        <p:spPr>
          <a:xfrm>
            <a:off x="3357302" y="4360288"/>
            <a:ext cx="538224" cy="360040"/>
          </a:xfrm>
          <a:prstGeom prst="flowChartDecision">
            <a:avLst/>
          </a:prstGeom>
          <a:solidFill>
            <a:schemeClr val="tx1"/>
          </a:solidFill>
          <a:scene3d>
            <a:camera prst="orthographicFront">
              <a:rot lat="0" lon="0" rev="189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a:p>
        </p:txBody>
      </p:sp>
      <p:cxnSp>
        <p:nvCxnSpPr>
          <p:cNvPr id="48" name="47 Conector recto"/>
          <p:cNvCxnSpPr/>
          <p:nvPr/>
        </p:nvCxnSpPr>
        <p:spPr>
          <a:xfrm>
            <a:off x="3131305" y="672214"/>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48 Conector recto"/>
          <p:cNvCxnSpPr/>
          <p:nvPr/>
        </p:nvCxnSpPr>
        <p:spPr>
          <a:xfrm>
            <a:off x="3131304" y="980728"/>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49 Conector recto"/>
          <p:cNvCxnSpPr/>
          <p:nvPr/>
        </p:nvCxnSpPr>
        <p:spPr>
          <a:xfrm>
            <a:off x="5594398" y="2743679"/>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50 Conector recto"/>
          <p:cNvCxnSpPr/>
          <p:nvPr/>
        </p:nvCxnSpPr>
        <p:spPr>
          <a:xfrm>
            <a:off x="5594398" y="3068960"/>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51 Conector recto"/>
          <p:cNvCxnSpPr/>
          <p:nvPr/>
        </p:nvCxnSpPr>
        <p:spPr>
          <a:xfrm>
            <a:off x="1091782" y="2822886"/>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52 Conector recto"/>
          <p:cNvCxnSpPr/>
          <p:nvPr/>
        </p:nvCxnSpPr>
        <p:spPr>
          <a:xfrm>
            <a:off x="1091782" y="3068960"/>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53 Conector recto"/>
          <p:cNvCxnSpPr/>
          <p:nvPr/>
        </p:nvCxnSpPr>
        <p:spPr>
          <a:xfrm>
            <a:off x="3299808" y="5262441"/>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55" name="54 Conector recto"/>
          <p:cNvCxnSpPr/>
          <p:nvPr/>
        </p:nvCxnSpPr>
        <p:spPr>
          <a:xfrm>
            <a:off x="3286289" y="5661248"/>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31" name="30 Grupo"/>
          <p:cNvGrpSpPr/>
          <p:nvPr/>
        </p:nvGrpSpPr>
        <p:grpSpPr>
          <a:xfrm>
            <a:off x="4037473" y="1366912"/>
            <a:ext cx="360040" cy="1494486"/>
            <a:chOff x="4043887" y="3001322"/>
            <a:chExt cx="360040" cy="1363782"/>
          </a:xfrm>
        </p:grpSpPr>
        <p:sp>
          <p:nvSpPr>
            <p:cNvPr id="32" name="31 Triángulo isósceles"/>
            <p:cNvSpPr/>
            <p:nvPr/>
          </p:nvSpPr>
          <p:spPr>
            <a:xfrm>
              <a:off x="4043887" y="3001322"/>
              <a:ext cx="360040" cy="31318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a:p>
          </p:txBody>
        </p:sp>
        <p:cxnSp>
          <p:nvCxnSpPr>
            <p:cNvPr id="34" name="33 Conector recto"/>
            <p:cNvCxnSpPr>
              <a:stCxn id="32" idx="3"/>
            </p:cNvCxnSpPr>
            <p:nvPr/>
          </p:nvCxnSpPr>
          <p:spPr>
            <a:xfrm>
              <a:off x="4223907" y="3314506"/>
              <a:ext cx="0" cy="105059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55718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p:nvPr/>
        </p:nvPicPr>
        <p:blipFill>
          <a:blip r:embed="rId2">
            <a:extLst>
              <a:ext uri="{28A0092B-C50C-407E-A947-70E740481C1C}">
                <a14:useLocalDpi xmlns:a14="http://schemas.microsoft.com/office/drawing/2010/main" val="0"/>
              </a:ext>
            </a:extLst>
          </a:blip>
          <a:srcRect/>
          <a:stretch>
            <a:fillRect/>
          </a:stretch>
        </p:blipFill>
        <p:spPr bwMode="auto">
          <a:xfrm>
            <a:off x="683568" y="548680"/>
            <a:ext cx="8136904" cy="5688632"/>
          </a:xfrm>
          <a:prstGeom prst="rect">
            <a:avLst/>
          </a:prstGeom>
          <a:noFill/>
          <a:ln>
            <a:noFill/>
          </a:ln>
        </p:spPr>
      </p:pic>
    </p:spTree>
    <p:extLst>
      <p:ext uri="{BB962C8B-B14F-4D97-AF65-F5344CB8AC3E}">
        <p14:creationId xmlns:p14="http://schemas.microsoft.com/office/powerpoint/2010/main" val="32602283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13 Grupo"/>
          <p:cNvGrpSpPr/>
          <p:nvPr/>
        </p:nvGrpSpPr>
        <p:grpSpPr>
          <a:xfrm>
            <a:off x="6338312" y="2265010"/>
            <a:ext cx="2351437" cy="1071835"/>
            <a:chOff x="3131840" y="1700807"/>
            <a:chExt cx="2351437" cy="1296145"/>
          </a:xfrm>
        </p:grpSpPr>
        <p:sp>
          <p:nvSpPr>
            <p:cNvPr id="20" name="19 Rectángulo"/>
            <p:cNvSpPr/>
            <p:nvPr/>
          </p:nvSpPr>
          <p:spPr>
            <a:xfrm>
              <a:off x="3131840" y="1700808"/>
              <a:ext cx="2221914" cy="1296144"/>
            </a:xfrm>
            <a:prstGeom prst="rect">
              <a:avLst/>
            </a:prstGeom>
            <a:noFill/>
            <a:ln w="3175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21" name="20 CuadroTexto"/>
            <p:cNvSpPr txBox="1"/>
            <p:nvPr/>
          </p:nvSpPr>
          <p:spPr>
            <a:xfrm>
              <a:off x="3261571" y="1700807"/>
              <a:ext cx="2221706" cy="707155"/>
            </a:xfrm>
            <a:prstGeom prst="rect">
              <a:avLst/>
            </a:prstGeom>
            <a:noFill/>
            <a:ln w="31750">
              <a:noFill/>
              <a:tailEnd w="lg" len="lg"/>
            </a:ln>
          </p:spPr>
          <p:txBody>
            <a:bodyPr wrap="square" rtlCol="0">
              <a:spAutoFit/>
            </a:bodyPr>
            <a:lstStyle/>
            <a:p>
              <a:r>
                <a:rPr lang="es-MX" sz="3200" dirty="0">
                  <a:solidFill>
                    <a:prstClr val="black"/>
                  </a:solidFill>
                </a:rPr>
                <a:t>Estudiante</a:t>
              </a:r>
            </a:p>
          </p:txBody>
        </p:sp>
      </p:grpSp>
      <p:grpSp>
        <p:nvGrpSpPr>
          <p:cNvPr id="15" name="14 Grupo"/>
          <p:cNvGrpSpPr/>
          <p:nvPr/>
        </p:nvGrpSpPr>
        <p:grpSpPr>
          <a:xfrm>
            <a:off x="3875754" y="193545"/>
            <a:ext cx="2221914" cy="1178272"/>
            <a:chOff x="3131840" y="1572096"/>
            <a:chExt cx="2221914" cy="1424856"/>
          </a:xfrm>
        </p:grpSpPr>
        <p:sp>
          <p:nvSpPr>
            <p:cNvPr id="18" name="17 Rectángulo"/>
            <p:cNvSpPr/>
            <p:nvPr/>
          </p:nvSpPr>
          <p:spPr>
            <a:xfrm>
              <a:off x="3131840" y="1700808"/>
              <a:ext cx="2221914" cy="1296144"/>
            </a:xfrm>
            <a:prstGeom prst="rect">
              <a:avLst/>
            </a:prstGeom>
            <a:noFill/>
            <a:ln w="3175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19" name="18 CuadroTexto"/>
            <p:cNvSpPr txBox="1"/>
            <p:nvPr/>
          </p:nvSpPr>
          <p:spPr>
            <a:xfrm>
              <a:off x="3497351" y="1572096"/>
              <a:ext cx="1517595" cy="584775"/>
            </a:xfrm>
            <a:prstGeom prst="rect">
              <a:avLst/>
            </a:prstGeom>
            <a:noFill/>
            <a:ln w="31750">
              <a:noFill/>
              <a:tailEnd w="lg" len="lg"/>
            </a:ln>
          </p:spPr>
          <p:txBody>
            <a:bodyPr wrap="none" rtlCol="0">
              <a:spAutoFit/>
            </a:bodyPr>
            <a:lstStyle/>
            <a:p>
              <a:r>
                <a:rPr lang="es-MX" sz="3200" dirty="0">
                  <a:solidFill>
                    <a:prstClr val="black"/>
                  </a:solidFill>
                </a:rPr>
                <a:t>Persona</a:t>
              </a:r>
            </a:p>
          </p:txBody>
        </p:sp>
      </p:grpSp>
      <p:cxnSp>
        <p:nvCxnSpPr>
          <p:cNvPr id="16" name="15 Conector recto"/>
          <p:cNvCxnSpPr/>
          <p:nvPr/>
        </p:nvCxnSpPr>
        <p:spPr>
          <a:xfrm>
            <a:off x="4030739" y="2860794"/>
            <a:ext cx="2307573" cy="0"/>
          </a:xfrm>
          <a:prstGeom prst="line">
            <a:avLst/>
          </a:prstGeom>
          <a:ln w="31750">
            <a:solidFill>
              <a:schemeClr val="tx1"/>
            </a:solidFill>
            <a:tailEnd w="lg" len="lg"/>
          </a:ln>
        </p:spPr>
        <p:style>
          <a:lnRef idx="1">
            <a:schemeClr val="accent1"/>
          </a:lnRef>
          <a:fillRef idx="0">
            <a:schemeClr val="accent1"/>
          </a:fillRef>
          <a:effectRef idx="0">
            <a:schemeClr val="accent1"/>
          </a:effectRef>
          <a:fontRef idx="minor">
            <a:schemeClr val="tx1"/>
          </a:fontRef>
        </p:style>
      </p:cxnSp>
      <p:cxnSp>
        <p:nvCxnSpPr>
          <p:cNvPr id="7" name="6 Conector recto"/>
          <p:cNvCxnSpPr/>
          <p:nvPr/>
        </p:nvCxnSpPr>
        <p:spPr>
          <a:xfrm>
            <a:off x="3875219" y="677119"/>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7 Conector recto"/>
          <p:cNvCxnSpPr/>
          <p:nvPr/>
        </p:nvCxnSpPr>
        <p:spPr>
          <a:xfrm>
            <a:off x="3875218" y="985633"/>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8 Conector recto"/>
          <p:cNvCxnSpPr/>
          <p:nvPr/>
        </p:nvCxnSpPr>
        <p:spPr>
          <a:xfrm>
            <a:off x="6338312" y="2748584"/>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9 Conector recto"/>
          <p:cNvCxnSpPr/>
          <p:nvPr/>
        </p:nvCxnSpPr>
        <p:spPr>
          <a:xfrm>
            <a:off x="6338312" y="3073865"/>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49" name="48 Grupo"/>
          <p:cNvGrpSpPr/>
          <p:nvPr/>
        </p:nvGrpSpPr>
        <p:grpSpPr>
          <a:xfrm>
            <a:off x="1835696" y="2265010"/>
            <a:ext cx="2222449" cy="1131701"/>
            <a:chOff x="1835696" y="2265010"/>
            <a:chExt cx="2222449" cy="1131701"/>
          </a:xfrm>
        </p:grpSpPr>
        <p:grpSp>
          <p:nvGrpSpPr>
            <p:cNvPr id="13" name="12 Grupo"/>
            <p:cNvGrpSpPr/>
            <p:nvPr/>
          </p:nvGrpSpPr>
          <p:grpSpPr>
            <a:xfrm>
              <a:off x="1835696" y="2265010"/>
              <a:ext cx="2221914" cy="1131701"/>
              <a:chOff x="3131840" y="1628413"/>
              <a:chExt cx="2221914" cy="1368539"/>
            </a:xfrm>
          </p:grpSpPr>
          <p:sp>
            <p:nvSpPr>
              <p:cNvPr id="22" name="21 Rectángulo"/>
              <p:cNvSpPr/>
              <p:nvPr/>
            </p:nvSpPr>
            <p:spPr>
              <a:xfrm>
                <a:off x="3131840" y="1700808"/>
                <a:ext cx="2221914" cy="1296144"/>
              </a:xfrm>
              <a:prstGeom prst="rect">
                <a:avLst/>
              </a:prstGeom>
              <a:noFill/>
              <a:ln w="3175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23" name="22 CuadroTexto"/>
              <p:cNvSpPr txBox="1"/>
              <p:nvPr/>
            </p:nvSpPr>
            <p:spPr>
              <a:xfrm>
                <a:off x="3313697" y="1628413"/>
                <a:ext cx="1858201" cy="584775"/>
              </a:xfrm>
              <a:prstGeom prst="rect">
                <a:avLst/>
              </a:prstGeom>
              <a:noFill/>
              <a:ln w="31750">
                <a:noFill/>
                <a:tailEnd w="lg" len="lg"/>
              </a:ln>
            </p:spPr>
            <p:txBody>
              <a:bodyPr wrap="none" rtlCol="0">
                <a:spAutoFit/>
              </a:bodyPr>
              <a:lstStyle/>
              <a:p>
                <a:r>
                  <a:rPr lang="es-MX" sz="3200" dirty="0">
                    <a:solidFill>
                      <a:prstClr val="black"/>
                    </a:solidFill>
                  </a:rPr>
                  <a:t>Empleado</a:t>
                </a:r>
              </a:p>
            </p:txBody>
          </p:sp>
        </p:grpSp>
        <p:cxnSp>
          <p:nvCxnSpPr>
            <p:cNvPr id="11" name="10 Conector recto"/>
            <p:cNvCxnSpPr/>
            <p:nvPr/>
          </p:nvCxnSpPr>
          <p:spPr>
            <a:xfrm>
              <a:off x="1835696" y="2827791"/>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11 Conector recto"/>
            <p:cNvCxnSpPr/>
            <p:nvPr/>
          </p:nvCxnSpPr>
          <p:spPr>
            <a:xfrm>
              <a:off x="1835696" y="3073865"/>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50" name="49 Grupo"/>
          <p:cNvGrpSpPr/>
          <p:nvPr/>
        </p:nvGrpSpPr>
        <p:grpSpPr>
          <a:xfrm>
            <a:off x="220455" y="4539648"/>
            <a:ext cx="2222449" cy="1131701"/>
            <a:chOff x="1835696" y="2265010"/>
            <a:chExt cx="2222449" cy="1131701"/>
          </a:xfrm>
        </p:grpSpPr>
        <p:grpSp>
          <p:nvGrpSpPr>
            <p:cNvPr id="51" name="50 Grupo"/>
            <p:cNvGrpSpPr/>
            <p:nvPr/>
          </p:nvGrpSpPr>
          <p:grpSpPr>
            <a:xfrm>
              <a:off x="1835696" y="2265010"/>
              <a:ext cx="2221914" cy="1131701"/>
              <a:chOff x="3131840" y="1628413"/>
              <a:chExt cx="2221914" cy="1368539"/>
            </a:xfrm>
          </p:grpSpPr>
          <p:sp>
            <p:nvSpPr>
              <p:cNvPr id="54" name="53 Rectángulo"/>
              <p:cNvSpPr/>
              <p:nvPr/>
            </p:nvSpPr>
            <p:spPr>
              <a:xfrm>
                <a:off x="3131840" y="1700808"/>
                <a:ext cx="2221914" cy="1296144"/>
              </a:xfrm>
              <a:prstGeom prst="rect">
                <a:avLst/>
              </a:prstGeom>
              <a:noFill/>
              <a:ln w="3175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55" name="54 CuadroTexto"/>
              <p:cNvSpPr txBox="1"/>
              <p:nvPr/>
            </p:nvSpPr>
            <p:spPr>
              <a:xfrm>
                <a:off x="3313697" y="1628413"/>
                <a:ext cx="1766446" cy="707154"/>
              </a:xfrm>
              <a:prstGeom prst="rect">
                <a:avLst/>
              </a:prstGeom>
              <a:noFill/>
              <a:ln w="31750">
                <a:noFill/>
                <a:tailEnd w="lg" len="lg"/>
              </a:ln>
            </p:spPr>
            <p:txBody>
              <a:bodyPr wrap="none" rtlCol="0">
                <a:spAutoFit/>
              </a:bodyPr>
              <a:lstStyle/>
              <a:p>
                <a:r>
                  <a:rPr lang="es-MX" sz="3200" dirty="0">
                    <a:solidFill>
                      <a:prstClr val="black"/>
                    </a:solidFill>
                  </a:rPr>
                  <a:t>Ingeniero</a:t>
                </a:r>
              </a:p>
            </p:txBody>
          </p:sp>
        </p:grpSp>
        <p:cxnSp>
          <p:nvCxnSpPr>
            <p:cNvPr id="52" name="51 Conector recto"/>
            <p:cNvCxnSpPr/>
            <p:nvPr/>
          </p:nvCxnSpPr>
          <p:spPr>
            <a:xfrm>
              <a:off x="1835696" y="2827791"/>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52 Conector recto"/>
            <p:cNvCxnSpPr/>
            <p:nvPr/>
          </p:nvCxnSpPr>
          <p:spPr>
            <a:xfrm>
              <a:off x="1835696" y="3073865"/>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56" name="55 Grupo"/>
          <p:cNvGrpSpPr/>
          <p:nvPr/>
        </p:nvGrpSpPr>
        <p:grpSpPr>
          <a:xfrm>
            <a:off x="3707904" y="4457371"/>
            <a:ext cx="2222449" cy="1131701"/>
            <a:chOff x="1835696" y="2265010"/>
            <a:chExt cx="2222449" cy="1131701"/>
          </a:xfrm>
        </p:grpSpPr>
        <p:grpSp>
          <p:nvGrpSpPr>
            <p:cNvPr id="57" name="56 Grupo"/>
            <p:cNvGrpSpPr/>
            <p:nvPr/>
          </p:nvGrpSpPr>
          <p:grpSpPr>
            <a:xfrm>
              <a:off x="1835696" y="2265010"/>
              <a:ext cx="2221914" cy="1131701"/>
              <a:chOff x="3131840" y="1628413"/>
              <a:chExt cx="2221914" cy="1368539"/>
            </a:xfrm>
          </p:grpSpPr>
          <p:sp>
            <p:nvSpPr>
              <p:cNvPr id="60" name="59 Rectángulo"/>
              <p:cNvSpPr/>
              <p:nvPr/>
            </p:nvSpPr>
            <p:spPr>
              <a:xfrm>
                <a:off x="3131840" y="1700808"/>
                <a:ext cx="2221914" cy="1296144"/>
              </a:xfrm>
              <a:prstGeom prst="rect">
                <a:avLst/>
              </a:prstGeom>
              <a:noFill/>
              <a:ln w="31750">
                <a:solidFill>
                  <a:schemeClr val="tx1"/>
                </a:solidFill>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prstClr val="white"/>
                  </a:solidFill>
                </a:endParaRPr>
              </a:p>
            </p:txBody>
          </p:sp>
          <p:sp>
            <p:nvSpPr>
              <p:cNvPr id="61" name="60 CuadroTexto"/>
              <p:cNvSpPr txBox="1"/>
              <p:nvPr/>
            </p:nvSpPr>
            <p:spPr>
              <a:xfrm>
                <a:off x="3313697" y="1628413"/>
                <a:ext cx="1856983" cy="707154"/>
              </a:xfrm>
              <a:prstGeom prst="rect">
                <a:avLst/>
              </a:prstGeom>
              <a:noFill/>
              <a:ln w="31750">
                <a:noFill/>
                <a:tailEnd w="lg" len="lg"/>
              </a:ln>
            </p:spPr>
            <p:txBody>
              <a:bodyPr wrap="none" rtlCol="0">
                <a:spAutoFit/>
              </a:bodyPr>
              <a:lstStyle/>
              <a:p>
                <a:r>
                  <a:rPr lang="es-MX" sz="3200" dirty="0">
                    <a:solidFill>
                      <a:prstClr val="black"/>
                    </a:solidFill>
                  </a:rPr>
                  <a:t>  Abogado</a:t>
                </a:r>
              </a:p>
            </p:txBody>
          </p:sp>
        </p:grpSp>
        <p:cxnSp>
          <p:nvCxnSpPr>
            <p:cNvPr id="58" name="57 Conector recto"/>
            <p:cNvCxnSpPr/>
            <p:nvPr/>
          </p:nvCxnSpPr>
          <p:spPr>
            <a:xfrm>
              <a:off x="1835696" y="2827791"/>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58 Conector recto"/>
            <p:cNvCxnSpPr/>
            <p:nvPr/>
          </p:nvCxnSpPr>
          <p:spPr>
            <a:xfrm>
              <a:off x="1835696" y="3073865"/>
              <a:ext cx="2222449" cy="0"/>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62" name="61 Conector recto"/>
          <p:cNvCxnSpPr/>
          <p:nvPr/>
        </p:nvCxnSpPr>
        <p:spPr>
          <a:xfrm flipV="1">
            <a:off x="2442369" y="4940945"/>
            <a:ext cx="1265535" cy="20612"/>
          </a:xfrm>
          <a:prstGeom prst="line">
            <a:avLst/>
          </a:prstGeom>
          <a:ln w="31750">
            <a:solidFill>
              <a:schemeClr val="tx1"/>
            </a:solidFill>
            <a:tailEnd w="lg" len="lg"/>
          </a:ln>
        </p:spPr>
        <p:style>
          <a:lnRef idx="1">
            <a:schemeClr val="accent1"/>
          </a:lnRef>
          <a:fillRef idx="0">
            <a:schemeClr val="accent1"/>
          </a:fillRef>
          <a:effectRef idx="0">
            <a:schemeClr val="accent1"/>
          </a:effectRef>
          <a:fontRef idx="minor">
            <a:schemeClr val="tx1"/>
          </a:fontRef>
        </p:style>
      </p:cxnSp>
      <p:grpSp>
        <p:nvGrpSpPr>
          <p:cNvPr id="35" name="34 Grupo"/>
          <p:cNvGrpSpPr/>
          <p:nvPr/>
        </p:nvGrpSpPr>
        <p:grpSpPr>
          <a:xfrm>
            <a:off x="4806422" y="1381717"/>
            <a:ext cx="360040" cy="1468068"/>
            <a:chOff x="4043887" y="3001322"/>
            <a:chExt cx="360040" cy="1363782"/>
          </a:xfrm>
        </p:grpSpPr>
        <p:sp>
          <p:nvSpPr>
            <p:cNvPr id="36" name="35 Triángulo isósceles"/>
            <p:cNvSpPr/>
            <p:nvPr/>
          </p:nvSpPr>
          <p:spPr>
            <a:xfrm>
              <a:off x="4043887" y="3001322"/>
              <a:ext cx="360040" cy="31318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a:p>
          </p:txBody>
        </p:sp>
        <p:cxnSp>
          <p:nvCxnSpPr>
            <p:cNvPr id="37" name="36 Conector recto"/>
            <p:cNvCxnSpPr>
              <a:stCxn id="36" idx="3"/>
            </p:cNvCxnSpPr>
            <p:nvPr/>
          </p:nvCxnSpPr>
          <p:spPr>
            <a:xfrm>
              <a:off x="4223907" y="3314506"/>
              <a:ext cx="0" cy="105059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37 Grupo"/>
          <p:cNvGrpSpPr/>
          <p:nvPr/>
        </p:nvGrpSpPr>
        <p:grpSpPr>
          <a:xfrm>
            <a:off x="2855293" y="3396710"/>
            <a:ext cx="360040" cy="1564847"/>
            <a:chOff x="4043887" y="3001322"/>
            <a:chExt cx="360040" cy="1363782"/>
          </a:xfrm>
        </p:grpSpPr>
        <p:sp>
          <p:nvSpPr>
            <p:cNvPr id="39" name="38 Triángulo isósceles"/>
            <p:cNvSpPr/>
            <p:nvPr/>
          </p:nvSpPr>
          <p:spPr>
            <a:xfrm>
              <a:off x="4043887" y="3001322"/>
              <a:ext cx="360040" cy="31318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a:p>
          </p:txBody>
        </p:sp>
        <p:cxnSp>
          <p:nvCxnSpPr>
            <p:cNvPr id="40" name="39 Conector recto"/>
            <p:cNvCxnSpPr>
              <a:stCxn id="39" idx="3"/>
            </p:cNvCxnSpPr>
            <p:nvPr/>
          </p:nvCxnSpPr>
          <p:spPr>
            <a:xfrm>
              <a:off x="4223907" y="3314506"/>
              <a:ext cx="0" cy="105059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345278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SV"/>
          </a:p>
        </p:txBody>
      </p:sp>
      <p:pic>
        <p:nvPicPr>
          <p:cNvPr id="5" name="4 Marcador de contenido" descr="http://users.dcc.uchile.cl/~psalinas/uml/img/modelo/herencia2.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657" y="1412776"/>
            <a:ext cx="6264696" cy="4320479"/>
          </a:xfrm>
          <a:prstGeom prst="rect">
            <a:avLst/>
          </a:prstGeom>
          <a:noFill/>
          <a:ln>
            <a:noFill/>
          </a:ln>
        </p:spPr>
      </p:pic>
    </p:spTree>
    <p:extLst>
      <p:ext uri="{BB962C8B-B14F-4D97-AF65-F5344CB8AC3E}">
        <p14:creationId xmlns:p14="http://schemas.microsoft.com/office/powerpoint/2010/main" val="29871349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5720" y="2143116"/>
            <a:ext cx="8229600" cy="1143000"/>
          </a:xfrm>
        </p:spPr>
        <p:txBody>
          <a:bodyPr>
            <a:normAutofit/>
          </a:bodyPr>
          <a:lstStyle/>
          <a:p>
            <a:r>
              <a:rPr lang="es-ES" b="1" dirty="0"/>
              <a:t>D. DIAGRAMA DE CASOS DE USO:</a:t>
            </a:r>
            <a:endParaRPr lang="es-E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78C41-18C5-89B9-2541-3478ECB75019}"/>
              </a:ext>
            </a:extLst>
          </p:cNvPr>
          <p:cNvSpPr>
            <a:spLocks noGrp="1"/>
          </p:cNvSpPr>
          <p:nvPr>
            <p:ph type="title"/>
          </p:nvPr>
        </p:nvSpPr>
        <p:spPr/>
        <p:txBody>
          <a:bodyPr/>
          <a:lstStyle/>
          <a:p>
            <a:endParaRPr lang="en-EC"/>
          </a:p>
        </p:txBody>
      </p:sp>
      <p:sp>
        <p:nvSpPr>
          <p:cNvPr id="3" name="Content Placeholder 2">
            <a:extLst>
              <a:ext uri="{FF2B5EF4-FFF2-40B4-BE49-F238E27FC236}">
                <a16:creationId xmlns:a16="http://schemas.microsoft.com/office/drawing/2014/main" id="{288FB7A5-2525-F5ED-71AE-54A1851ADDC0}"/>
              </a:ext>
            </a:extLst>
          </p:cNvPr>
          <p:cNvSpPr>
            <a:spLocks noGrp="1"/>
          </p:cNvSpPr>
          <p:nvPr>
            <p:ph idx="1"/>
          </p:nvPr>
        </p:nvSpPr>
        <p:spPr/>
        <p:txBody>
          <a:bodyPr>
            <a:normAutofit fontScale="85000" lnSpcReduction="10000"/>
          </a:bodyPr>
          <a:lstStyle/>
          <a:p>
            <a:r>
              <a:rPr lang="es-ES" dirty="0"/>
              <a:t>Los diagramas de clases proporcionan una idea estática del sistema. Ahora veremos a los diagramas que establecen una idea dinámica, es decir que cambian con el tiempo.</a:t>
            </a:r>
          </a:p>
          <a:p>
            <a:r>
              <a:rPr lang="es-ES" dirty="0"/>
              <a:t>Las ideas estáticas ayudan a que un analista se comunique con el cliente. La idea dinámica ayudará al analista a comunicarse con un grupo de desarrolladores, y ayudará a estos últimos a crear programas.</a:t>
            </a:r>
          </a:p>
          <a:p>
            <a:r>
              <a:rPr lang="es-ES" dirty="0"/>
              <a:t>El modelado de un sistema desde el punto de vista de un usuario es el trabajo de los casos de uso.</a:t>
            </a:r>
          </a:p>
          <a:p>
            <a:endParaRPr lang="en-EC" dirty="0"/>
          </a:p>
        </p:txBody>
      </p:sp>
      <p:sp>
        <p:nvSpPr>
          <p:cNvPr id="4" name="Footer Placeholder 3">
            <a:extLst>
              <a:ext uri="{FF2B5EF4-FFF2-40B4-BE49-F238E27FC236}">
                <a16:creationId xmlns:a16="http://schemas.microsoft.com/office/drawing/2014/main" id="{45D0D0F7-4FD2-8D7E-C5FB-40BB5D8D0542}"/>
              </a:ext>
            </a:extLst>
          </p:cNvPr>
          <p:cNvSpPr>
            <a:spLocks noGrp="1"/>
          </p:cNvSpPr>
          <p:nvPr>
            <p:ph type="ftr" sz="quarter" idx="11"/>
          </p:nvPr>
        </p:nvSpPr>
        <p:spPr/>
        <p:txBody>
          <a:bodyPr/>
          <a:lstStyle/>
          <a:p>
            <a:r>
              <a:rPr lang="es-SV"/>
              <a:t>Programación I/2019. Ing. Asencio</a:t>
            </a:r>
          </a:p>
        </p:txBody>
      </p:sp>
    </p:spTree>
    <p:extLst>
      <p:ext uri="{BB962C8B-B14F-4D97-AF65-F5344CB8AC3E}">
        <p14:creationId xmlns:p14="http://schemas.microsoft.com/office/powerpoint/2010/main" val="15646393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357166"/>
            <a:ext cx="8229600" cy="846980"/>
          </a:xfrm>
        </p:spPr>
        <p:txBody>
          <a:bodyPr/>
          <a:lstStyle/>
          <a:p>
            <a:r>
              <a:rPr lang="es-ES" dirty="0"/>
              <a:t>¿Qué son los casos de uso?</a:t>
            </a:r>
          </a:p>
        </p:txBody>
      </p:sp>
      <p:sp>
        <p:nvSpPr>
          <p:cNvPr id="3" name="2 Marcador de contenido"/>
          <p:cNvSpPr>
            <a:spLocks noGrp="1"/>
          </p:cNvSpPr>
          <p:nvPr>
            <p:ph idx="1"/>
          </p:nvPr>
        </p:nvSpPr>
        <p:spPr>
          <a:xfrm>
            <a:off x="457200" y="1285860"/>
            <a:ext cx="8229600" cy="5038740"/>
          </a:xfrm>
        </p:spPr>
        <p:txBody>
          <a:bodyPr>
            <a:normAutofit fontScale="92500" lnSpcReduction="20000"/>
          </a:bodyPr>
          <a:lstStyle/>
          <a:p>
            <a:pPr algn="just"/>
            <a:r>
              <a:rPr lang="es-ES" dirty="0"/>
              <a:t>Es una estructura que ayuda a los analistas a trabajar con los usuarios para determinar la forma en que se usará un sistema. Con una colección de casos de uso se puede hacer el bosquejo de un sistema en términos de lo que los usuarios intentan hacer con él.</a:t>
            </a:r>
          </a:p>
          <a:p>
            <a:pPr algn="just"/>
            <a:endParaRPr lang="es-ES" dirty="0"/>
          </a:p>
          <a:p>
            <a:pPr algn="just"/>
            <a:r>
              <a:rPr lang="es-ES" dirty="0"/>
              <a:t>Este tipo de análisis es crucial para la fase de análisis del desarrollo de un sistema. La forma en que los usuarios utilicen un sistema le da la pauta para lo que diseñará y creará. De lo que se trata es de obtener un sistema que cumpla nuestras necesidades.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28596" y="642918"/>
            <a:ext cx="8229600" cy="846980"/>
          </a:xfrm>
        </p:spPr>
        <p:txBody>
          <a:bodyPr>
            <a:normAutofit/>
          </a:bodyPr>
          <a:lstStyle/>
          <a:p>
            <a:r>
              <a:rPr lang="es-ES" dirty="0"/>
              <a:t>Importancia de los Casos de Uso:</a:t>
            </a:r>
          </a:p>
        </p:txBody>
      </p:sp>
      <p:sp>
        <p:nvSpPr>
          <p:cNvPr id="3" name="2 Marcador de contenido"/>
          <p:cNvSpPr>
            <a:spLocks noGrp="1"/>
          </p:cNvSpPr>
          <p:nvPr>
            <p:ph idx="1"/>
          </p:nvPr>
        </p:nvSpPr>
        <p:spPr>
          <a:xfrm>
            <a:off x="457200" y="1571612"/>
            <a:ext cx="8229600" cy="4752988"/>
          </a:xfrm>
        </p:spPr>
        <p:txBody>
          <a:bodyPr/>
          <a:lstStyle/>
          <a:p>
            <a:pPr algn="just"/>
            <a:endParaRPr lang="es-ES" dirty="0"/>
          </a:p>
          <a:p>
            <a:pPr algn="just"/>
            <a:r>
              <a:rPr lang="es-ES" dirty="0"/>
              <a:t>La importancia de los casos de uso radica en que se diseña el sistema desde el propio punto de vista del usuario. La idea es involucrar a los usuarios en las etapas iniciales del análisis y diseño del sistema.</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Representación de un modelo de Caso de Uso:</a:t>
            </a:r>
          </a:p>
        </p:txBody>
      </p:sp>
      <p:grpSp>
        <p:nvGrpSpPr>
          <p:cNvPr id="34" name="33 Grupo"/>
          <p:cNvGrpSpPr/>
          <p:nvPr/>
        </p:nvGrpSpPr>
        <p:grpSpPr>
          <a:xfrm>
            <a:off x="1000100" y="2500306"/>
            <a:ext cx="6858048" cy="3155414"/>
            <a:chOff x="1000100" y="2500306"/>
            <a:chExt cx="6858048" cy="3155414"/>
          </a:xfrm>
        </p:grpSpPr>
        <p:grpSp>
          <p:nvGrpSpPr>
            <p:cNvPr id="14" name="13 Grupo"/>
            <p:cNvGrpSpPr/>
            <p:nvPr/>
          </p:nvGrpSpPr>
          <p:grpSpPr>
            <a:xfrm>
              <a:off x="1142976" y="2500306"/>
              <a:ext cx="1357322" cy="2428892"/>
              <a:chOff x="1714480" y="2500306"/>
              <a:chExt cx="1357322" cy="2428892"/>
            </a:xfrm>
          </p:grpSpPr>
          <p:cxnSp>
            <p:nvCxnSpPr>
              <p:cNvPr id="5"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10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3" name="12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14 CuadroTexto"/>
            <p:cNvSpPr txBox="1"/>
            <p:nvPr/>
          </p:nvSpPr>
          <p:spPr>
            <a:xfrm>
              <a:off x="1000100" y="5143512"/>
              <a:ext cx="1643074" cy="369332"/>
            </a:xfrm>
            <a:prstGeom prst="rect">
              <a:avLst/>
            </a:prstGeom>
            <a:noFill/>
          </p:spPr>
          <p:txBody>
            <a:bodyPr wrap="square" rtlCol="0">
              <a:spAutoFit/>
            </a:bodyPr>
            <a:lstStyle/>
            <a:p>
              <a:pPr algn="ctr"/>
              <a:r>
                <a:rPr lang="es-ES" dirty="0"/>
                <a:t>Actor</a:t>
              </a:r>
            </a:p>
          </p:txBody>
        </p:sp>
        <p:grpSp>
          <p:nvGrpSpPr>
            <p:cNvPr id="16" name="15 Grupo"/>
            <p:cNvGrpSpPr/>
            <p:nvPr/>
          </p:nvGrpSpPr>
          <p:grpSpPr>
            <a:xfrm>
              <a:off x="6357950" y="2500306"/>
              <a:ext cx="1357322" cy="2428892"/>
              <a:chOff x="1714480" y="2500306"/>
              <a:chExt cx="1357322" cy="2428892"/>
            </a:xfrm>
          </p:grpSpPr>
          <p:cxnSp>
            <p:nvCxnSpPr>
              <p:cNvPr id="17" name="16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19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1" name="20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21 CuadroTexto"/>
            <p:cNvSpPr txBox="1"/>
            <p:nvPr/>
          </p:nvSpPr>
          <p:spPr>
            <a:xfrm>
              <a:off x="6215074" y="5286388"/>
              <a:ext cx="1643074" cy="369332"/>
            </a:xfrm>
            <a:prstGeom prst="rect">
              <a:avLst/>
            </a:prstGeom>
            <a:noFill/>
          </p:spPr>
          <p:txBody>
            <a:bodyPr wrap="square" rtlCol="0">
              <a:spAutoFit/>
            </a:bodyPr>
            <a:lstStyle/>
            <a:p>
              <a:pPr algn="ctr"/>
              <a:r>
                <a:rPr lang="es-ES" dirty="0"/>
                <a:t>Actor</a:t>
              </a:r>
            </a:p>
          </p:txBody>
        </p:sp>
        <p:grpSp>
          <p:nvGrpSpPr>
            <p:cNvPr id="26" name="25 Grupo"/>
            <p:cNvGrpSpPr/>
            <p:nvPr/>
          </p:nvGrpSpPr>
          <p:grpSpPr>
            <a:xfrm>
              <a:off x="3143240" y="2786058"/>
              <a:ext cx="2643206" cy="1714512"/>
              <a:chOff x="3357554" y="2928934"/>
              <a:chExt cx="2643206" cy="1714512"/>
            </a:xfrm>
          </p:grpSpPr>
          <p:sp>
            <p:nvSpPr>
              <p:cNvPr id="23" name="22 Rectángulo"/>
              <p:cNvSpPr/>
              <p:nvPr/>
            </p:nvSpPr>
            <p:spPr>
              <a:xfrm>
                <a:off x="3357554" y="2928934"/>
                <a:ext cx="2643206" cy="17145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4" name="23 Elipse"/>
              <p:cNvSpPr/>
              <p:nvPr/>
            </p:nvSpPr>
            <p:spPr>
              <a:xfrm>
                <a:off x="3643306" y="3357562"/>
                <a:ext cx="2143140" cy="92869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Caso de Uso</a:t>
                </a:r>
              </a:p>
            </p:txBody>
          </p:sp>
          <p:sp>
            <p:nvSpPr>
              <p:cNvPr id="25" name="24 CuadroTexto"/>
              <p:cNvSpPr txBox="1"/>
              <p:nvPr/>
            </p:nvSpPr>
            <p:spPr>
              <a:xfrm>
                <a:off x="3357554" y="3000372"/>
                <a:ext cx="1000132" cy="369332"/>
              </a:xfrm>
              <a:prstGeom prst="rect">
                <a:avLst/>
              </a:prstGeom>
              <a:noFill/>
            </p:spPr>
            <p:txBody>
              <a:bodyPr wrap="square" rtlCol="0">
                <a:spAutoFit/>
              </a:bodyPr>
              <a:lstStyle/>
              <a:p>
                <a:r>
                  <a:rPr lang="es-ES" dirty="0"/>
                  <a:t>Sistema</a:t>
                </a:r>
              </a:p>
            </p:txBody>
          </p:sp>
        </p:grpSp>
        <p:cxnSp>
          <p:nvCxnSpPr>
            <p:cNvPr id="31" name="30 Conector recto"/>
            <p:cNvCxnSpPr>
              <a:stCxn id="24" idx="2"/>
            </p:cNvCxnSpPr>
            <p:nvPr/>
          </p:nvCxnSpPr>
          <p:spPr>
            <a:xfrm rot="10800000">
              <a:off x="1857356" y="3643315"/>
              <a:ext cx="1571636" cy="357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32 Conector recto"/>
            <p:cNvCxnSpPr>
              <a:stCxn id="24" idx="6"/>
            </p:cNvCxnSpPr>
            <p:nvPr/>
          </p:nvCxnSpPr>
          <p:spPr>
            <a:xfrm>
              <a:off x="5572132" y="3679033"/>
              <a:ext cx="1500198" cy="357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500042"/>
            <a:ext cx="8229600" cy="704104"/>
          </a:xfrm>
        </p:spPr>
        <p:txBody>
          <a:bodyPr>
            <a:normAutofit fontScale="90000"/>
          </a:bodyPr>
          <a:lstStyle/>
          <a:p>
            <a:r>
              <a:rPr lang="es-ES" sz="4900" b="1" dirty="0"/>
              <a:t>UN EJEMPLO: </a:t>
            </a:r>
            <a:r>
              <a:rPr lang="es-ES" sz="4400" dirty="0"/>
              <a:t>La máquina de gaseosa</a:t>
            </a:r>
            <a:endParaRPr lang="es-ES" dirty="0"/>
          </a:p>
        </p:txBody>
      </p:sp>
      <p:pic>
        <p:nvPicPr>
          <p:cNvPr id="4" name="3 Imagen" descr="Picture2.jpg"/>
          <p:cNvPicPr>
            <a:picLocks noChangeAspect="1"/>
          </p:cNvPicPr>
          <p:nvPr/>
        </p:nvPicPr>
        <p:blipFill>
          <a:blip r:embed="rId2"/>
          <a:stretch>
            <a:fillRect/>
          </a:stretch>
        </p:blipFill>
        <p:spPr>
          <a:xfrm>
            <a:off x="285720" y="1857364"/>
            <a:ext cx="4572032" cy="4045615"/>
          </a:xfrm>
          <a:prstGeom prst="rect">
            <a:avLst/>
          </a:prstGeom>
        </p:spPr>
      </p:pic>
      <p:sp>
        <p:nvSpPr>
          <p:cNvPr id="5" name="4 CuadroTexto"/>
          <p:cNvSpPr txBox="1"/>
          <p:nvPr/>
        </p:nvSpPr>
        <p:spPr>
          <a:xfrm>
            <a:off x="4786314" y="1643050"/>
            <a:ext cx="4071935" cy="4493538"/>
          </a:xfrm>
          <a:prstGeom prst="rect">
            <a:avLst/>
          </a:prstGeom>
          <a:noFill/>
        </p:spPr>
        <p:txBody>
          <a:bodyPr wrap="square" rtlCol="0">
            <a:spAutoFit/>
          </a:bodyPr>
          <a:lstStyle/>
          <a:p>
            <a:pPr algn="just"/>
            <a:r>
              <a:rPr lang="es-ES" sz="2200" dirty="0"/>
              <a:t>La función principal de la máquina de gaseosa es permitir a un cliente (autor) adquirir una lata de gaseosa: “Comprar gaseosa” (caso de uso).</a:t>
            </a:r>
          </a:p>
          <a:p>
            <a:pPr algn="just"/>
            <a:endParaRPr lang="es-ES" sz="2200" dirty="0"/>
          </a:p>
          <a:p>
            <a:pPr algn="just"/>
            <a:r>
              <a:rPr lang="es-ES" sz="2200" dirty="0"/>
              <a:t>Sin embargo hay otros usuarios que intervienen, como el proveedor que tiene que reabastecer a la máquina y el recolector de dinero que tiene que recoger el dinero de la alcancía de la máquina.</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73 Grupo"/>
          <p:cNvGrpSpPr/>
          <p:nvPr/>
        </p:nvGrpSpPr>
        <p:grpSpPr>
          <a:xfrm>
            <a:off x="500034" y="285728"/>
            <a:ext cx="8001056" cy="6298686"/>
            <a:chOff x="571472" y="357166"/>
            <a:chExt cx="8001056" cy="6298686"/>
          </a:xfrm>
        </p:grpSpPr>
        <p:grpSp>
          <p:nvGrpSpPr>
            <p:cNvPr id="5" name="13 Grupo"/>
            <p:cNvGrpSpPr/>
            <p:nvPr/>
          </p:nvGrpSpPr>
          <p:grpSpPr>
            <a:xfrm>
              <a:off x="1000100" y="642918"/>
              <a:ext cx="785818" cy="1571636"/>
              <a:chOff x="1714480" y="2500306"/>
              <a:chExt cx="1357322" cy="2428892"/>
            </a:xfrm>
          </p:grpSpPr>
          <p:cxnSp>
            <p:nvCxnSpPr>
              <p:cNvPr id="20"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21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22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4" name="23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7 CuadroTexto"/>
            <p:cNvSpPr txBox="1"/>
            <p:nvPr/>
          </p:nvSpPr>
          <p:spPr>
            <a:xfrm>
              <a:off x="571472" y="2214554"/>
              <a:ext cx="1643074" cy="369332"/>
            </a:xfrm>
            <a:prstGeom prst="rect">
              <a:avLst/>
            </a:prstGeom>
            <a:noFill/>
          </p:spPr>
          <p:txBody>
            <a:bodyPr wrap="square" rtlCol="0">
              <a:spAutoFit/>
            </a:bodyPr>
            <a:lstStyle/>
            <a:p>
              <a:pPr algn="ctr"/>
              <a:r>
                <a:rPr lang="es-ES" dirty="0"/>
                <a:t>Cliente</a:t>
              </a:r>
            </a:p>
          </p:txBody>
        </p:sp>
        <p:sp>
          <p:nvSpPr>
            <p:cNvPr id="12" name="11 Rectángulo"/>
            <p:cNvSpPr/>
            <p:nvPr/>
          </p:nvSpPr>
          <p:spPr>
            <a:xfrm>
              <a:off x="3143240" y="357166"/>
              <a:ext cx="2643206" cy="62151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 name="12 Elipse"/>
            <p:cNvSpPr/>
            <p:nvPr/>
          </p:nvSpPr>
          <p:spPr>
            <a:xfrm>
              <a:off x="3428992" y="928670"/>
              <a:ext cx="2143140" cy="1160869"/>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Comprar Gaseosa</a:t>
              </a:r>
            </a:p>
          </p:txBody>
        </p:sp>
        <p:sp>
          <p:nvSpPr>
            <p:cNvPr id="14" name="13 CuadroTexto"/>
            <p:cNvSpPr txBox="1"/>
            <p:nvPr/>
          </p:nvSpPr>
          <p:spPr>
            <a:xfrm>
              <a:off x="3214678" y="428604"/>
              <a:ext cx="2500330" cy="369332"/>
            </a:xfrm>
            <a:prstGeom prst="rect">
              <a:avLst/>
            </a:prstGeom>
            <a:noFill/>
          </p:spPr>
          <p:txBody>
            <a:bodyPr wrap="square" rtlCol="0">
              <a:spAutoFit/>
            </a:bodyPr>
            <a:lstStyle/>
            <a:p>
              <a:pPr algn="ctr"/>
              <a:r>
                <a:rPr lang="es-ES" dirty="0"/>
                <a:t>Maquina de Gaseosas</a:t>
              </a:r>
            </a:p>
          </p:txBody>
        </p:sp>
        <p:sp>
          <p:nvSpPr>
            <p:cNvPr id="27" name="26 Elipse"/>
            <p:cNvSpPr/>
            <p:nvPr/>
          </p:nvSpPr>
          <p:spPr>
            <a:xfrm>
              <a:off x="3428992" y="2857496"/>
              <a:ext cx="2143140" cy="1160869"/>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Reabastecer</a:t>
              </a:r>
            </a:p>
          </p:txBody>
        </p:sp>
        <p:sp>
          <p:nvSpPr>
            <p:cNvPr id="28" name="27 Elipse"/>
            <p:cNvSpPr/>
            <p:nvPr/>
          </p:nvSpPr>
          <p:spPr>
            <a:xfrm>
              <a:off x="3428992" y="4786322"/>
              <a:ext cx="2143140" cy="1160869"/>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Recolectar dinero</a:t>
              </a:r>
            </a:p>
          </p:txBody>
        </p:sp>
        <p:grpSp>
          <p:nvGrpSpPr>
            <p:cNvPr id="29" name="13 Grupo"/>
            <p:cNvGrpSpPr/>
            <p:nvPr/>
          </p:nvGrpSpPr>
          <p:grpSpPr>
            <a:xfrm>
              <a:off x="1000100" y="4786322"/>
              <a:ext cx="785818" cy="1428760"/>
              <a:chOff x="1714480" y="2500306"/>
              <a:chExt cx="1357322" cy="2428892"/>
            </a:xfrm>
          </p:grpSpPr>
          <p:cxnSp>
            <p:nvCxnSpPr>
              <p:cNvPr id="30"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32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4" name="33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13 Grupo"/>
            <p:cNvGrpSpPr/>
            <p:nvPr/>
          </p:nvGrpSpPr>
          <p:grpSpPr>
            <a:xfrm>
              <a:off x="1000100" y="2643182"/>
              <a:ext cx="785818" cy="1500198"/>
              <a:chOff x="1714480" y="2500306"/>
              <a:chExt cx="1357322" cy="2428892"/>
            </a:xfrm>
          </p:grpSpPr>
          <p:cxnSp>
            <p:nvCxnSpPr>
              <p:cNvPr id="36"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37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38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0" name="39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1" name="40 CuadroTexto"/>
            <p:cNvSpPr txBox="1"/>
            <p:nvPr/>
          </p:nvSpPr>
          <p:spPr>
            <a:xfrm>
              <a:off x="571472" y="4143380"/>
              <a:ext cx="1643074" cy="646331"/>
            </a:xfrm>
            <a:prstGeom prst="rect">
              <a:avLst/>
            </a:prstGeom>
            <a:noFill/>
          </p:spPr>
          <p:txBody>
            <a:bodyPr wrap="square" rtlCol="0">
              <a:spAutoFit/>
            </a:bodyPr>
            <a:lstStyle/>
            <a:p>
              <a:pPr algn="ctr"/>
              <a:r>
                <a:rPr lang="es-ES" dirty="0"/>
                <a:t>Representante del Proveedor</a:t>
              </a:r>
            </a:p>
          </p:txBody>
        </p:sp>
        <p:sp>
          <p:nvSpPr>
            <p:cNvPr id="42" name="41 CuadroTexto"/>
            <p:cNvSpPr txBox="1"/>
            <p:nvPr/>
          </p:nvSpPr>
          <p:spPr>
            <a:xfrm>
              <a:off x="642910" y="6215082"/>
              <a:ext cx="1643074" cy="369332"/>
            </a:xfrm>
            <a:prstGeom prst="rect">
              <a:avLst/>
            </a:prstGeom>
            <a:noFill/>
          </p:spPr>
          <p:txBody>
            <a:bodyPr wrap="square" rtlCol="0">
              <a:spAutoFit/>
            </a:bodyPr>
            <a:lstStyle/>
            <a:p>
              <a:pPr algn="ctr"/>
              <a:r>
                <a:rPr lang="es-ES" dirty="0"/>
                <a:t>Recolector</a:t>
              </a:r>
            </a:p>
          </p:txBody>
        </p:sp>
        <p:grpSp>
          <p:nvGrpSpPr>
            <p:cNvPr id="43" name="13 Grupo"/>
            <p:cNvGrpSpPr/>
            <p:nvPr/>
          </p:nvGrpSpPr>
          <p:grpSpPr>
            <a:xfrm>
              <a:off x="7286644" y="714356"/>
              <a:ext cx="785818" cy="1571636"/>
              <a:chOff x="1714480" y="2500306"/>
              <a:chExt cx="1357322" cy="2428892"/>
            </a:xfrm>
          </p:grpSpPr>
          <p:cxnSp>
            <p:nvCxnSpPr>
              <p:cNvPr id="44"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45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46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8" name="47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48 CuadroTexto"/>
            <p:cNvSpPr txBox="1"/>
            <p:nvPr/>
          </p:nvSpPr>
          <p:spPr>
            <a:xfrm>
              <a:off x="6858016" y="2285992"/>
              <a:ext cx="1643074" cy="369332"/>
            </a:xfrm>
            <a:prstGeom prst="rect">
              <a:avLst/>
            </a:prstGeom>
            <a:noFill/>
          </p:spPr>
          <p:txBody>
            <a:bodyPr wrap="square" rtlCol="0">
              <a:spAutoFit/>
            </a:bodyPr>
            <a:lstStyle/>
            <a:p>
              <a:pPr algn="ctr"/>
              <a:r>
                <a:rPr lang="es-ES" dirty="0"/>
                <a:t>Cliente</a:t>
              </a:r>
            </a:p>
          </p:txBody>
        </p:sp>
        <p:grpSp>
          <p:nvGrpSpPr>
            <p:cNvPr id="50" name="13 Grupo"/>
            <p:cNvGrpSpPr/>
            <p:nvPr/>
          </p:nvGrpSpPr>
          <p:grpSpPr>
            <a:xfrm>
              <a:off x="7286644" y="4857760"/>
              <a:ext cx="785818" cy="1428760"/>
              <a:chOff x="1714480" y="2500306"/>
              <a:chExt cx="1357322" cy="2428892"/>
            </a:xfrm>
          </p:grpSpPr>
          <p:cxnSp>
            <p:nvCxnSpPr>
              <p:cNvPr id="51"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52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53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55" name="54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 name="13 Grupo"/>
            <p:cNvGrpSpPr/>
            <p:nvPr/>
          </p:nvGrpSpPr>
          <p:grpSpPr>
            <a:xfrm>
              <a:off x="7286644" y="2714620"/>
              <a:ext cx="785818" cy="1500198"/>
              <a:chOff x="1714480" y="2500306"/>
              <a:chExt cx="1357322" cy="2428892"/>
            </a:xfrm>
          </p:grpSpPr>
          <p:cxnSp>
            <p:nvCxnSpPr>
              <p:cNvPr id="57"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58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59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61" name="60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2" name="61 CuadroTexto"/>
            <p:cNvSpPr txBox="1"/>
            <p:nvPr/>
          </p:nvSpPr>
          <p:spPr>
            <a:xfrm>
              <a:off x="6858016" y="4214818"/>
              <a:ext cx="1643074" cy="646331"/>
            </a:xfrm>
            <a:prstGeom prst="rect">
              <a:avLst/>
            </a:prstGeom>
            <a:noFill/>
          </p:spPr>
          <p:txBody>
            <a:bodyPr wrap="square" rtlCol="0">
              <a:spAutoFit/>
            </a:bodyPr>
            <a:lstStyle/>
            <a:p>
              <a:pPr algn="ctr"/>
              <a:r>
                <a:rPr lang="es-ES" dirty="0"/>
                <a:t>Representante del Proveedor</a:t>
              </a:r>
            </a:p>
          </p:txBody>
        </p:sp>
        <p:sp>
          <p:nvSpPr>
            <p:cNvPr id="63" name="62 CuadroTexto"/>
            <p:cNvSpPr txBox="1"/>
            <p:nvPr/>
          </p:nvSpPr>
          <p:spPr>
            <a:xfrm>
              <a:off x="6929454" y="6286520"/>
              <a:ext cx="1643074" cy="369332"/>
            </a:xfrm>
            <a:prstGeom prst="rect">
              <a:avLst/>
            </a:prstGeom>
            <a:noFill/>
          </p:spPr>
          <p:txBody>
            <a:bodyPr wrap="square" rtlCol="0">
              <a:spAutoFit/>
            </a:bodyPr>
            <a:lstStyle/>
            <a:p>
              <a:pPr algn="ctr"/>
              <a:r>
                <a:rPr lang="es-ES" dirty="0"/>
                <a:t>Recolector</a:t>
              </a:r>
            </a:p>
          </p:txBody>
        </p:sp>
        <p:cxnSp>
          <p:nvCxnSpPr>
            <p:cNvPr id="67" name="66 Conector recto"/>
            <p:cNvCxnSpPr>
              <a:endCxn id="13" idx="2"/>
            </p:cNvCxnSpPr>
            <p:nvPr/>
          </p:nvCxnSpPr>
          <p:spPr>
            <a:xfrm>
              <a:off x="1643042" y="1500174"/>
              <a:ext cx="1785950" cy="89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68 Conector recto"/>
            <p:cNvCxnSpPr/>
            <p:nvPr/>
          </p:nvCxnSpPr>
          <p:spPr>
            <a:xfrm>
              <a:off x="5572132" y="5429264"/>
              <a:ext cx="1785950" cy="89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69 Conector recto"/>
            <p:cNvCxnSpPr/>
            <p:nvPr/>
          </p:nvCxnSpPr>
          <p:spPr>
            <a:xfrm>
              <a:off x="5572132" y="3429000"/>
              <a:ext cx="1785950" cy="89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70 Conector recto"/>
            <p:cNvCxnSpPr/>
            <p:nvPr/>
          </p:nvCxnSpPr>
          <p:spPr>
            <a:xfrm>
              <a:off x="5572132" y="1500174"/>
              <a:ext cx="1785950" cy="89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71 Conector recto"/>
            <p:cNvCxnSpPr/>
            <p:nvPr/>
          </p:nvCxnSpPr>
          <p:spPr>
            <a:xfrm>
              <a:off x="1643042" y="5357826"/>
              <a:ext cx="1785950" cy="89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72 Conector recto"/>
            <p:cNvCxnSpPr/>
            <p:nvPr/>
          </p:nvCxnSpPr>
          <p:spPr>
            <a:xfrm>
              <a:off x="1643042" y="3429000"/>
              <a:ext cx="1785950" cy="89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500042"/>
            <a:ext cx="8229600" cy="846980"/>
          </a:xfrm>
        </p:spPr>
        <p:txBody>
          <a:bodyPr/>
          <a:lstStyle/>
          <a:p>
            <a:r>
              <a:rPr lang="es-ES" dirty="0"/>
              <a:t>Inclusión de los Casos de Uso:</a:t>
            </a:r>
          </a:p>
        </p:txBody>
      </p:sp>
      <p:sp>
        <p:nvSpPr>
          <p:cNvPr id="3" name="2 Marcador de contenido"/>
          <p:cNvSpPr>
            <a:spLocks noGrp="1"/>
          </p:cNvSpPr>
          <p:nvPr>
            <p:ph idx="1"/>
          </p:nvPr>
        </p:nvSpPr>
        <p:spPr>
          <a:xfrm>
            <a:off x="457200" y="1428736"/>
            <a:ext cx="8229600" cy="4895864"/>
          </a:xfrm>
        </p:spPr>
        <p:txBody>
          <a:bodyPr>
            <a:normAutofit fontScale="92500" lnSpcReduction="20000"/>
          </a:bodyPr>
          <a:lstStyle/>
          <a:p>
            <a:pPr algn="just"/>
            <a:r>
              <a:rPr lang="es-ES" dirty="0"/>
              <a:t>En los casos de uso “Reabastecer” y “Recolectar dinero” se pueden distinguir algunos pasos en común. Ambos empiezan con quitar seguro y abrir la máquina, y finalizan con el cierre de la máquina y su aseguramiento.</a:t>
            </a:r>
          </a:p>
          <a:p>
            <a:pPr algn="just"/>
            <a:endParaRPr lang="es-ES" dirty="0"/>
          </a:p>
          <a:p>
            <a:pPr algn="just"/>
            <a:r>
              <a:rPr lang="es-ES" dirty="0"/>
              <a:t>¿Podríamos eliminar  la duplicación de pasos de un caso de uso al otro? – Si podemos.</a:t>
            </a:r>
          </a:p>
          <a:p>
            <a:pPr algn="just"/>
            <a:endParaRPr lang="es-ES" dirty="0"/>
          </a:p>
          <a:p>
            <a:pPr algn="just"/>
            <a:r>
              <a:rPr lang="es-ES" dirty="0"/>
              <a:t>A la técnica de aprovechamiento de caso de uso se le conoce como INCLUSIÓN DE UN CASO DE USO.</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77 Grupo"/>
          <p:cNvGrpSpPr/>
          <p:nvPr/>
        </p:nvGrpSpPr>
        <p:grpSpPr>
          <a:xfrm>
            <a:off x="571472" y="214290"/>
            <a:ext cx="8079510" cy="6357982"/>
            <a:chOff x="142844" y="285728"/>
            <a:chExt cx="8079510" cy="6357982"/>
          </a:xfrm>
        </p:grpSpPr>
        <p:grpSp>
          <p:nvGrpSpPr>
            <p:cNvPr id="5" name="13 Grupo"/>
            <p:cNvGrpSpPr/>
            <p:nvPr/>
          </p:nvGrpSpPr>
          <p:grpSpPr>
            <a:xfrm>
              <a:off x="500034" y="571480"/>
              <a:ext cx="652248" cy="1232960"/>
              <a:chOff x="1714480" y="2500306"/>
              <a:chExt cx="1357322" cy="2428892"/>
            </a:xfrm>
          </p:grpSpPr>
          <p:cxnSp>
            <p:nvCxnSpPr>
              <p:cNvPr id="53"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54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55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57" name="56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5 CuadroTexto"/>
            <p:cNvSpPr txBox="1"/>
            <p:nvPr/>
          </p:nvSpPr>
          <p:spPr>
            <a:xfrm>
              <a:off x="142844" y="1857364"/>
              <a:ext cx="1364338" cy="307777"/>
            </a:xfrm>
            <a:prstGeom prst="rect">
              <a:avLst/>
            </a:prstGeom>
            <a:noFill/>
          </p:spPr>
          <p:txBody>
            <a:bodyPr wrap="square" rtlCol="0">
              <a:spAutoFit/>
            </a:bodyPr>
            <a:lstStyle/>
            <a:p>
              <a:pPr algn="ctr"/>
              <a:r>
                <a:rPr lang="es-ES" sz="1400" dirty="0"/>
                <a:t>Cliente</a:t>
              </a:r>
            </a:p>
          </p:txBody>
        </p:sp>
        <p:sp>
          <p:nvSpPr>
            <p:cNvPr id="7" name="6 Rectángulo"/>
            <p:cNvSpPr/>
            <p:nvPr/>
          </p:nvSpPr>
          <p:spPr>
            <a:xfrm>
              <a:off x="2285985" y="285728"/>
              <a:ext cx="3500462" cy="63579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p>
          </p:txBody>
        </p:sp>
        <p:sp>
          <p:nvSpPr>
            <p:cNvPr id="8" name="7 Elipse"/>
            <p:cNvSpPr/>
            <p:nvPr/>
          </p:nvSpPr>
          <p:spPr>
            <a:xfrm>
              <a:off x="2643174" y="642918"/>
              <a:ext cx="1779572" cy="91071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Comprar Gaseosa</a:t>
              </a:r>
            </a:p>
          </p:txBody>
        </p:sp>
        <p:sp>
          <p:nvSpPr>
            <p:cNvPr id="9" name="8 CuadroTexto"/>
            <p:cNvSpPr txBox="1"/>
            <p:nvPr/>
          </p:nvSpPr>
          <p:spPr>
            <a:xfrm>
              <a:off x="3067337" y="285728"/>
              <a:ext cx="2076167" cy="307777"/>
            </a:xfrm>
            <a:prstGeom prst="rect">
              <a:avLst/>
            </a:prstGeom>
            <a:noFill/>
          </p:spPr>
          <p:txBody>
            <a:bodyPr wrap="square" rtlCol="0">
              <a:spAutoFit/>
            </a:bodyPr>
            <a:lstStyle/>
            <a:p>
              <a:pPr algn="ctr"/>
              <a:r>
                <a:rPr lang="es-ES" sz="1400" dirty="0"/>
                <a:t>Maquina de Gaseosas</a:t>
              </a:r>
            </a:p>
          </p:txBody>
        </p:sp>
        <p:sp>
          <p:nvSpPr>
            <p:cNvPr id="11" name="10 Elipse"/>
            <p:cNvSpPr/>
            <p:nvPr/>
          </p:nvSpPr>
          <p:spPr>
            <a:xfrm>
              <a:off x="3929058" y="5786454"/>
              <a:ext cx="1779572" cy="57150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Cubrir el interior</a:t>
              </a:r>
            </a:p>
          </p:txBody>
        </p:sp>
        <p:grpSp>
          <p:nvGrpSpPr>
            <p:cNvPr id="12" name="13 Grupo"/>
            <p:cNvGrpSpPr/>
            <p:nvPr/>
          </p:nvGrpSpPr>
          <p:grpSpPr>
            <a:xfrm>
              <a:off x="705042" y="4737020"/>
              <a:ext cx="652248" cy="1120872"/>
              <a:chOff x="1714480" y="2500306"/>
              <a:chExt cx="1357322" cy="2428892"/>
            </a:xfrm>
          </p:grpSpPr>
          <p:cxnSp>
            <p:nvCxnSpPr>
              <p:cNvPr id="48"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49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50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52" name="51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13 Grupo"/>
            <p:cNvGrpSpPr/>
            <p:nvPr/>
          </p:nvGrpSpPr>
          <p:grpSpPr>
            <a:xfrm>
              <a:off x="571472" y="2285992"/>
              <a:ext cx="652248" cy="1176916"/>
              <a:chOff x="1714480" y="2500306"/>
              <a:chExt cx="1357322" cy="2428892"/>
            </a:xfrm>
          </p:grpSpPr>
          <p:cxnSp>
            <p:nvCxnSpPr>
              <p:cNvPr id="43"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44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45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47" name="46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13 CuadroTexto"/>
            <p:cNvSpPr txBox="1"/>
            <p:nvPr/>
          </p:nvSpPr>
          <p:spPr>
            <a:xfrm>
              <a:off x="214282" y="3500438"/>
              <a:ext cx="1364338" cy="523220"/>
            </a:xfrm>
            <a:prstGeom prst="rect">
              <a:avLst/>
            </a:prstGeom>
            <a:noFill/>
          </p:spPr>
          <p:txBody>
            <a:bodyPr wrap="square" rtlCol="0">
              <a:spAutoFit/>
            </a:bodyPr>
            <a:lstStyle/>
            <a:p>
              <a:pPr algn="ctr"/>
              <a:r>
                <a:rPr lang="es-ES" sz="1400" dirty="0"/>
                <a:t>Representante del Proveedor</a:t>
              </a:r>
            </a:p>
          </p:txBody>
        </p:sp>
        <p:sp>
          <p:nvSpPr>
            <p:cNvPr id="15" name="14 CuadroTexto"/>
            <p:cNvSpPr txBox="1"/>
            <p:nvPr/>
          </p:nvSpPr>
          <p:spPr>
            <a:xfrm>
              <a:off x="350142" y="5835867"/>
              <a:ext cx="1364338" cy="307777"/>
            </a:xfrm>
            <a:prstGeom prst="rect">
              <a:avLst/>
            </a:prstGeom>
            <a:noFill/>
          </p:spPr>
          <p:txBody>
            <a:bodyPr wrap="square" rtlCol="0">
              <a:spAutoFit/>
            </a:bodyPr>
            <a:lstStyle/>
            <a:p>
              <a:pPr algn="ctr"/>
              <a:r>
                <a:rPr lang="es-ES" sz="1400" dirty="0"/>
                <a:t>Recolector</a:t>
              </a:r>
            </a:p>
          </p:txBody>
        </p:sp>
        <p:grpSp>
          <p:nvGrpSpPr>
            <p:cNvPr id="16" name="13 Grupo"/>
            <p:cNvGrpSpPr/>
            <p:nvPr/>
          </p:nvGrpSpPr>
          <p:grpSpPr>
            <a:xfrm>
              <a:off x="7143768" y="481528"/>
              <a:ext cx="652248" cy="1232960"/>
              <a:chOff x="1714480" y="2500306"/>
              <a:chExt cx="1357322" cy="2428892"/>
            </a:xfrm>
          </p:grpSpPr>
          <p:cxnSp>
            <p:nvCxnSpPr>
              <p:cNvPr id="38"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39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40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42" name="41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16 CuadroTexto"/>
            <p:cNvSpPr txBox="1"/>
            <p:nvPr/>
          </p:nvSpPr>
          <p:spPr>
            <a:xfrm>
              <a:off x="6858016" y="1714488"/>
              <a:ext cx="1364338" cy="307777"/>
            </a:xfrm>
            <a:prstGeom prst="rect">
              <a:avLst/>
            </a:prstGeom>
            <a:noFill/>
          </p:spPr>
          <p:txBody>
            <a:bodyPr wrap="square" rtlCol="0">
              <a:spAutoFit/>
            </a:bodyPr>
            <a:lstStyle/>
            <a:p>
              <a:pPr algn="ctr"/>
              <a:r>
                <a:rPr lang="es-ES" sz="1400" dirty="0"/>
                <a:t>Cliente</a:t>
              </a:r>
            </a:p>
          </p:txBody>
        </p:sp>
        <p:grpSp>
          <p:nvGrpSpPr>
            <p:cNvPr id="18" name="13 Grupo"/>
            <p:cNvGrpSpPr/>
            <p:nvPr/>
          </p:nvGrpSpPr>
          <p:grpSpPr>
            <a:xfrm>
              <a:off x="7143768" y="4714884"/>
              <a:ext cx="652248" cy="1120872"/>
              <a:chOff x="1714480" y="2500306"/>
              <a:chExt cx="1357322" cy="2428892"/>
            </a:xfrm>
          </p:grpSpPr>
          <p:cxnSp>
            <p:nvCxnSpPr>
              <p:cNvPr id="33"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34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35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37" name="36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13 Grupo"/>
            <p:cNvGrpSpPr/>
            <p:nvPr/>
          </p:nvGrpSpPr>
          <p:grpSpPr>
            <a:xfrm>
              <a:off x="7143768" y="2285992"/>
              <a:ext cx="652248" cy="1176916"/>
              <a:chOff x="1714480" y="2500306"/>
              <a:chExt cx="1357322" cy="2428892"/>
            </a:xfrm>
          </p:grpSpPr>
          <p:cxnSp>
            <p:nvCxnSpPr>
              <p:cNvPr id="28"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29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30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32" name="31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19 CuadroTexto"/>
            <p:cNvSpPr txBox="1"/>
            <p:nvPr/>
          </p:nvSpPr>
          <p:spPr>
            <a:xfrm>
              <a:off x="6858016" y="3500438"/>
              <a:ext cx="1364338" cy="523220"/>
            </a:xfrm>
            <a:prstGeom prst="rect">
              <a:avLst/>
            </a:prstGeom>
            <a:noFill/>
          </p:spPr>
          <p:txBody>
            <a:bodyPr wrap="square" rtlCol="0">
              <a:spAutoFit/>
            </a:bodyPr>
            <a:lstStyle/>
            <a:p>
              <a:pPr algn="ctr"/>
              <a:r>
                <a:rPr lang="es-ES" sz="1400" dirty="0"/>
                <a:t>Representante del Proveedor</a:t>
              </a:r>
            </a:p>
          </p:txBody>
        </p:sp>
        <p:sp>
          <p:nvSpPr>
            <p:cNvPr id="21" name="20 CuadroTexto"/>
            <p:cNvSpPr txBox="1"/>
            <p:nvPr/>
          </p:nvSpPr>
          <p:spPr>
            <a:xfrm>
              <a:off x="6858016" y="5857892"/>
              <a:ext cx="1364338" cy="307777"/>
            </a:xfrm>
            <a:prstGeom prst="rect">
              <a:avLst/>
            </a:prstGeom>
            <a:noFill/>
          </p:spPr>
          <p:txBody>
            <a:bodyPr wrap="square" rtlCol="0">
              <a:spAutoFit/>
            </a:bodyPr>
            <a:lstStyle/>
            <a:p>
              <a:pPr algn="ctr"/>
              <a:r>
                <a:rPr lang="es-ES" sz="1400" dirty="0"/>
                <a:t>Recolector</a:t>
              </a:r>
            </a:p>
          </p:txBody>
        </p:sp>
        <p:cxnSp>
          <p:nvCxnSpPr>
            <p:cNvPr id="22" name="21 Conector recto"/>
            <p:cNvCxnSpPr>
              <a:endCxn id="8" idx="2"/>
            </p:cNvCxnSpPr>
            <p:nvPr/>
          </p:nvCxnSpPr>
          <p:spPr>
            <a:xfrm>
              <a:off x="1160198" y="1091267"/>
              <a:ext cx="1482976" cy="70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22 Conector recto"/>
            <p:cNvCxnSpPr/>
            <p:nvPr/>
          </p:nvCxnSpPr>
          <p:spPr>
            <a:xfrm>
              <a:off x="4497906" y="5214950"/>
              <a:ext cx="27173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a:off x="4429124" y="2786058"/>
              <a:ext cx="271464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24 Conector recto"/>
            <p:cNvCxnSpPr/>
            <p:nvPr/>
          </p:nvCxnSpPr>
          <p:spPr>
            <a:xfrm>
              <a:off x="4436407" y="1071546"/>
              <a:ext cx="269742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25 Conector recto"/>
            <p:cNvCxnSpPr/>
            <p:nvPr/>
          </p:nvCxnSpPr>
          <p:spPr>
            <a:xfrm>
              <a:off x="1234292" y="5207944"/>
              <a:ext cx="1482976" cy="70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1142976" y="2786058"/>
              <a:ext cx="1482976" cy="70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57 Elipse"/>
            <p:cNvSpPr/>
            <p:nvPr/>
          </p:nvSpPr>
          <p:spPr>
            <a:xfrm>
              <a:off x="3929058" y="4000504"/>
              <a:ext cx="1779572" cy="57150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Exhibir el interior</a:t>
              </a:r>
            </a:p>
          </p:txBody>
        </p:sp>
        <p:sp>
          <p:nvSpPr>
            <p:cNvPr id="59" name="58 Elipse"/>
            <p:cNvSpPr/>
            <p:nvPr/>
          </p:nvSpPr>
          <p:spPr>
            <a:xfrm>
              <a:off x="2714612" y="4929198"/>
              <a:ext cx="1779572" cy="57150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Recolectar dinero</a:t>
              </a:r>
            </a:p>
          </p:txBody>
        </p:sp>
        <p:cxnSp>
          <p:nvCxnSpPr>
            <p:cNvPr id="61" name="60 Conector recto de flecha"/>
            <p:cNvCxnSpPr/>
            <p:nvPr/>
          </p:nvCxnSpPr>
          <p:spPr>
            <a:xfrm flipV="1">
              <a:off x="3428992" y="4572008"/>
              <a:ext cx="1000132" cy="357190"/>
            </a:xfrm>
            <a:prstGeom prst="straightConnector1">
              <a:avLst/>
            </a:prstGeom>
            <a:ln w="2857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3" name="62 Conector recto de flecha"/>
            <p:cNvCxnSpPr/>
            <p:nvPr/>
          </p:nvCxnSpPr>
          <p:spPr>
            <a:xfrm>
              <a:off x="3357554" y="5500702"/>
              <a:ext cx="1000132" cy="285752"/>
            </a:xfrm>
            <a:prstGeom prst="straightConnector1">
              <a:avLst/>
            </a:prstGeom>
            <a:ln w="2857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6" name="65 Elipse"/>
            <p:cNvSpPr/>
            <p:nvPr/>
          </p:nvSpPr>
          <p:spPr>
            <a:xfrm>
              <a:off x="3857620" y="3357562"/>
              <a:ext cx="1779572" cy="57150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Cubrir el interior</a:t>
              </a:r>
            </a:p>
          </p:txBody>
        </p:sp>
        <p:sp>
          <p:nvSpPr>
            <p:cNvPr id="67" name="66 Elipse"/>
            <p:cNvSpPr/>
            <p:nvPr/>
          </p:nvSpPr>
          <p:spPr>
            <a:xfrm>
              <a:off x="3857620" y="1571612"/>
              <a:ext cx="1779572" cy="57150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Exhibir el interior</a:t>
              </a:r>
            </a:p>
          </p:txBody>
        </p:sp>
        <p:sp>
          <p:nvSpPr>
            <p:cNvPr id="68" name="67 Elipse"/>
            <p:cNvSpPr/>
            <p:nvPr/>
          </p:nvSpPr>
          <p:spPr>
            <a:xfrm>
              <a:off x="2643174" y="2500306"/>
              <a:ext cx="1779572" cy="57150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Reabastecer</a:t>
              </a:r>
            </a:p>
          </p:txBody>
        </p:sp>
        <p:cxnSp>
          <p:nvCxnSpPr>
            <p:cNvPr id="69" name="68 Conector recto de flecha"/>
            <p:cNvCxnSpPr/>
            <p:nvPr/>
          </p:nvCxnSpPr>
          <p:spPr>
            <a:xfrm flipV="1">
              <a:off x="3357554" y="2143116"/>
              <a:ext cx="1000132" cy="357190"/>
            </a:xfrm>
            <a:prstGeom prst="straightConnector1">
              <a:avLst/>
            </a:prstGeom>
            <a:ln w="2857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70" name="69 Conector recto de flecha"/>
            <p:cNvCxnSpPr/>
            <p:nvPr/>
          </p:nvCxnSpPr>
          <p:spPr>
            <a:xfrm>
              <a:off x="3286116" y="3071810"/>
              <a:ext cx="1000132" cy="285752"/>
            </a:xfrm>
            <a:prstGeom prst="straightConnector1">
              <a:avLst/>
            </a:prstGeom>
            <a:ln w="2857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74" name="73 CuadroTexto"/>
            <p:cNvSpPr txBox="1"/>
            <p:nvPr/>
          </p:nvSpPr>
          <p:spPr>
            <a:xfrm>
              <a:off x="2857488" y="2071678"/>
              <a:ext cx="1285884" cy="307777"/>
            </a:xfrm>
            <a:prstGeom prst="rect">
              <a:avLst/>
            </a:prstGeom>
            <a:noFill/>
          </p:spPr>
          <p:txBody>
            <a:bodyPr wrap="square" rtlCol="0">
              <a:spAutoFit/>
            </a:bodyPr>
            <a:lstStyle/>
            <a:p>
              <a:pPr algn="ctr"/>
              <a:r>
                <a:rPr lang="es-ES" sz="1400" dirty="0"/>
                <a:t>&lt;&lt;incluir&gt;&gt;</a:t>
              </a:r>
            </a:p>
          </p:txBody>
        </p:sp>
        <p:sp>
          <p:nvSpPr>
            <p:cNvPr id="75" name="74 CuadroTexto"/>
            <p:cNvSpPr txBox="1"/>
            <p:nvPr/>
          </p:nvSpPr>
          <p:spPr>
            <a:xfrm>
              <a:off x="2786050" y="3214686"/>
              <a:ext cx="1285884" cy="307777"/>
            </a:xfrm>
            <a:prstGeom prst="rect">
              <a:avLst/>
            </a:prstGeom>
            <a:noFill/>
          </p:spPr>
          <p:txBody>
            <a:bodyPr wrap="square" rtlCol="0">
              <a:spAutoFit/>
            </a:bodyPr>
            <a:lstStyle/>
            <a:p>
              <a:pPr algn="ctr"/>
              <a:r>
                <a:rPr lang="es-ES" sz="1400" dirty="0"/>
                <a:t>&lt;&lt;incluir&gt;&gt;</a:t>
              </a:r>
            </a:p>
          </p:txBody>
        </p:sp>
        <p:sp>
          <p:nvSpPr>
            <p:cNvPr id="76" name="75 CuadroTexto"/>
            <p:cNvSpPr txBox="1"/>
            <p:nvPr/>
          </p:nvSpPr>
          <p:spPr>
            <a:xfrm>
              <a:off x="3929058" y="4643446"/>
              <a:ext cx="1285884" cy="307777"/>
            </a:xfrm>
            <a:prstGeom prst="rect">
              <a:avLst/>
            </a:prstGeom>
            <a:noFill/>
          </p:spPr>
          <p:txBody>
            <a:bodyPr wrap="square" rtlCol="0">
              <a:spAutoFit/>
            </a:bodyPr>
            <a:lstStyle/>
            <a:p>
              <a:pPr algn="ctr"/>
              <a:r>
                <a:rPr lang="es-ES" sz="1400" dirty="0"/>
                <a:t>&lt;&lt;incluir&gt;&gt;</a:t>
              </a:r>
            </a:p>
          </p:txBody>
        </p:sp>
        <p:sp>
          <p:nvSpPr>
            <p:cNvPr id="77" name="76 CuadroTexto"/>
            <p:cNvSpPr txBox="1"/>
            <p:nvPr/>
          </p:nvSpPr>
          <p:spPr>
            <a:xfrm>
              <a:off x="2643174" y="5572140"/>
              <a:ext cx="1285884" cy="307777"/>
            </a:xfrm>
            <a:prstGeom prst="rect">
              <a:avLst/>
            </a:prstGeom>
            <a:noFill/>
          </p:spPr>
          <p:txBody>
            <a:bodyPr wrap="square" rtlCol="0">
              <a:spAutoFit/>
            </a:bodyPr>
            <a:lstStyle/>
            <a:p>
              <a:pPr algn="ctr"/>
              <a:r>
                <a:rPr lang="es-ES" sz="1400" dirty="0"/>
                <a:t>&lt;&lt;incluir&gt;&gt;</a:t>
              </a: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500042"/>
            <a:ext cx="8229600" cy="632666"/>
          </a:xfrm>
        </p:spPr>
        <p:txBody>
          <a:bodyPr>
            <a:normAutofit fontScale="90000"/>
          </a:bodyPr>
          <a:lstStyle/>
          <a:p>
            <a:r>
              <a:rPr lang="es-ES" dirty="0"/>
              <a:t>Extensión de los Casos de Uso:</a:t>
            </a:r>
          </a:p>
        </p:txBody>
      </p:sp>
      <p:sp>
        <p:nvSpPr>
          <p:cNvPr id="3" name="2 Marcador de contenido"/>
          <p:cNvSpPr>
            <a:spLocks noGrp="1"/>
          </p:cNvSpPr>
          <p:nvPr>
            <p:ph idx="1"/>
          </p:nvPr>
        </p:nvSpPr>
        <p:spPr>
          <a:xfrm>
            <a:off x="457200" y="1214422"/>
            <a:ext cx="8229600" cy="2571768"/>
          </a:xfrm>
        </p:spPr>
        <p:txBody>
          <a:bodyPr>
            <a:normAutofit fontScale="85000" lnSpcReduction="10000"/>
          </a:bodyPr>
          <a:lstStyle/>
          <a:p>
            <a:pPr algn="just"/>
            <a:r>
              <a:rPr lang="es-ES" dirty="0"/>
              <a:t>A la acción de agregar un nuevo caso de uso a otro original se le conoce como EXTENSIÓN DE UN CASO DE USO. </a:t>
            </a:r>
          </a:p>
          <a:p>
            <a:pPr algn="just"/>
            <a:r>
              <a:rPr lang="es-ES" dirty="0"/>
              <a:t>P/E: En el caso de uso “Reabastecer”, podría ser que el representante de proveedor reabastezca la máquina de gaseosas de acuerdo a las marcas más vendidas.</a:t>
            </a:r>
          </a:p>
          <a:p>
            <a:pPr algn="just"/>
            <a:endParaRPr lang="es-ES" dirty="0"/>
          </a:p>
        </p:txBody>
      </p:sp>
      <p:grpSp>
        <p:nvGrpSpPr>
          <p:cNvPr id="76" name="75 Grupo"/>
          <p:cNvGrpSpPr/>
          <p:nvPr/>
        </p:nvGrpSpPr>
        <p:grpSpPr>
          <a:xfrm>
            <a:off x="999462" y="3929066"/>
            <a:ext cx="7144438" cy="2358583"/>
            <a:chOff x="778770" y="3929066"/>
            <a:chExt cx="7144438" cy="2358583"/>
          </a:xfrm>
        </p:grpSpPr>
        <p:sp>
          <p:nvSpPr>
            <p:cNvPr id="10" name="9 Elipse"/>
            <p:cNvSpPr/>
            <p:nvPr/>
          </p:nvSpPr>
          <p:spPr>
            <a:xfrm>
              <a:off x="6143636" y="5715016"/>
              <a:ext cx="1779572" cy="57150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Cubrir el interior</a:t>
              </a:r>
            </a:p>
          </p:txBody>
        </p:sp>
        <p:grpSp>
          <p:nvGrpSpPr>
            <p:cNvPr id="11" name="13 Grupo"/>
            <p:cNvGrpSpPr/>
            <p:nvPr/>
          </p:nvGrpSpPr>
          <p:grpSpPr>
            <a:xfrm>
              <a:off x="1133567" y="4665579"/>
              <a:ext cx="652165" cy="1120871"/>
              <a:chOff x="1714480" y="2500306"/>
              <a:chExt cx="1357322" cy="2428892"/>
            </a:xfrm>
          </p:grpSpPr>
          <p:cxnSp>
            <p:nvCxnSpPr>
              <p:cNvPr id="60"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61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62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64" name="63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13 CuadroTexto"/>
            <p:cNvSpPr txBox="1"/>
            <p:nvPr/>
          </p:nvSpPr>
          <p:spPr>
            <a:xfrm>
              <a:off x="778770" y="5764429"/>
              <a:ext cx="1364338" cy="523220"/>
            </a:xfrm>
            <a:prstGeom prst="rect">
              <a:avLst/>
            </a:prstGeom>
            <a:noFill/>
          </p:spPr>
          <p:txBody>
            <a:bodyPr wrap="square" rtlCol="0">
              <a:spAutoFit/>
            </a:bodyPr>
            <a:lstStyle/>
            <a:p>
              <a:pPr algn="ctr"/>
              <a:r>
                <a:rPr lang="es-ES" sz="1400" dirty="0"/>
                <a:t>Representante del proveedor</a:t>
              </a:r>
            </a:p>
          </p:txBody>
        </p:sp>
        <p:cxnSp>
          <p:nvCxnSpPr>
            <p:cNvPr id="25" name="24 Conector recto"/>
            <p:cNvCxnSpPr>
              <a:endCxn id="70" idx="2"/>
            </p:cNvCxnSpPr>
            <p:nvPr/>
          </p:nvCxnSpPr>
          <p:spPr>
            <a:xfrm>
              <a:off x="1662920" y="5136506"/>
              <a:ext cx="551626" cy="70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26 Elipse"/>
            <p:cNvSpPr/>
            <p:nvPr/>
          </p:nvSpPr>
          <p:spPr>
            <a:xfrm>
              <a:off x="6143636" y="3929066"/>
              <a:ext cx="1779572" cy="57150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Exhibir el interior</a:t>
              </a:r>
            </a:p>
          </p:txBody>
        </p:sp>
        <p:sp>
          <p:nvSpPr>
            <p:cNvPr id="28" name="27 Elipse"/>
            <p:cNvSpPr/>
            <p:nvPr/>
          </p:nvSpPr>
          <p:spPr>
            <a:xfrm>
              <a:off x="4929190" y="4857760"/>
              <a:ext cx="1779572" cy="571504"/>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Reabastecer</a:t>
              </a:r>
            </a:p>
          </p:txBody>
        </p:sp>
        <p:cxnSp>
          <p:nvCxnSpPr>
            <p:cNvPr id="29" name="28 Conector recto de flecha"/>
            <p:cNvCxnSpPr/>
            <p:nvPr/>
          </p:nvCxnSpPr>
          <p:spPr>
            <a:xfrm flipV="1">
              <a:off x="5643570" y="4500570"/>
              <a:ext cx="1000132" cy="357190"/>
            </a:xfrm>
            <a:prstGeom prst="straightConnector1">
              <a:avLst/>
            </a:prstGeom>
            <a:ln w="2857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0" name="29 Conector recto de flecha"/>
            <p:cNvCxnSpPr/>
            <p:nvPr/>
          </p:nvCxnSpPr>
          <p:spPr>
            <a:xfrm>
              <a:off x="5572132" y="5429264"/>
              <a:ext cx="1000132" cy="285752"/>
            </a:xfrm>
            <a:prstGeom prst="straightConnector1">
              <a:avLst/>
            </a:prstGeom>
            <a:ln w="2857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8" name="37 CuadroTexto"/>
            <p:cNvSpPr txBox="1"/>
            <p:nvPr/>
          </p:nvSpPr>
          <p:spPr>
            <a:xfrm>
              <a:off x="6143636" y="4572008"/>
              <a:ext cx="1285884" cy="307777"/>
            </a:xfrm>
            <a:prstGeom prst="rect">
              <a:avLst/>
            </a:prstGeom>
            <a:noFill/>
          </p:spPr>
          <p:txBody>
            <a:bodyPr wrap="square" rtlCol="0">
              <a:spAutoFit/>
            </a:bodyPr>
            <a:lstStyle/>
            <a:p>
              <a:pPr algn="ctr"/>
              <a:r>
                <a:rPr lang="es-ES" sz="1400" dirty="0"/>
                <a:t>&lt;&lt;incluir&gt;&gt;</a:t>
              </a:r>
            </a:p>
          </p:txBody>
        </p:sp>
        <p:sp>
          <p:nvSpPr>
            <p:cNvPr id="39" name="38 CuadroTexto"/>
            <p:cNvSpPr txBox="1"/>
            <p:nvPr/>
          </p:nvSpPr>
          <p:spPr>
            <a:xfrm>
              <a:off x="4857752" y="5500702"/>
              <a:ext cx="1285884" cy="307777"/>
            </a:xfrm>
            <a:prstGeom prst="rect">
              <a:avLst/>
            </a:prstGeom>
            <a:noFill/>
          </p:spPr>
          <p:txBody>
            <a:bodyPr wrap="square" rtlCol="0">
              <a:spAutoFit/>
            </a:bodyPr>
            <a:lstStyle/>
            <a:p>
              <a:pPr algn="ctr"/>
              <a:r>
                <a:rPr lang="es-ES" sz="1400" dirty="0"/>
                <a:t>&lt;&lt;incluir&gt;&gt;</a:t>
              </a:r>
            </a:p>
          </p:txBody>
        </p:sp>
        <p:sp>
          <p:nvSpPr>
            <p:cNvPr id="70" name="69 Elipse"/>
            <p:cNvSpPr/>
            <p:nvPr/>
          </p:nvSpPr>
          <p:spPr>
            <a:xfrm>
              <a:off x="2214546" y="4786322"/>
              <a:ext cx="2000264" cy="71438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Reabastecer de acuerdo a las ventas</a:t>
              </a:r>
            </a:p>
          </p:txBody>
        </p:sp>
        <p:cxnSp>
          <p:nvCxnSpPr>
            <p:cNvPr id="74" name="73 Conector recto de flecha"/>
            <p:cNvCxnSpPr>
              <a:stCxn id="70" idx="6"/>
              <a:endCxn id="28" idx="2"/>
            </p:cNvCxnSpPr>
            <p:nvPr/>
          </p:nvCxnSpPr>
          <p:spPr>
            <a:xfrm>
              <a:off x="4214810" y="5143512"/>
              <a:ext cx="714380" cy="1588"/>
            </a:xfrm>
            <a:prstGeom prst="straightConnector1">
              <a:avLst/>
            </a:prstGeom>
            <a:ln w="2857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75" name="74 CuadroTexto"/>
            <p:cNvSpPr txBox="1"/>
            <p:nvPr/>
          </p:nvSpPr>
          <p:spPr>
            <a:xfrm>
              <a:off x="4000496" y="4786322"/>
              <a:ext cx="1285884" cy="307777"/>
            </a:xfrm>
            <a:prstGeom prst="rect">
              <a:avLst/>
            </a:prstGeom>
            <a:noFill/>
          </p:spPr>
          <p:txBody>
            <a:bodyPr wrap="square" rtlCol="0">
              <a:spAutoFit/>
            </a:bodyPr>
            <a:lstStyle/>
            <a:p>
              <a:pPr algn="ctr"/>
              <a:r>
                <a:rPr lang="es-ES" sz="1400" dirty="0"/>
                <a:t>&lt;&lt;extender&gt;&gt;</a:t>
              </a: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428604"/>
            <a:ext cx="8229600" cy="775542"/>
          </a:xfrm>
        </p:spPr>
        <p:txBody>
          <a:bodyPr>
            <a:normAutofit/>
          </a:bodyPr>
          <a:lstStyle/>
          <a:p>
            <a:r>
              <a:rPr lang="es-ES" dirty="0"/>
              <a:t>Generalización:</a:t>
            </a:r>
          </a:p>
        </p:txBody>
      </p:sp>
      <p:sp>
        <p:nvSpPr>
          <p:cNvPr id="3" name="2 Marcador de contenido"/>
          <p:cNvSpPr>
            <a:spLocks noGrp="1"/>
          </p:cNvSpPr>
          <p:nvPr>
            <p:ph idx="1"/>
          </p:nvPr>
        </p:nvSpPr>
        <p:spPr>
          <a:xfrm>
            <a:off x="457200" y="1285860"/>
            <a:ext cx="8229600" cy="5038740"/>
          </a:xfrm>
        </p:spPr>
        <p:txBody>
          <a:bodyPr/>
          <a:lstStyle/>
          <a:p>
            <a:pPr algn="just"/>
            <a:r>
              <a:rPr lang="es-ES" dirty="0"/>
              <a:t>Al igual que las clases, los casos de usos pueden heredarse y sus autores también.</a:t>
            </a:r>
          </a:p>
        </p:txBody>
      </p:sp>
      <p:grpSp>
        <p:nvGrpSpPr>
          <p:cNvPr id="50" name="49 Grupo"/>
          <p:cNvGrpSpPr/>
          <p:nvPr/>
        </p:nvGrpSpPr>
        <p:grpSpPr>
          <a:xfrm>
            <a:off x="6072198" y="2357430"/>
            <a:ext cx="2435908" cy="3286148"/>
            <a:chOff x="357158" y="2857496"/>
            <a:chExt cx="2435908" cy="3286148"/>
          </a:xfrm>
        </p:grpSpPr>
        <p:grpSp>
          <p:nvGrpSpPr>
            <p:cNvPr id="6" name="13 Grupo"/>
            <p:cNvGrpSpPr/>
            <p:nvPr/>
          </p:nvGrpSpPr>
          <p:grpSpPr>
            <a:xfrm>
              <a:off x="711957" y="4737015"/>
              <a:ext cx="652165" cy="1120871"/>
              <a:chOff x="1714480" y="2500306"/>
              <a:chExt cx="1357322" cy="2428892"/>
            </a:xfrm>
          </p:grpSpPr>
          <p:cxnSp>
            <p:nvCxnSpPr>
              <p:cNvPr id="18"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20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22" name="21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6 CuadroTexto"/>
            <p:cNvSpPr txBox="1"/>
            <p:nvPr/>
          </p:nvSpPr>
          <p:spPr>
            <a:xfrm>
              <a:off x="357158" y="5835867"/>
              <a:ext cx="1364338" cy="307777"/>
            </a:xfrm>
            <a:prstGeom prst="rect">
              <a:avLst/>
            </a:prstGeom>
            <a:noFill/>
          </p:spPr>
          <p:txBody>
            <a:bodyPr wrap="square" rtlCol="0">
              <a:spAutoFit/>
            </a:bodyPr>
            <a:lstStyle/>
            <a:p>
              <a:pPr algn="ctr"/>
              <a:r>
                <a:rPr lang="es-ES" sz="1400" dirty="0"/>
                <a:t>Recolector</a:t>
              </a:r>
            </a:p>
          </p:txBody>
        </p:sp>
        <p:grpSp>
          <p:nvGrpSpPr>
            <p:cNvPr id="23" name="13 Grupo"/>
            <p:cNvGrpSpPr/>
            <p:nvPr/>
          </p:nvGrpSpPr>
          <p:grpSpPr>
            <a:xfrm>
              <a:off x="1643042" y="4764297"/>
              <a:ext cx="652165" cy="1120871"/>
              <a:chOff x="1714480" y="2500306"/>
              <a:chExt cx="1357322" cy="2428892"/>
            </a:xfrm>
          </p:grpSpPr>
          <p:cxnSp>
            <p:nvCxnSpPr>
              <p:cNvPr id="24"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25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26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28" name="27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13 Grupo"/>
            <p:cNvGrpSpPr/>
            <p:nvPr/>
          </p:nvGrpSpPr>
          <p:grpSpPr>
            <a:xfrm>
              <a:off x="1142976" y="2857496"/>
              <a:ext cx="652165" cy="1120871"/>
              <a:chOff x="1714480" y="2500306"/>
              <a:chExt cx="1357322" cy="2428892"/>
            </a:xfrm>
          </p:grpSpPr>
          <p:cxnSp>
            <p:nvCxnSpPr>
              <p:cNvPr id="30" name="4 Conector recto"/>
              <p:cNvCxnSpPr/>
              <p:nvPr/>
            </p:nvCxnSpPr>
            <p:spPr>
              <a:xfrm rot="5400000">
                <a:off x="1893075" y="3536157"/>
                <a:ext cx="107157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6 Conector recto"/>
              <p:cNvCxnSpPr/>
              <p:nvPr/>
            </p:nvCxnSpPr>
            <p:spPr>
              <a:xfrm rot="5400000">
                <a:off x="1678761" y="4107661"/>
                <a:ext cx="785818" cy="7143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rot="16200000" flipH="1">
                <a:off x="2321703" y="4179099"/>
                <a:ext cx="857256" cy="6429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32 Elipse"/>
              <p:cNvSpPr/>
              <p:nvPr/>
            </p:nvSpPr>
            <p:spPr>
              <a:xfrm>
                <a:off x="2143108" y="2500306"/>
                <a:ext cx="571504" cy="500066"/>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a:p>
            </p:txBody>
          </p:sp>
          <p:cxnSp>
            <p:nvCxnSpPr>
              <p:cNvPr id="34" name="33 Conector recto"/>
              <p:cNvCxnSpPr/>
              <p:nvPr/>
            </p:nvCxnSpPr>
            <p:spPr>
              <a:xfrm>
                <a:off x="1785918" y="3214686"/>
                <a:ext cx="128588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34 CuadroTexto"/>
            <p:cNvSpPr txBox="1"/>
            <p:nvPr/>
          </p:nvSpPr>
          <p:spPr>
            <a:xfrm>
              <a:off x="1428728" y="5835867"/>
              <a:ext cx="1364338" cy="307777"/>
            </a:xfrm>
            <a:prstGeom prst="rect">
              <a:avLst/>
            </a:prstGeom>
            <a:noFill/>
          </p:spPr>
          <p:txBody>
            <a:bodyPr wrap="square" rtlCol="0">
              <a:spAutoFit/>
            </a:bodyPr>
            <a:lstStyle/>
            <a:p>
              <a:pPr algn="ctr"/>
              <a:r>
                <a:rPr lang="es-ES" sz="1400" dirty="0"/>
                <a:t>Re abastecedor</a:t>
              </a:r>
            </a:p>
          </p:txBody>
        </p:sp>
        <p:sp>
          <p:nvSpPr>
            <p:cNvPr id="36" name="35 CuadroTexto"/>
            <p:cNvSpPr txBox="1"/>
            <p:nvPr/>
          </p:nvSpPr>
          <p:spPr>
            <a:xfrm>
              <a:off x="857224" y="3929066"/>
              <a:ext cx="1364338" cy="307777"/>
            </a:xfrm>
            <a:prstGeom prst="rect">
              <a:avLst/>
            </a:prstGeom>
            <a:noFill/>
          </p:spPr>
          <p:txBody>
            <a:bodyPr wrap="square" rtlCol="0">
              <a:spAutoFit/>
            </a:bodyPr>
            <a:lstStyle/>
            <a:p>
              <a:pPr algn="ctr"/>
              <a:r>
                <a:rPr lang="es-ES" sz="1400" dirty="0"/>
                <a:t>Proveedor</a:t>
              </a:r>
            </a:p>
          </p:txBody>
        </p:sp>
        <p:grpSp>
          <p:nvGrpSpPr>
            <p:cNvPr id="40" name="39 Grupo"/>
            <p:cNvGrpSpPr/>
            <p:nvPr/>
          </p:nvGrpSpPr>
          <p:grpSpPr>
            <a:xfrm rot="1800000">
              <a:off x="1005887" y="4226867"/>
              <a:ext cx="152151" cy="635420"/>
              <a:chOff x="3857620" y="2571744"/>
              <a:chExt cx="142876" cy="715174"/>
            </a:xfrm>
          </p:grpSpPr>
          <p:sp>
            <p:nvSpPr>
              <p:cNvPr id="37" name="36 Triángulo isósceles"/>
              <p:cNvSpPr/>
              <p:nvPr/>
            </p:nvSpPr>
            <p:spPr>
              <a:xfrm>
                <a:off x="3857620" y="2571744"/>
                <a:ext cx="142876" cy="14287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9" name="38 Conector recto"/>
              <p:cNvCxnSpPr>
                <a:stCxn id="37" idx="3"/>
              </p:cNvCxnSpPr>
              <p:nvPr/>
            </p:nvCxnSpPr>
            <p:spPr>
              <a:xfrm rot="5400000">
                <a:off x="3643306" y="3000372"/>
                <a:ext cx="571504"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40 Grupo"/>
            <p:cNvGrpSpPr/>
            <p:nvPr/>
          </p:nvGrpSpPr>
          <p:grpSpPr>
            <a:xfrm rot="-1800000">
              <a:off x="1776544" y="4212200"/>
              <a:ext cx="142876" cy="572298"/>
              <a:chOff x="3857620" y="2571744"/>
              <a:chExt cx="142876" cy="715174"/>
            </a:xfrm>
          </p:grpSpPr>
          <p:sp>
            <p:nvSpPr>
              <p:cNvPr id="42" name="41 Triángulo isósceles"/>
              <p:cNvSpPr/>
              <p:nvPr/>
            </p:nvSpPr>
            <p:spPr>
              <a:xfrm>
                <a:off x="3857620" y="2571744"/>
                <a:ext cx="142876" cy="14287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3" name="42 Conector recto"/>
              <p:cNvCxnSpPr>
                <a:stCxn id="42" idx="3"/>
              </p:cNvCxnSpPr>
              <p:nvPr/>
            </p:nvCxnSpPr>
            <p:spPr>
              <a:xfrm rot="5400000">
                <a:off x="3643306" y="3000372"/>
                <a:ext cx="571504"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 name="47 Grupo"/>
          <p:cNvGrpSpPr/>
          <p:nvPr/>
        </p:nvGrpSpPr>
        <p:grpSpPr>
          <a:xfrm>
            <a:off x="285720" y="2643182"/>
            <a:ext cx="4857784" cy="714380"/>
            <a:chOff x="3500430" y="3643314"/>
            <a:chExt cx="4857784" cy="714380"/>
          </a:xfrm>
        </p:grpSpPr>
        <p:sp>
          <p:nvSpPr>
            <p:cNvPr id="15" name="14 Elipse"/>
            <p:cNvSpPr/>
            <p:nvPr/>
          </p:nvSpPr>
          <p:spPr>
            <a:xfrm>
              <a:off x="3500430" y="3643314"/>
              <a:ext cx="2000264" cy="71438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Comprar Gaseosa</a:t>
              </a:r>
            </a:p>
          </p:txBody>
        </p:sp>
        <p:sp>
          <p:nvSpPr>
            <p:cNvPr id="44" name="43 Elipse"/>
            <p:cNvSpPr/>
            <p:nvPr/>
          </p:nvSpPr>
          <p:spPr>
            <a:xfrm>
              <a:off x="6357950" y="3643314"/>
              <a:ext cx="2000264" cy="71438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solidFill>
                    <a:schemeClr val="tx1"/>
                  </a:solidFill>
                </a:rPr>
                <a:t>Comprar un vaso de gaseosa</a:t>
              </a:r>
            </a:p>
          </p:txBody>
        </p:sp>
        <p:grpSp>
          <p:nvGrpSpPr>
            <p:cNvPr id="45" name="44 Grupo"/>
            <p:cNvGrpSpPr/>
            <p:nvPr/>
          </p:nvGrpSpPr>
          <p:grpSpPr>
            <a:xfrm rot="5400000" flipH="1" flipV="1">
              <a:off x="5822165" y="3536157"/>
              <a:ext cx="214314" cy="857256"/>
              <a:chOff x="3857620" y="2571744"/>
              <a:chExt cx="142876" cy="715174"/>
            </a:xfrm>
          </p:grpSpPr>
          <p:sp>
            <p:nvSpPr>
              <p:cNvPr id="46" name="45 Triángulo isósceles"/>
              <p:cNvSpPr/>
              <p:nvPr/>
            </p:nvSpPr>
            <p:spPr>
              <a:xfrm>
                <a:off x="3857620" y="2571744"/>
                <a:ext cx="142876" cy="14287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7" name="46 Conector recto"/>
              <p:cNvCxnSpPr>
                <a:stCxn id="46" idx="3"/>
              </p:cNvCxnSpPr>
              <p:nvPr/>
            </p:nvCxnSpPr>
            <p:spPr>
              <a:xfrm rot="5400000">
                <a:off x="3643306" y="3000372"/>
                <a:ext cx="571504"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2" name="51 Conector recto"/>
          <p:cNvCxnSpPr/>
          <p:nvPr/>
        </p:nvCxnSpPr>
        <p:spPr>
          <a:xfrm rot="5400000">
            <a:off x="3357554" y="4214818"/>
            <a:ext cx="4714908" cy="1588"/>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2357430"/>
            <a:ext cx="8229600" cy="1143000"/>
          </a:xfrm>
        </p:spPr>
        <p:txBody>
          <a:bodyPr>
            <a:normAutofit fontScale="90000"/>
          </a:bodyPr>
          <a:lstStyle/>
          <a:p>
            <a:pPr algn="ctr"/>
            <a:r>
              <a:rPr lang="es-ES" b="1" dirty="0"/>
              <a:t>Diagrama de Casos de Uso para la Tienda de Películas VIDEOMAX</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58" y="2571744"/>
            <a:ext cx="8229600" cy="1143000"/>
          </a:xfrm>
        </p:spPr>
        <p:txBody>
          <a:bodyPr>
            <a:normAutofit fontScale="90000"/>
          </a:bodyPr>
          <a:lstStyle/>
          <a:p>
            <a:r>
              <a:rPr lang="es-ES" b="1" dirty="0"/>
              <a:t>A.	DESCRIPCION DE ACTORES:</a:t>
            </a:r>
            <a:br>
              <a:rPr lang="es-ES" dirty="0"/>
            </a:br>
            <a:endParaRPr lang="es-E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71480"/>
            <a:ext cx="8229600" cy="5753120"/>
          </a:xfrm>
        </p:spPr>
        <p:txBody>
          <a:bodyPr>
            <a:normAutofit fontScale="92500" lnSpcReduction="20000"/>
          </a:bodyPr>
          <a:lstStyle/>
          <a:p>
            <a:pPr>
              <a:buNone/>
            </a:pPr>
            <a:r>
              <a:rPr lang="es-ES" b="1" dirty="0"/>
              <a:t>Nombre: 	</a:t>
            </a:r>
            <a:r>
              <a:rPr lang="es-ES" dirty="0"/>
              <a:t>Administrador VIDEOMAX</a:t>
            </a:r>
          </a:p>
          <a:p>
            <a:pPr>
              <a:buNone/>
            </a:pPr>
            <a:r>
              <a:rPr lang="es-ES" b="1" dirty="0"/>
              <a:t>Rol:		</a:t>
            </a:r>
            <a:r>
              <a:rPr lang="es-ES" dirty="0"/>
              <a:t>Administra el Sistema VIDEOMAX</a:t>
            </a:r>
          </a:p>
          <a:p>
            <a:pPr>
              <a:buNone/>
            </a:pPr>
            <a:r>
              <a:rPr lang="es-ES" b="1" dirty="0"/>
              <a:t>Tareas:</a:t>
            </a:r>
            <a:endParaRPr lang="es-ES" dirty="0"/>
          </a:p>
          <a:p>
            <a:pPr lvl="1"/>
            <a:r>
              <a:rPr lang="es-ES" dirty="0"/>
              <a:t>Registra Nuevas Películas.</a:t>
            </a:r>
          </a:p>
          <a:p>
            <a:pPr lvl="1"/>
            <a:r>
              <a:rPr lang="es-ES" dirty="0"/>
              <a:t>Da de baja a películas que ya no están disponibles.</a:t>
            </a:r>
          </a:p>
          <a:p>
            <a:pPr lvl="1"/>
            <a:r>
              <a:rPr lang="es-ES" dirty="0"/>
              <a:t>Registra a  los nuevos clientes.</a:t>
            </a:r>
          </a:p>
          <a:p>
            <a:pPr lvl="1"/>
            <a:r>
              <a:rPr lang="es-ES" dirty="0"/>
              <a:t>Registra los datos de cada alquiler.</a:t>
            </a:r>
          </a:p>
          <a:p>
            <a:pPr lvl="1"/>
            <a:r>
              <a:rPr lang="es-ES" dirty="0"/>
              <a:t>Mantiene información actualizada sobre las reservas que solicitan los clientes.</a:t>
            </a:r>
          </a:p>
          <a:p>
            <a:pPr lvl="1"/>
            <a:r>
              <a:rPr lang="es-ES" dirty="0"/>
              <a:t>Modifica los datos de los proveedores.</a:t>
            </a:r>
          </a:p>
          <a:p>
            <a:pPr lvl="1"/>
            <a:r>
              <a:rPr lang="es-ES" dirty="0"/>
              <a:t>Asigna los estantes que ocuparán las películas según las categorías.</a:t>
            </a:r>
          </a:p>
          <a:p>
            <a:pPr lvl="1"/>
            <a:r>
              <a:rPr lang="es-ES" dirty="0"/>
              <a:t>Hace pedidos de películas que están siendo muy solicitadas por los clientes.</a:t>
            </a:r>
          </a:p>
          <a:p>
            <a:endParaRPr lang="es-E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214422"/>
            <a:ext cx="8229600" cy="5110178"/>
          </a:xfrm>
        </p:spPr>
        <p:txBody>
          <a:bodyPr/>
          <a:lstStyle/>
          <a:p>
            <a:pPr>
              <a:buNone/>
            </a:pPr>
            <a:r>
              <a:rPr lang="es-ES" b="1" dirty="0"/>
              <a:t>Nombre: 	</a:t>
            </a:r>
            <a:r>
              <a:rPr lang="es-ES" dirty="0"/>
              <a:t>Cliente</a:t>
            </a:r>
          </a:p>
          <a:p>
            <a:pPr>
              <a:buNone/>
            </a:pPr>
            <a:r>
              <a:rPr lang="es-ES" b="1" dirty="0"/>
              <a:t>Rol:		</a:t>
            </a:r>
            <a:r>
              <a:rPr lang="es-ES" dirty="0"/>
              <a:t>Reserva y/o alquila Películas</a:t>
            </a:r>
          </a:p>
          <a:p>
            <a:pPr>
              <a:buNone/>
            </a:pPr>
            <a:r>
              <a:rPr lang="es-ES" b="1" dirty="0"/>
              <a:t>Tareas:	</a:t>
            </a:r>
            <a:endParaRPr lang="es-ES" dirty="0"/>
          </a:p>
          <a:p>
            <a:pPr lvl="1"/>
            <a:r>
              <a:rPr lang="es-ES" dirty="0"/>
              <a:t>Proporciona información Personal.</a:t>
            </a:r>
          </a:p>
          <a:p>
            <a:pPr lvl="1"/>
            <a:r>
              <a:rPr lang="es-ES" dirty="0"/>
              <a:t>Detalla película a reservar y/o alquilar.</a:t>
            </a:r>
          </a:p>
          <a:p>
            <a:pPr lvl="1"/>
            <a:r>
              <a:rPr lang="es-ES" dirty="0"/>
              <a:t>Cancela sus reservaciones.</a:t>
            </a:r>
          </a:p>
          <a:p>
            <a:pPr lvl="1"/>
            <a:r>
              <a:rPr lang="es-ES" dirty="0"/>
              <a:t>Devuelve película alquilada.</a:t>
            </a:r>
          </a:p>
          <a:p>
            <a:endParaRPr lang="es-E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928670"/>
            <a:ext cx="8229600" cy="5395930"/>
          </a:xfrm>
        </p:spPr>
        <p:txBody>
          <a:bodyPr/>
          <a:lstStyle/>
          <a:p>
            <a:pPr>
              <a:buNone/>
            </a:pPr>
            <a:r>
              <a:rPr lang="es-ES" b="1" dirty="0"/>
              <a:t>Nombre: 	</a:t>
            </a:r>
            <a:r>
              <a:rPr lang="es-ES" dirty="0"/>
              <a:t>Proveedor</a:t>
            </a:r>
          </a:p>
          <a:p>
            <a:pPr>
              <a:buNone/>
            </a:pPr>
            <a:r>
              <a:rPr lang="es-ES" b="1" dirty="0"/>
              <a:t>Rol:		</a:t>
            </a:r>
            <a:r>
              <a:rPr lang="es-ES" dirty="0"/>
              <a:t>Abastece las Películas</a:t>
            </a:r>
          </a:p>
          <a:p>
            <a:pPr>
              <a:buNone/>
            </a:pPr>
            <a:r>
              <a:rPr lang="es-ES" b="1" dirty="0"/>
              <a:t>Tareas:	</a:t>
            </a:r>
            <a:endParaRPr lang="es-ES" dirty="0"/>
          </a:p>
          <a:p>
            <a:pPr lvl="1"/>
            <a:r>
              <a:rPr lang="es-ES" dirty="0"/>
              <a:t>Proporciona información Personal.</a:t>
            </a:r>
          </a:p>
          <a:p>
            <a:pPr lvl="1"/>
            <a:r>
              <a:rPr lang="es-ES" dirty="0"/>
              <a:t>Consulta sobre la existencia de películas en el inventario de VIDEOMAX.  Y ofrece películas de estreno o aquellas que considera importante tenerlas en inventario.</a:t>
            </a:r>
          </a:p>
          <a:p>
            <a:endParaRPr lang="es-E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43042" y="2786058"/>
            <a:ext cx="5929354" cy="1143000"/>
          </a:xfrm>
        </p:spPr>
        <p:txBody>
          <a:bodyPr>
            <a:normAutofit fontScale="90000"/>
          </a:bodyPr>
          <a:lstStyle/>
          <a:p>
            <a:r>
              <a:rPr lang="es-ES" b="1" dirty="0"/>
              <a:t>B.	TABLA DE TAREAS:</a:t>
            </a:r>
            <a:br>
              <a:rPr lang="es-ES" dirty="0"/>
            </a:br>
            <a:endParaRPr lang="es-E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5720" y="2643182"/>
            <a:ext cx="8229600" cy="1143000"/>
          </a:xfrm>
        </p:spPr>
        <p:txBody>
          <a:bodyPr>
            <a:normAutofit fontScale="90000"/>
          </a:bodyPr>
          <a:lstStyle/>
          <a:p>
            <a:r>
              <a:rPr lang="es-ES" sz="4000" b="1" dirty="0"/>
              <a:t>C. DESCRIPCION DE LOS CASOS DE USO:</a:t>
            </a:r>
            <a:br>
              <a:rPr lang="es-ES" dirty="0"/>
            </a:br>
            <a:endParaRPr lang="es-E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571480"/>
            <a:ext cx="8401080" cy="5753120"/>
          </a:xfrm>
        </p:spPr>
        <p:txBody>
          <a:bodyPr>
            <a:normAutofit fontScale="85000" lnSpcReduction="10000"/>
          </a:bodyPr>
          <a:lstStyle/>
          <a:p>
            <a:pPr algn="just"/>
            <a:r>
              <a:rPr lang="es-ES" b="1" u="sng" dirty="0"/>
              <a:t>Registrar Películas:</a:t>
            </a:r>
            <a:r>
              <a:rPr lang="es-ES" b="1" dirty="0"/>
              <a:t>	</a:t>
            </a:r>
            <a:r>
              <a:rPr lang="es-ES" dirty="0"/>
              <a:t>Comienza cuando el Administrador VIDEOMAX desea ingresar nuevos películas o agregar cantidades de copias a registros ya existentes. El Administrador VIDEOMAX debe asignar un código a la película, digitar su título, protagonista, director, año de estreno y cantidad en existencia.</a:t>
            </a:r>
          </a:p>
          <a:p>
            <a:pPr algn="just"/>
            <a:endParaRPr lang="es-ES" dirty="0"/>
          </a:p>
          <a:p>
            <a:pPr algn="just"/>
            <a:endParaRPr lang="es-ES" dirty="0"/>
          </a:p>
          <a:p>
            <a:pPr algn="just"/>
            <a:r>
              <a:rPr lang="es-ES" b="1" u="sng" dirty="0"/>
              <a:t>Registrar Clientes:</a:t>
            </a:r>
            <a:r>
              <a:rPr lang="es-ES" b="1" dirty="0"/>
              <a:t> 	</a:t>
            </a:r>
            <a:r>
              <a:rPr lang="es-ES" dirty="0"/>
              <a:t>Comienza cuando el Administrador VIDEOMAX registra a un nuevo cliente, obteniendo la información siguiente: Nombre, número de cédula, Dirección y Teléfono. El administrador VIDEOMAX debe asignarle un código según las iniciales de sus nombres, además de cuatro dígitos numéricos.</a:t>
            </a:r>
          </a:p>
          <a:p>
            <a:pPr algn="just"/>
            <a:endParaRPr lang="es-E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500042"/>
            <a:ext cx="8329642" cy="5824558"/>
          </a:xfrm>
        </p:spPr>
        <p:txBody>
          <a:bodyPr>
            <a:normAutofit fontScale="85000" lnSpcReduction="10000"/>
          </a:bodyPr>
          <a:lstStyle/>
          <a:p>
            <a:pPr algn="just"/>
            <a:r>
              <a:rPr lang="es-ES" b="1" u="sng" dirty="0"/>
              <a:t>Registrar Alquiler:</a:t>
            </a:r>
            <a:r>
              <a:rPr lang="es-ES" dirty="0"/>
              <a:t> 	Comienza cuando el Administrador VIDEOMAX verifica si el cliente existe para proceder al alquiler, de no ser así debe registrarlo (ver Caso de uso “Registrar Cliente”), luego de ubicarlo, digita el código de la(s) película(s) a alquilar (</a:t>
            </a:r>
            <a:r>
              <a:rPr lang="es-ES" i="1" dirty="0"/>
              <a:t>éste viene en la caja del DVD</a:t>
            </a:r>
            <a:r>
              <a:rPr lang="es-ES" dirty="0"/>
              <a:t>) y la fecha de entrega, el sistema automáticamente muestra los demás atributos de las películas y la fecha en que debe ser devuelta.</a:t>
            </a:r>
          </a:p>
          <a:p>
            <a:pPr algn="just"/>
            <a:endParaRPr lang="es-ES" dirty="0"/>
          </a:p>
          <a:p>
            <a:pPr algn="just"/>
            <a:r>
              <a:rPr lang="es-ES" b="1" u="sng" dirty="0"/>
              <a:t>Registrar Reserva:</a:t>
            </a:r>
            <a:r>
              <a:rPr lang="es-ES" dirty="0"/>
              <a:t> 	Comienza cuando el Administrador VIDEOMAX verifica si el cliente es considerado “Socio” luego de ubicarlo, digita el código de la(s) película(s) a reservar (</a:t>
            </a:r>
            <a:r>
              <a:rPr lang="es-ES" i="1" dirty="0"/>
              <a:t>éste viene en la caja del DVD</a:t>
            </a:r>
            <a:r>
              <a:rPr lang="es-ES" dirty="0"/>
              <a:t>), el sistema automáticamente muestra los demás atributos de las películas y la fecha en que se guarda.</a:t>
            </a:r>
          </a:p>
          <a:p>
            <a:pPr algn="just"/>
            <a:endParaRPr lang="es-E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500042"/>
            <a:ext cx="8401080" cy="5824558"/>
          </a:xfrm>
        </p:spPr>
        <p:txBody>
          <a:bodyPr>
            <a:normAutofit fontScale="92500" lnSpcReduction="20000"/>
          </a:bodyPr>
          <a:lstStyle/>
          <a:p>
            <a:pPr algn="just"/>
            <a:r>
              <a:rPr lang="es-ES" b="1" u="sng" dirty="0"/>
              <a:t>Actualizar Proveedor:</a:t>
            </a:r>
            <a:r>
              <a:rPr lang="es-ES" dirty="0"/>
              <a:t> 	Comienza cuando el Administrador VIDEOMAX modifica (si existen cambios) algunos de los datos de los tres proveedores que abastecen las películas del negocio. Este caso de uso también implica agregar nuevos proveedores.</a:t>
            </a:r>
          </a:p>
          <a:p>
            <a:pPr algn="just"/>
            <a:endParaRPr lang="es-ES" dirty="0"/>
          </a:p>
          <a:p>
            <a:pPr algn="just"/>
            <a:r>
              <a:rPr lang="es-ES" b="1" u="sng" dirty="0"/>
              <a:t>Proporciona Datos Personales:</a:t>
            </a:r>
            <a:r>
              <a:rPr lang="es-ES" dirty="0"/>
              <a:t> 	Comienza cuando el Cliente llega al negocio por primera vez, selecciona la película de su gusto y llega donde el Administrador VIDEOMAX, quien verifica su no existencia en el sistema y entonces procede a solicitar al Cliente los siguientes datos personales: Nº de Cédula, nombre, teléfono y  dirección actual.</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500042"/>
            <a:ext cx="8401080" cy="5824558"/>
          </a:xfrm>
        </p:spPr>
        <p:txBody>
          <a:bodyPr>
            <a:normAutofit fontScale="85000" lnSpcReduction="20000"/>
          </a:bodyPr>
          <a:lstStyle/>
          <a:p>
            <a:pPr algn="just"/>
            <a:r>
              <a:rPr lang="es-ES" b="1" u="sng" dirty="0"/>
              <a:t>Alquilar Películas:</a:t>
            </a:r>
            <a:r>
              <a:rPr lang="es-ES" dirty="0"/>
              <a:t> 	Comienza cuando el Cliente selecciona de los estantes la o las películas a prestar, luego llega donde el administrador VideoMax quien verifica que el Cliente ya esté registrado en el sistema, sino ver Caso de Uso “Proporciona Datos Personales”. Una vez ya registrado el administrador le informa al Cliente el pago correspondiente y la fecha a ser devueltas las películas.</a:t>
            </a:r>
          </a:p>
          <a:p>
            <a:pPr algn="just">
              <a:buNone/>
            </a:pPr>
            <a:endParaRPr lang="es-ES" dirty="0"/>
          </a:p>
          <a:p>
            <a:pPr algn="just"/>
            <a:r>
              <a:rPr lang="es-ES" b="1" u="sng" dirty="0"/>
              <a:t>Reservar Película:</a:t>
            </a:r>
            <a:r>
              <a:rPr lang="es-ES" dirty="0"/>
              <a:t> 	Comienza cuando el Cliente se comunica por cualquier medio con el Administrador VIDEOMAX y le solicita una película para alquilarla en horas posteriores, el administrador verifica si el cliente es considerado “Socio” luego de ubicarlo, selecciona la película e informa al Cliente que sus reservación ya ha sido registrada.</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357166"/>
            <a:ext cx="8229600" cy="5967434"/>
          </a:xfrm>
        </p:spPr>
        <p:txBody>
          <a:bodyPr>
            <a:normAutofit fontScale="85000" lnSpcReduction="20000"/>
          </a:bodyPr>
          <a:lstStyle/>
          <a:p>
            <a:pPr algn="just"/>
            <a:r>
              <a:rPr lang="es-ES" b="1" u="sng" dirty="0"/>
              <a:t>Devolver Película:</a:t>
            </a:r>
            <a:r>
              <a:rPr lang="es-ES" dirty="0"/>
              <a:t> 	Comienza cuando una vez cumplida la fecha de entrega de la película el Cliente se presenta al negocio y regresa la(s) película(s) que había alquilado. El administrador VideoMax deberá cambiar el estado tanto del cliente como el de la película.</a:t>
            </a:r>
          </a:p>
          <a:p>
            <a:pPr algn="just"/>
            <a:endParaRPr lang="es-ES" dirty="0"/>
          </a:p>
          <a:p>
            <a:pPr algn="just"/>
            <a:r>
              <a:rPr lang="es-ES" b="1" u="sng" dirty="0"/>
              <a:t>Abastece Película:</a:t>
            </a:r>
            <a:r>
              <a:rPr lang="es-ES" dirty="0"/>
              <a:t> 	Comienza cuando el proveedor informa al administrador VideoMax sobre los nuevos estrenos en el cine y aquellas películas que considera importantes mantenerlas activas (películas clásicas) o que incluso aquellas que entre más tenga mejor para el negocio (infantiles, conciertos, pornográficas, etc.). Luego el Proveedor establece acuerdo con el administrador VideoMax y se cierra el pedido. Finalmente el proveedor entrega en el tiempo establecido el pedido.</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5720" y="2143116"/>
            <a:ext cx="8229600" cy="1143000"/>
          </a:xfrm>
        </p:spPr>
        <p:txBody>
          <a:bodyPr>
            <a:normAutofit/>
          </a:bodyPr>
          <a:lstStyle/>
          <a:p>
            <a:r>
              <a:rPr lang="es-ES" b="1" dirty="0"/>
              <a:t>D. DIAGRAMA DE CASOS DE USO:</a:t>
            </a:r>
            <a:endParaRPr lang="es-E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6" name="Group 2"/>
          <p:cNvGrpSpPr>
            <a:grpSpLocks/>
          </p:cNvGrpSpPr>
          <p:nvPr/>
        </p:nvGrpSpPr>
        <p:grpSpPr bwMode="auto">
          <a:xfrm>
            <a:off x="71406" y="71414"/>
            <a:ext cx="9072593" cy="6715173"/>
            <a:chOff x="930" y="521"/>
            <a:chExt cx="15536" cy="11004"/>
          </a:xfrm>
        </p:grpSpPr>
        <p:sp>
          <p:nvSpPr>
            <p:cNvPr id="1027" name="Rectangle 3"/>
            <p:cNvSpPr>
              <a:spLocks noChangeArrowheads="1"/>
            </p:cNvSpPr>
            <p:nvPr/>
          </p:nvSpPr>
          <p:spPr bwMode="auto">
            <a:xfrm>
              <a:off x="2696" y="521"/>
              <a:ext cx="11671" cy="11004"/>
            </a:xfrm>
            <a:prstGeom prst="rect">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s-ES"/>
            </a:p>
          </p:txBody>
        </p:sp>
        <p:sp>
          <p:nvSpPr>
            <p:cNvPr id="1028" name="Text Box 4"/>
            <p:cNvSpPr txBox="1">
              <a:spLocks noChangeArrowheads="1"/>
            </p:cNvSpPr>
            <p:nvPr/>
          </p:nvSpPr>
          <p:spPr bwMode="auto">
            <a:xfrm>
              <a:off x="2897" y="674"/>
              <a:ext cx="4046" cy="570"/>
            </a:xfrm>
            <a:prstGeom prst="rect">
              <a:avLst/>
            </a:prstGeom>
            <a:noFill/>
            <a:ln w="19050">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SISTEMA VIDEOMAX</a:t>
              </a:r>
              <a:endParaRPr kumimoji="0" lang="es-ES" sz="1800" b="0" i="0" u="none" strike="noStrike" cap="none" normalizeH="0" baseline="0">
                <a:ln>
                  <a:noFill/>
                </a:ln>
                <a:solidFill>
                  <a:schemeClr val="tx1"/>
                </a:solidFill>
                <a:effectLst/>
                <a:latin typeface="Arial" pitchFamily="34" charset="0"/>
              </a:endParaRPr>
            </a:p>
          </p:txBody>
        </p:sp>
        <p:grpSp>
          <p:nvGrpSpPr>
            <p:cNvPr id="1029" name="Group 5"/>
            <p:cNvGrpSpPr>
              <a:grpSpLocks/>
            </p:cNvGrpSpPr>
            <p:nvPr/>
          </p:nvGrpSpPr>
          <p:grpSpPr bwMode="auto">
            <a:xfrm>
              <a:off x="1195" y="2533"/>
              <a:ext cx="1140" cy="2479"/>
              <a:chOff x="912" y="1415"/>
              <a:chExt cx="1140" cy="2479"/>
            </a:xfrm>
          </p:grpSpPr>
          <p:sp>
            <p:nvSpPr>
              <p:cNvPr id="1030" name="Oval 6"/>
              <p:cNvSpPr>
                <a:spLocks noChangeArrowheads="1"/>
              </p:cNvSpPr>
              <p:nvPr/>
            </p:nvSpPr>
            <p:spPr bwMode="auto">
              <a:xfrm>
                <a:off x="1164" y="1415"/>
                <a:ext cx="702" cy="702"/>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s-ES"/>
              </a:p>
            </p:txBody>
          </p:sp>
          <p:cxnSp>
            <p:nvCxnSpPr>
              <p:cNvPr id="1031" name="AutoShape 7"/>
              <p:cNvCxnSpPr>
                <a:cxnSpLocks noChangeShapeType="1"/>
              </p:cNvCxnSpPr>
              <p:nvPr/>
            </p:nvCxnSpPr>
            <p:spPr bwMode="auto">
              <a:xfrm flipH="1">
                <a:off x="1478" y="2117"/>
                <a:ext cx="25" cy="1051"/>
              </a:xfrm>
              <a:prstGeom prst="straightConnector1">
                <a:avLst/>
              </a:prstGeom>
              <a:noFill/>
              <a:ln w="19050">
                <a:solidFill>
                  <a:srgbClr val="000000"/>
                </a:solidFill>
                <a:round/>
                <a:headEnd/>
                <a:tailEnd/>
              </a:ln>
            </p:spPr>
          </p:cxnSp>
          <p:cxnSp>
            <p:nvCxnSpPr>
              <p:cNvPr id="1032" name="AutoShape 8"/>
              <p:cNvCxnSpPr>
                <a:cxnSpLocks noChangeShapeType="1"/>
              </p:cNvCxnSpPr>
              <p:nvPr/>
            </p:nvCxnSpPr>
            <p:spPr bwMode="auto">
              <a:xfrm flipH="1">
                <a:off x="964" y="3168"/>
                <a:ext cx="514" cy="726"/>
              </a:xfrm>
              <a:prstGeom prst="straightConnector1">
                <a:avLst/>
              </a:prstGeom>
              <a:noFill/>
              <a:ln w="19050">
                <a:solidFill>
                  <a:srgbClr val="000000"/>
                </a:solidFill>
                <a:round/>
                <a:headEnd/>
                <a:tailEnd/>
              </a:ln>
            </p:spPr>
          </p:cxnSp>
          <p:cxnSp>
            <p:nvCxnSpPr>
              <p:cNvPr id="1033" name="AutoShape 9"/>
              <p:cNvCxnSpPr>
                <a:cxnSpLocks noChangeShapeType="1"/>
              </p:cNvCxnSpPr>
              <p:nvPr/>
            </p:nvCxnSpPr>
            <p:spPr bwMode="auto">
              <a:xfrm>
                <a:off x="1478" y="3168"/>
                <a:ext cx="500" cy="726"/>
              </a:xfrm>
              <a:prstGeom prst="straightConnector1">
                <a:avLst/>
              </a:prstGeom>
              <a:noFill/>
              <a:ln w="19050">
                <a:solidFill>
                  <a:srgbClr val="000000"/>
                </a:solidFill>
                <a:round/>
                <a:headEnd/>
                <a:tailEnd/>
              </a:ln>
            </p:spPr>
          </p:cxnSp>
          <p:cxnSp>
            <p:nvCxnSpPr>
              <p:cNvPr id="1034" name="AutoShape 10"/>
              <p:cNvCxnSpPr>
                <a:cxnSpLocks noChangeShapeType="1"/>
              </p:cNvCxnSpPr>
              <p:nvPr/>
            </p:nvCxnSpPr>
            <p:spPr bwMode="auto">
              <a:xfrm>
                <a:off x="912" y="2442"/>
                <a:ext cx="1140" cy="0"/>
              </a:xfrm>
              <a:prstGeom prst="straightConnector1">
                <a:avLst/>
              </a:prstGeom>
              <a:noFill/>
              <a:ln w="19050">
                <a:solidFill>
                  <a:srgbClr val="000000"/>
                </a:solidFill>
                <a:round/>
                <a:headEnd/>
                <a:tailEnd/>
              </a:ln>
            </p:spPr>
          </p:cxnSp>
        </p:grpSp>
        <p:grpSp>
          <p:nvGrpSpPr>
            <p:cNvPr id="1035" name="Group 11"/>
            <p:cNvGrpSpPr>
              <a:grpSpLocks/>
            </p:cNvGrpSpPr>
            <p:nvPr/>
          </p:nvGrpSpPr>
          <p:grpSpPr bwMode="auto">
            <a:xfrm>
              <a:off x="1195" y="7734"/>
              <a:ext cx="1140" cy="2479"/>
              <a:chOff x="912" y="1415"/>
              <a:chExt cx="1140" cy="2479"/>
            </a:xfrm>
          </p:grpSpPr>
          <p:sp>
            <p:nvSpPr>
              <p:cNvPr id="1036" name="Oval 12"/>
              <p:cNvSpPr>
                <a:spLocks noChangeArrowheads="1"/>
              </p:cNvSpPr>
              <p:nvPr/>
            </p:nvSpPr>
            <p:spPr bwMode="auto">
              <a:xfrm>
                <a:off x="1164" y="1415"/>
                <a:ext cx="702" cy="702"/>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s-ES"/>
              </a:p>
            </p:txBody>
          </p:sp>
          <p:cxnSp>
            <p:nvCxnSpPr>
              <p:cNvPr id="1037" name="AutoShape 13"/>
              <p:cNvCxnSpPr>
                <a:cxnSpLocks noChangeShapeType="1"/>
              </p:cNvCxnSpPr>
              <p:nvPr/>
            </p:nvCxnSpPr>
            <p:spPr bwMode="auto">
              <a:xfrm flipH="1">
                <a:off x="1478" y="2117"/>
                <a:ext cx="25" cy="1051"/>
              </a:xfrm>
              <a:prstGeom prst="straightConnector1">
                <a:avLst/>
              </a:prstGeom>
              <a:noFill/>
              <a:ln w="19050">
                <a:solidFill>
                  <a:srgbClr val="000000"/>
                </a:solidFill>
                <a:round/>
                <a:headEnd/>
                <a:tailEnd/>
              </a:ln>
            </p:spPr>
          </p:cxnSp>
          <p:cxnSp>
            <p:nvCxnSpPr>
              <p:cNvPr id="1038" name="AutoShape 14"/>
              <p:cNvCxnSpPr>
                <a:cxnSpLocks noChangeShapeType="1"/>
              </p:cNvCxnSpPr>
              <p:nvPr/>
            </p:nvCxnSpPr>
            <p:spPr bwMode="auto">
              <a:xfrm flipH="1">
                <a:off x="964" y="3168"/>
                <a:ext cx="514" cy="726"/>
              </a:xfrm>
              <a:prstGeom prst="straightConnector1">
                <a:avLst/>
              </a:prstGeom>
              <a:noFill/>
              <a:ln w="19050">
                <a:solidFill>
                  <a:srgbClr val="000000"/>
                </a:solidFill>
                <a:round/>
                <a:headEnd/>
                <a:tailEnd/>
              </a:ln>
            </p:spPr>
          </p:cxnSp>
          <p:cxnSp>
            <p:nvCxnSpPr>
              <p:cNvPr id="1039" name="AutoShape 15"/>
              <p:cNvCxnSpPr>
                <a:cxnSpLocks noChangeShapeType="1"/>
              </p:cNvCxnSpPr>
              <p:nvPr/>
            </p:nvCxnSpPr>
            <p:spPr bwMode="auto">
              <a:xfrm>
                <a:off x="1478" y="3168"/>
                <a:ext cx="500" cy="726"/>
              </a:xfrm>
              <a:prstGeom prst="straightConnector1">
                <a:avLst/>
              </a:prstGeom>
              <a:noFill/>
              <a:ln w="19050">
                <a:solidFill>
                  <a:srgbClr val="000000"/>
                </a:solidFill>
                <a:round/>
                <a:headEnd/>
                <a:tailEnd/>
              </a:ln>
            </p:spPr>
          </p:cxnSp>
          <p:cxnSp>
            <p:nvCxnSpPr>
              <p:cNvPr id="1040" name="AutoShape 16"/>
              <p:cNvCxnSpPr>
                <a:cxnSpLocks noChangeShapeType="1"/>
              </p:cNvCxnSpPr>
              <p:nvPr/>
            </p:nvCxnSpPr>
            <p:spPr bwMode="auto">
              <a:xfrm>
                <a:off x="912" y="2442"/>
                <a:ext cx="1140" cy="0"/>
              </a:xfrm>
              <a:prstGeom prst="straightConnector1">
                <a:avLst/>
              </a:prstGeom>
              <a:noFill/>
              <a:ln w="19050">
                <a:solidFill>
                  <a:srgbClr val="000000"/>
                </a:solidFill>
                <a:round/>
                <a:headEnd/>
                <a:tailEnd/>
              </a:ln>
            </p:spPr>
          </p:cxnSp>
        </p:grpSp>
        <p:grpSp>
          <p:nvGrpSpPr>
            <p:cNvPr id="1041" name="Group 17"/>
            <p:cNvGrpSpPr>
              <a:grpSpLocks/>
            </p:cNvGrpSpPr>
            <p:nvPr/>
          </p:nvGrpSpPr>
          <p:grpSpPr bwMode="auto">
            <a:xfrm>
              <a:off x="14737" y="4063"/>
              <a:ext cx="1140" cy="2479"/>
              <a:chOff x="912" y="1415"/>
              <a:chExt cx="1140" cy="2479"/>
            </a:xfrm>
          </p:grpSpPr>
          <p:sp>
            <p:nvSpPr>
              <p:cNvPr id="1042" name="Oval 18"/>
              <p:cNvSpPr>
                <a:spLocks noChangeArrowheads="1"/>
              </p:cNvSpPr>
              <p:nvPr/>
            </p:nvSpPr>
            <p:spPr bwMode="auto">
              <a:xfrm>
                <a:off x="1164" y="1415"/>
                <a:ext cx="702" cy="702"/>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s-ES"/>
              </a:p>
            </p:txBody>
          </p:sp>
          <p:cxnSp>
            <p:nvCxnSpPr>
              <p:cNvPr id="1043" name="AutoShape 19"/>
              <p:cNvCxnSpPr>
                <a:cxnSpLocks noChangeShapeType="1"/>
              </p:cNvCxnSpPr>
              <p:nvPr/>
            </p:nvCxnSpPr>
            <p:spPr bwMode="auto">
              <a:xfrm flipH="1">
                <a:off x="1478" y="2117"/>
                <a:ext cx="25" cy="1051"/>
              </a:xfrm>
              <a:prstGeom prst="straightConnector1">
                <a:avLst/>
              </a:prstGeom>
              <a:noFill/>
              <a:ln w="19050">
                <a:solidFill>
                  <a:srgbClr val="000000"/>
                </a:solidFill>
                <a:round/>
                <a:headEnd/>
                <a:tailEnd/>
              </a:ln>
            </p:spPr>
          </p:cxnSp>
          <p:cxnSp>
            <p:nvCxnSpPr>
              <p:cNvPr id="1044" name="AutoShape 20"/>
              <p:cNvCxnSpPr>
                <a:cxnSpLocks noChangeShapeType="1"/>
              </p:cNvCxnSpPr>
              <p:nvPr/>
            </p:nvCxnSpPr>
            <p:spPr bwMode="auto">
              <a:xfrm flipH="1">
                <a:off x="964" y="3168"/>
                <a:ext cx="514" cy="726"/>
              </a:xfrm>
              <a:prstGeom prst="straightConnector1">
                <a:avLst/>
              </a:prstGeom>
              <a:noFill/>
              <a:ln w="19050">
                <a:solidFill>
                  <a:srgbClr val="000000"/>
                </a:solidFill>
                <a:round/>
                <a:headEnd/>
                <a:tailEnd/>
              </a:ln>
            </p:spPr>
          </p:cxnSp>
          <p:cxnSp>
            <p:nvCxnSpPr>
              <p:cNvPr id="1045" name="AutoShape 21"/>
              <p:cNvCxnSpPr>
                <a:cxnSpLocks noChangeShapeType="1"/>
              </p:cNvCxnSpPr>
              <p:nvPr/>
            </p:nvCxnSpPr>
            <p:spPr bwMode="auto">
              <a:xfrm>
                <a:off x="1478" y="3168"/>
                <a:ext cx="500" cy="726"/>
              </a:xfrm>
              <a:prstGeom prst="straightConnector1">
                <a:avLst/>
              </a:prstGeom>
              <a:noFill/>
              <a:ln w="19050">
                <a:solidFill>
                  <a:srgbClr val="000000"/>
                </a:solidFill>
                <a:round/>
                <a:headEnd/>
                <a:tailEnd/>
              </a:ln>
            </p:spPr>
          </p:cxnSp>
          <p:cxnSp>
            <p:nvCxnSpPr>
              <p:cNvPr id="1046" name="AutoShape 22"/>
              <p:cNvCxnSpPr>
                <a:cxnSpLocks noChangeShapeType="1"/>
              </p:cNvCxnSpPr>
              <p:nvPr/>
            </p:nvCxnSpPr>
            <p:spPr bwMode="auto">
              <a:xfrm>
                <a:off x="912" y="2442"/>
                <a:ext cx="1140" cy="0"/>
              </a:xfrm>
              <a:prstGeom prst="straightConnector1">
                <a:avLst/>
              </a:prstGeom>
              <a:noFill/>
              <a:ln w="19050">
                <a:solidFill>
                  <a:srgbClr val="000000"/>
                </a:solidFill>
                <a:round/>
                <a:headEnd/>
                <a:tailEnd/>
              </a:ln>
            </p:spPr>
          </p:cxnSp>
        </p:grpSp>
        <p:sp>
          <p:nvSpPr>
            <p:cNvPr id="1047" name="Oval 23"/>
            <p:cNvSpPr>
              <a:spLocks noChangeArrowheads="1"/>
            </p:cNvSpPr>
            <p:nvPr/>
          </p:nvSpPr>
          <p:spPr bwMode="auto">
            <a:xfrm>
              <a:off x="4352" y="1377"/>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Proporciona Datos Personales</a:t>
              </a:r>
              <a:endParaRPr kumimoji="0" lang="es-ES" sz="1800" b="0" i="0" u="none" strike="noStrike" cap="none" normalizeH="0" baseline="0">
                <a:ln>
                  <a:noFill/>
                </a:ln>
                <a:solidFill>
                  <a:schemeClr val="tx1"/>
                </a:solidFill>
                <a:effectLst/>
                <a:latin typeface="Arial" pitchFamily="34" charset="0"/>
              </a:endParaRPr>
            </a:p>
          </p:txBody>
        </p:sp>
        <p:sp>
          <p:nvSpPr>
            <p:cNvPr id="1048" name="Oval 24"/>
            <p:cNvSpPr>
              <a:spLocks noChangeArrowheads="1"/>
            </p:cNvSpPr>
            <p:nvPr/>
          </p:nvSpPr>
          <p:spPr bwMode="auto">
            <a:xfrm>
              <a:off x="4352" y="2971"/>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Alquila Pelicula</a:t>
              </a:r>
              <a:endParaRPr kumimoji="0" lang="es-ES" sz="1800" b="0" i="0" u="none" strike="noStrike" cap="none" normalizeH="0" baseline="0">
                <a:ln>
                  <a:noFill/>
                </a:ln>
                <a:solidFill>
                  <a:schemeClr val="tx1"/>
                </a:solidFill>
                <a:effectLst/>
                <a:latin typeface="Arial" pitchFamily="34" charset="0"/>
              </a:endParaRPr>
            </a:p>
          </p:txBody>
        </p:sp>
        <p:sp>
          <p:nvSpPr>
            <p:cNvPr id="1049" name="Oval 25"/>
            <p:cNvSpPr>
              <a:spLocks noChangeArrowheads="1"/>
            </p:cNvSpPr>
            <p:nvPr/>
          </p:nvSpPr>
          <p:spPr bwMode="auto">
            <a:xfrm>
              <a:off x="8103" y="2248"/>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Devuelve Pelicula</a:t>
              </a:r>
              <a:endParaRPr kumimoji="0" lang="es-ES" sz="1800" b="0" i="0" u="none" strike="noStrike" cap="none" normalizeH="0" baseline="0">
                <a:ln>
                  <a:noFill/>
                </a:ln>
                <a:solidFill>
                  <a:schemeClr val="tx1"/>
                </a:solidFill>
                <a:effectLst/>
                <a:latin typeface="Arial" pitchFamily="34" charset="0"/>
              </a:endParaRPr>
            </a:p>
          </p:txBody>
        </p:sp>
        <p:sp>
          <p:nvSpPr>
            <p:cNvPr id="1050" name="Oval 26"/>
            <p:cNvSpPr>
              <a:spLocks noChangeArrowheads="1"/>
            </p:cNvSpPr>
            <p:nvPr/>
          </p:nvSpPr>
          <p:spPr bwMode="auto">
            <a:xfrm>
              <a:off x="10447" y="3471"/>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Registra Alquiler</a:t>
              </a:r>
              <a:endParaRPr kumimoji="0" lang="es-ES" sz="1800" b="0" i="0" u="none" strike="noStrike" cap="none" normalizeH="0" baseline="0">
                <a:ln>
                  <a:noFill/>
                </a:ln>
                <a:solidFill>
                  <a:schemeClr val="tx1"/>
                </a:solidFill>
                <a:effectLst/>
                <a:latin typeface="Arial" pitchFamily="34" charset="0"/>
              </a:endParaRPr>
            </a:p>
          </p:txBody>
        </p:sp>
        <p:sp>
          <p:nvSpPr>
            <p:cNvPr id="1051" name="Oval 27"/>
            <p:cNvSpPr>
              <a:spLocks noChangeArrowheads="1"/>
            </p:cNvSpPr>
            <p:nvPr/>
          </p:nvSpPr>
          <p:spPr bwMode="auto">
            <a:xfrm>
              <a:off x="10286" y="942"/>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Registra  a los Cliente</a:t>
              </a:r>
              <a:endParaRPr kumimoji="0" lang="es-ES" sz="1800" b="0" i="0" u="none" strike="noStrike" cap="none" normalizeH="0" baseline="0">
                <a:ln>
                  <a:noFill/>
                </a:ln>
                <a:solidFill>
                  <a:schemeClr val="tx1"/>
                </a:solidFill>
                <a:effectLst/>
                <a:latin typeface="Arial" pitchFamily="34" charset="0"/>
              </a:endParaRPr>
            </a:p>
          </p:txBody>
        </p:sp>
        <p:sp>
          <p:nvSpPr>
            <p:cNvPr id="1052" name="Oval 28"/>
            <p:cNvSpPr>
              <a:spLocks noChangeArrowheads="1"/>
            </p:cNvSpPr>
            <p:nvPr/>
          </p:nvSpPr>
          <p:spPr bwMode="auto">
            <a:xfrm>
              <a:off x="7215" y="4168"/>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Seleccionar Pelicula</a:t>
              </a:r>
              <a:endParaRPr kumimoji="0" lang="es-ES" sz="1800" b="0" i="0" u="none" strike="noStrike" cap="none" normalizeH="0" baseline="0">
                <a:ln>
                  <a:noFill/>
                </a:ln>
                <a:solidFill>
                  <a:schemeClr val="tx1"/>
                </a:solidFill>
                <a:effectLst/>
                <a:latin typeface="Arial" pitchFamily="34" charset="0"/>
              </a:endParaRPr>
            </a:p>
          </p:txBody>
        </p:sp>
        <p:sp>
          <p:nvSpPr>
            <p:cNvPr id="1053" name="Oval 29"/>
            <p:cNvSpPr>
              <a:spLocks noChangeArrowheads="1"/>
            </p:cNvSpPr>
            <p:nvPr/>
          </p:nvSpPr>
          <p:spPr bwMode="auto">
            <a:xfrm>
              <a:off x="7735" y="8667"/>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Abastece Pelicula</a:t>
              </a:r>
              <a:endParaRPr kumimoji="0" lang="es-ES" sz="1800" b="0" i="0" u="none" strike="noStrike" cap="none" normalizeH="0" baseline="0">
                <a:ln>
                  <a:noFill/>
                </a:ln>
                <a:solidFill>
                  <a:schemeClr val="tx1"/>
                </a:solidFill>
                <a:effectLst/>
                <a:latin typeface="Arial" pitchFamily="34" charset="0"/>
              </a:endParaRPr>
            </a:p>
          </p:txBody>
        </p:sp>
        <p:sp>
          <p:nvSpPr>
            <p:cNvPr id="1054" name="Oval 30"/>
            <p:cNvSpPr>
              <a:spLocks noChangeArrowheads="1"/>
            </p:cNvSpPr>
            <p:nvPr/>
          </p:nvSpPr>
          <p:spPr bwMode="auto">
            <a:xfrm>
              <a:off x="4352" y="5574"/>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Reserva Pelicula</a:t>
              </a:r>
              <a:endParaRPr kumimoji="0" lang="es-ES" sz="1800" b="0" i="0" u="none" strike="noStrike" cap="none" normalizeH="0" baseline="0">
                <a:ln>
                  <a:noFill/>
                </a:ln>
                <a:solidFill>
                  <a:schemeClr val="tx1"/>
                </a:solidFill>
                <a:effectLst/>
                <a:latin typeface="Arial" pitchFamily="34" charset="0"/>
              </a:endParaRPr>
            </a:p>
          </p:txBody>
        </p:sp>
        <p:sp>
          <p:nvSpPr>
            <p:cNvPr id="1055" name="Oval 31"/>
            <p:cNvSpPr>
              <a:spLocks noChangeArrowheads="1"/>
            </p:cNvSpPr>
            <p:nvPr/>
          </p:nvSpPr>
          <p:spPr bwMode="auto">
            <a:xfrm>
              <a:off x="10447" y="5671"/>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Registra Reserva</a:t>
              </a:r>
              <a:endParaRPr kumimoji="0" lang="es-ES" sz="1800" b="0" i="0" u="none" strike="noStrike" cap="none" normalizeH="0" baseline="0">
                <a:ln>
                  <a:noFill/>
                </a:ln>
                <a:solidFill>
                  <a:schemeClr val="tx1"/>
                </a:solidFill>
                <a:effectLst/>
                <a:latin typeface="Arial" pitchFamily="34" charset="0"/>
              </a:endParaRPr>
            </a:p>
          </p:txBody>
        </p:sp>
        <p:sp>
          <p:nvSpPr>
            <p:cNvPr id="1056" name="Oval 32"/>
            <p:cNvSpPr>
              <a:spLocks noChangeArrowheads="1"/>
            </p:cNvSpPr>
            <p:nvPr/>
          </p:nvSpPr>
          <p:spPr bwMode="auto">
            <a:xfrm>
              <a:off x="10447" y="7796"/>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Registra Pelicula</a:t>
              </a:r>
              <a:endParaRPr kumimoji="0" lang="es-ES" sz="1800" b="0" i="0" u="none" strike="noStrike" cap="none" normalizeH="0" baseline="0">
                <a:ln>
                  <a:noFill/>
                </a:ln>
                <a:solidFill>
                  <a:schemeClr val="tx1"/>
                </a:solidFill>
                <a:effectLst/>
                <a:latin typeface="Arial" pitchFamily="34" charset="0"/>
              </a:endParaRPr>
            </a:p>
          </p:txBody>
        </p:sp>
        <p:sp>
          <p:nvSpPr>
            <p:cNvPr id="1057" name="Oval 33"/>
            <p:cNvSpPr>
              <a:spLocks noChangeArrowheads="1"/>
            </p:cNvSpPr>
            <p:nvPr/>
          </p:nvSpPr>
          <p:spPr bwMode="auto">
            <a:xfrm>
              <a:off x="3397" y="8667"/>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Abastece Pelicula según Existencia</a:t>
              </a:r>
              <a:endParaRPr kumimoji="0" lang="es-ES" sz="1800" b="0" i="0" u="none" strike="noStrike" cap="none" normalizeH="0" baseline="0">
                <a:ln>
                  <a:noFill/>
                </a:ln>
                <a:solidFill>
                  <a:schemeClr val="tx1"/>
                </a:solidFill>
                <a:effectLst/>
                <a:latin typeface="Arial" pitchFamily="34" charset="0"/>
              </a:endParaRPr>
            </a:p>
          </p:txBody>
        </p:sp>
        <p:cxnSp>
          <p:nvCxnSpPr>
            <p:cNvPr id="1058" name="AutoShape 34"/>
            <p:cNvCxnSpPr>
              <a:cxnSpLocks noChangeShapeType="1"/>
            </p:cNvCxnSpPr>
            <p:nvPr/>
          </p:nvCxnSpPr>
          <p:spPr bwMode="auto">
            <a:xfrm flipV="1">
              <a:off x="1786" y="1933"/>
              <a:ext cx="2566" cy="1909"/>
            </a:xfrm>
            <a:prstGeom prst="straightConnector1">
              <a:avLst/>
            </a:prstGeom>
            <a:noFill/>
            <a:ln w="19050">
              <a:solidFill>
                <a:srgbClr val="000000"/>
              </a:solidFill>
              <a:round/>
              <a:headEnd/>
              <a:tailEnd/>
            </a:ln>
          </p:spPr>
        </p:cxnSp>
        <p:cxnSp>
          <p:nvCxnSpPr>
            <p:cNvPr id="1059" name="AutoShape 35"/>
            <p:cNvCxnSpPr>
              <a:cxnSpLocks noChangeShapeType="1"/>
            </p:cNvCxnSpPr>
            <p:nvPr/>
          </p:nvCxnSpPr>
          <p:spPr bwMode="auto">
            <a:xfrm flipV="1">
              <a:off x="7215" y="2767"/>
              <a:ext cx="888" cy="605"/>
            </a:xfrm>
            <a:prstGeom prst="straightConnector1">
              <a:avLst/>
            </a:prstGeom>
            <a:noFill/>
            <a:ln w="19050">
              <a:solidFill>
                <a:srgbClr val="000000"/>
              </a:solidFill>
              <a:prstDash val="dash"/>
              <a:round/>
              <a:headEnd/>
              <a:tailEnd type="arrow" w="med" len="med"/>
            </a:ln>
            <a:effectLst/>
          </p:spPr>
        </p:cxnSp>
        <p:cxnSp>
          <p:nvCxnSpPr>
            <p:cNvPr id="1060" name="AutoShape 36"/>
            <p:cNvCxnSpPr>
              <a:cxnSpLocks noChangeShapeType="1"/>
            </p:cNvCxnSpPr>
            <p:nvPr/>
          </p:nvCxnSpPr>
          <p:spPr bwMode="auto">
            <a:xfrm>
              <a:off x="5976" y="3842"/>
              <a:ext cx="1239" cy="705"/>
            </a:xfrm>
            <a:prstGeom prst="straightConnector1">
              <a:avLst/>
            </a:prstGeom>
            <a:noFill/>
            <a:ln w="19050">
              <a:solidFill>
                <a:srgbClr val="000000"/>
              </a:solidFill>
              <a:prstDash val="dash"/>
              <a:round/>
              <a:headEnd/>
              <a:tailEnd type="arrow" w="med" len="med"/>
            </a:ln>
            <a:effectLst/>
          </p:spPr>
        </p:cxnSp>
        <p:cxnSp>
          <p:nvCxnSpPr>
            <p:cNvPr id="1061" name="AutoShape 37"/>
            <p:cNvCxnSpPr>
              <a:cxnSpLocks noChangeShapeType="1"/>
            </p:cNvCxnSpPr>
            <p:nvPr/>
          </p:nvCxnSpPr>
          <p:spPr bwMode="auto">
            <a:xfrm flipV="1">
              <a:off x="5892" y="4710"/>
              <a:ext cx="1323" cy="864"/>
            </a:xfrm>
            <a:prstGeom prst="straightConnector1">
              <a:avLst/>
            </a:prstGeom>
            <a:noFill/>
            <a:ln w="19050">
              <a:solidFill>
                <a:srgbClr val="000000"/>
              </a:solidFill>
              <a:prstDash val="dash"/>
              <a:round/>
              <a:headEnd/>
              <a:tailEnd type="arrow" w="med" len="med"/>
            </a:ln>
            <a:effectLst/>
          </p:spPr>
        </p:cxnSp>
        <p:cxnSp>
          <p:nvCxnSpPr>
            <p:cNvPr id="1062" name="AutoShape 38"/>
            <p:cNvCxnSpPr>
              <a:cxnSpLocks noChangeShapeType="1"/>
            </p:cNvCxnSpPr>
            <p:nvPr/>
          </p:nvCxnSpPr>
          <p:spPr bwMode="auto">
            <a:xfrm>
              <a:off x="1761" y="3842"/>
              <a:ext cx="2591" cy="2090"/>
            </a:xfrm>
            <a:prstGeom prst="straightConnector1">
              <a:avLst/>
            </a:prstGeom>
            <a:noFill/>
            <a:ln w="19050">
              <a:solidFill>
                <a:srgbClr val="000000"/>
              </a:solidFill>
              <a:round/>
              <a:headEnd/>
              <a:tailEnd/>
            </a:ln>
            <a:effectLst/>
          </p:spPr>
        </p:cxnSp>
        <p:cxnSp>
          <p:nvCxnSpPr>
            <p:cNvPr id="1063" name="AutoShape 39"/>
            <p:cNvCxnSpPr>
              <a:cxnSpLocks noChangeShapeType="1"/>
            </p:cNvCxnSpPr>
            <p:nvPr/>
          </p:nvCxnSpPr>
          <p:spPr bwMode="auto">
            <a:xfrm flipV="1">
              <a:off x="1761" y="3471"/>
              <a:ext cx="2591" cy="371"/>
            </a:xfrm>
            <a:prstGeom prst="straightConnector1">
              <a:avLst/>
            </a:prstGeom>
            <a:noFill/>
            <a:ln w="19050">
              <a:solidFill>
                <a:srgbClr val="000000"/>
              </a:solidFill>
              <a:round/>
              <a:headEnd/>
              <a:tailEnd/>
            </a:ln>
            <a:effectLst/>
          </p:spPr>
        </p:cxnSp>
        <p:cxnSp>
          <p:nvCxnSpPr>
            <p:cNvPr id="1064" name="AutoShape 40"/>
            <p:cNvCxnSpPr>
              <a:cxnSpLocks noChangeShapeType="1"/>
            </p:cNvCxnSpPr>
            <p:nvPr/>
          </p:nvCxnSpPr>
          <p:spPr bwMode="auto">
            <a:xfrm>
              <a:off x="1761" y="9097"/>
              <a:ext cx="1653" cy="0"/>
            </a:xfrm>
            <a:prstGeom prst="straightConnector1">
              <a:avLst/>
            </a:prstGeom>
            <a:noFill/>
            <a:ln w="19050">
              <a:solidFill>
                <a:srgbClr val="000000"/>
              </a:solidFill>
              <a:round/>
              <a:headEnd/>
              <a:tailEnd/>
            </a:ln>
            <a:effectLst/>
          </p:spPr>
        </p:cxnSp>
        <p:cxnSp>
          <p:nvCxnSpPr>
            <p:cNvPr id="1065" name="AutoShape 41"/>
            <p:cNvCxnSpPr>
              <a:cxnSpLocks noChangeShapeType="1"/>
            </p:cNvCxnSpPr>
            <p:nvPr/>
          </p:nvCxnSpPr>
          <p:spPr bwMode="auto">
            <a:xfrm>
              <a:off x="6260" y="9097"/>
              <a:ext cx="1475" cy="0"/>
            </a:xfrm>
            <a:prstGeom prst="straightConnector1">
              <a:avLst/>
            </a:prstGeom>
            <a:noFill/>
            <a:ln w="19050">
              <a:solidFill>
                <a:srgbClr val="000000"/>
              </a:solidFill>
              <a:prstDash val="dash"/>
              <a:round/>
              <a:headEnd/>
              <a:tailEnd type="arrow" w="med" len="med"/>
            </a:ln>
            <a:effectLst/>
          </p:spPr>
        </p:cxnSp>
        <p:sp>
          <p:nvSpPr>
            <p:cNvPr id="1066" name="Oval 42"/>
            <p:cNvSpPr>
              <a:spLocks noChangeArrowheads="1"/>
            </p:cNvSpPr>
            <p:nvPr/>
          </p:nvSpPr>
          <p:spPr bwMode="auto">
            <a:xfrm>
              <a:off x="10447" y="10213"/>
              <a:ext cx="2863" cy="871"/>
            </a:xfrm>
            <a:prstGeom prst="ellipse">
              <a:avLst/>
            </a:prstGeom>
            <a:solidFill>
              <a:srgbClr val="FFFF00"/>
            </a:solid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Actualiza Proveedor</a:t>
              </a:r>
              <a:endParaRPr kumimoji="0" lang="es-ES" sz="1800" b="0" i="0" u="none" strike="noStrike" cap="none" normalizeH="0" baseline="0">
                <a:ln>
                  <a:noFill/>
                </a:ln>
                <a:solidFill>
                  <a:schemeClr val="tx1"/>
                </a:solidFill>
                <a:effectLst/>
                <a:latin typeface="Arial" pitchFamily="34" charset="0"/>
              </a:endParaRPr>
            </a:p>
          </p:txBody>
        </p:sp>
        <p:cxnSp>
          <p:nvCxnSpPr>
            <p:cNvPr id="1067" name="AutoShape 43"/>
            <p:cNvCxnSpPr>
              <a:cxnSpLocks noChangeShapeType="1"/>
            </p:cNvCxnSpPr>
            <p:nvPr/>
          </p:nvCxnSpPr>
          <p:spPr bwMode="auto">
            <a:xfrm flipH="1" flipV="1">
              <a:off x="13149" y="1495"/>
              <a:ext cx="2154" cy="3884"/>
            </a:xfrm>
            <a:prstGeom prst="straightConnector1">
              <a:avLst/>
            </a:prstGeom>
            <a:noFill/>
            <a:ln w="19050">
              <a:solidFill>
                <a:srgbClr val="000000"/>
              </a:solidFill>
              <a:round/>
              <a:headEnd/>
              <a:tailEnd/>
            </a:ln>
          </p:spPr>
        </p:cxnSp>
        <p:cxnSp>
          <p:nvCxnSpPr>
            <p:cNvPr id="1068" name="AutoShape 44"/>
            <p:cNvCxnSpPr>
              <a:cxnSpLocks noChangeShapeType="1"/>
            </p:cNvCxnSpPr>
            <p:nvPr/>
          </p:nvCxnSpPr>
          <p:spPr bwMode="auto">
            <a:xfrm flipH="1" flipV="1">
              <a:off x="13310" y="4063"/>
              <a:ext cx="1993" cy="1316"/>
            </a:xfrm>
            <a:prstGeom prst="straightConnector1">
              <a:avLst/>
            </a:prstGeom>
            <a:noFill/>
            <a:ln w="19050">
              <a:solidFill>
                <a:srgbClr val="000000"/>
              </a:solidFill>
              <a:round/>
              <a:headEnd/>
              <a:tailEnd/>
            </a:ln>
          </p:spPr>
        </p:cxnSp>
        <p:cxnSp>
          <p:nvCxnSpPr>
            <p:cNvPr id="1069" name="AutoShape 45"/>
            <p:cNvCxnSpPr>
              <a:cxnSpLocks noChangeShapeType="1"/>
            </p:cNvCxnSpPr>
            <p:nvPr/>
          </p:nvCxnSpPr>
          <p:spPr bwMode="auto">
            <a:xfrm flipH="1">
              <a:off x="13310" y="5379"/>
              <a:ext cx="1993" cy="687"/>
            </a:xfrm>
            <a:prstGeom prst="straightConnector1">
              <a:avLst/>
            </a:prstGeom>
            <a:noFill/>
            <a:ln w="19050">
              <a:solidFill>
                <a:srgbClr val="000000"/>
              </a:solidFill>
              <a:round/>
              <a:headEnd/>
              <a:tailEnd/>
            </a:ln>
          </p:spPr>
        </p:cxnSp>
        <p:cxnSp>
          <p:nvCxnSpPr>
            <p:cNvPr id="1070" name="AutoShape 46"/>
            <p:cNvCxnSpPr>
              <a:cxnSpLocks noChangeShapeType="1"/>
            </p:cNvCxnSpPr>
            <p:nvPr/>
          </p:nvCxnSpPr>
          <p:spPr bwMode="auto">
            <a:xfrm flipH="1">
              <a:off x="13310" y="5379"/>
              <a:ext cx="1993" cy="2780"/>
            </a:xfrm>
            <a:prstGeom prst="straightConnector1">
              <a:avLst/>
            </a:prstGeom>
            <a:noFill/>
            <a:ln w="19050">
              <a:solidFill>
                <a:srgbClr val="000000"/>
              </a:solidFill>
              <a:round/>
              <a:headEnd/>
              <a:tailEnd/>
            </a:ln>
          </p:spPr>
        </p:cxnSp>
        <p:cxnSp>
          <p:nvCxnSpPr>
            <p:cNvPr id="1071" name="AutoShape 47"/>
            <p:cNvCxnSpPr>
              <a:cxnSpLocks noChangeShapeType="1"/>
            </p:cNvCxnSpPr>
            <p:nvPr/>
          </p:nvCxnSpPr>
          <p:spPr bwMode="auto">
            <a:xfrm flipH="1">
              <a:off x="13310" y="5379"/>
              <a:ext cx="1993" cy="5225"/>
            </a:xfrm>
            <a:prstGeom prst="straightConnector1">
              <a:avLst/>
            </a:prstGeom>
            <a:noFill/>
            <a:ln w="19050">
              <a:solidFill>
                <a:srgbClr val="000000"/>
              </a:solidFill>
              <a:round/>
              <a:headEnd/>
              <a:tailEnd/>
            </a:ln>
          </p:spPr>
        </p:cxnSp>
        <p:cxnSp>
          <p:nvCxnSpPr>
            <p:cNvPr id="1072" name="AutoShape 48"/>
            <p:cNvCxnSpPr>
              <a:cxnSpLocks noChangeShapeType="1"/>
            </p:cNvCxnSpPr>
            <p:nvPr/>
          </p:nvCxnSpPr>
          <p:spPr bwMode="auto">
            <a:xfrm flipV="1">
              <a:off x="7215" y="1377"/>
              <a:ext cx="3071" cy="436"/>
            </a:xfrm>
            <a:prstGeom prst="straightConnector1">
              <a:avLst/>
            </a:prstGeom>
            <a:noFill/>
            <a:ln w="19050">
              <a:solidFill>
                <a:srgbClr val="000000"/>
              </a:solidFill>
              <a:round/>
              <a:headEnd/>
              <a:tailEnd/>
            </a:ln>
          </p:spPr>
        </p:cxnSp>
        <p:cxnSp>
          <p:nvCxnSpPr>
            <p:cNvPr id="1073" name="AutoShape 49"/>
            <p:cNvCxnSpPr>
              <a:cxnSpLocks noChangeShapeType="1"/>
            </p:cNvCxnSpPr>
            <p:nvPr/>
          </p:nvCxnSpPr>
          <p:spPr bwMode="auto">
            <a:xfrm>
              <a:off x="7215" y="3471"/>
              <a:ext cx="3232" cy="468"/>
            </a:xfrm>
            <a:prstGeom prst="straightConnector1">
              <a:avLst/>
            </a:prstGeom>
            <a:noFill/>
            <a:ln w="19050">
              <a:solidFill>
                <a:srgbClr val="000000"/>
              </a:solidFill>
              <a:round/>
              <a:headEnd/>
              <a:tailEnd/>
            </a:ln>
          </p:spPr>
        </p:cxnSp>
        <p:cxnSp>
          <p:nvCxnSpPr>
            <p:cNvPr id="1074" name="AutoShape 50"/>
            <p:cNvCxnSpPr>
              <a:cxnSpLocks noChangeShapeType="1"/>
            </p:cNvCxnSpPr>
            <p:nvPr/>
          </p:nvCxnSpPr>
          <p:spPr bwMode="auto">
            <a:xfrm>
              <a:off x="7215" y="6066"/>
              <a:ext cx="3232" cy="0"/>
            </a:xfrm>
            <a:prstGeom prst="straightConnector1">
              <a:avLst/>
            </a:prstGeom>
            <a:noFill/>
            <a:ln w="19050">
              <a:solidFill>
                <a:srgbClr val="000000"/>
              </a:solidFill>
              <a:round/>
              <a:headEnd/>
              <a:tailEnd/>
            </a:ln>
          </p:spPr>
        </p:cxnSp>
        <p:cxnSp>
          <p:nvCxnSpPr>
            <p:cNvPr id="1075" name="AutoShape 51"/>
            <p:cNvCxnSpPr>
              <a:cxnSpLocks noChangeShapeType="1"/>
            </p:cNvCxnSpPr>
            <p:nvPr/>
          </p:nvCxnSpPr>
          <p:spPr bwMode="auto">
            <a:xfrm flipV="1">
              <a:off x="10598" y="8667"/>
              <a:ext cx="1322" cy="430"/>
            </a:xfrm>
            <a:prstGeom prst="straightConnector1">
              <a:avLst/>
            </a:prstGeom>
            <a:noFill/>
            <a:ln w="19050">
              <a:solidFill>
                <a:srgbClr val="000000"/>
              </a:solidFill>
              <a:round/>
              <a:headEnd/>
              <a:tailEnd/>
            </a:ln>
          </p:spPr>
        </p:cxnSp>
        <p:sp>
          <p:nvSpPr>
            <p:cNvPr id="1076" name="Text Box 52"/>
            <p:cNvSpPr txBox="1">
              <a:spLocks noChangeArrowheads="1"/>
            </p:cNvSpPr>
            <p:nvPr/>
          </p:nvSpPr>
          <p:spPr bwMode="auto">
            <a:xfrm>
              <a:off x="6593" y="2556"/>
              <a:ext cx="1616" cy="4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&lt;&lt;incluir&gt;&gt;</a:t>
              </a:r>
              <a:endParaRPr kumimoji="0" lang="es-ES" sz="1800" b="0" i="0" u="none" strike="noStrike" cap="none" normalizeH="0" baseline="0">
                <a:ln>
                  <a:noFill/>
                </a:ln>
                <a:solidFill>
                  <a:schemeClr val="tx1"/>
                </a:solidFill>
                <a:effectLst/>
                <a:latin typeface="Arial" pitchFamily="34" charset="0"/>
              </a:endParaRPr>
            </a:p>
          </p:txBody>
        </p:sp>
        <p:sp>
          <p:nvSpPr>
            <p:cNvPr id="1077" name="Text Box 53"/>
            <p:cNvSpPr txBox="1">
              <a:spLocks noChangeArrowheads="1"/>
            </p:cNvSpPr>
            <p:nvPr/>
          </p:nvSpPr>
          <p:spPr bwMode="auto">
            <a:xfrm>
              <a:off x="6182" y="5097"/>
              <a:ext cx="1616" cy="4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&lt;&lt;incluir&gt;&gt;</a:t>
              </a:r>
              <a:endParaRPr kumimoji="0" lang="es-ES" sz="1800" b="0" i="0" u="none" strike="noStrike" cap="none" normalizeH="0" baseline="0">
                <a:ln>
                  <a:noFill/>
                </a:ln>
                <a:solidFill>
                  <a:schemeClr val="tx1"/>
                </a:solidFill>
                <a:effectLst/>
                <a:latin typeface="Arial" pitchFamily="34" charset="0"/>
              </a:endParaRPr>
            </a:p>
          </p:txBody>
        </p:sp>
        <p:sp>
          <p:nvSpPr>
            <p:cNvPr id="1078" name="Text Box 54"/>
            <p:cNvSpPr txBox="1">
              <a:spLocks noChangeArrowheads="1"/>
            </p:cNvSpPr>
            <p:nvPr/>
          </p:nvSpPr>
          <p:spPr bwMode="auto">
            <a:xfrm>
              <a:off x="5329" y="4063"/>
              <a:ext cx="1616" cy="4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&lt;&lt;incluir&gt;&gt;</a:t>
              </a:r>
              <a:endParaRPr kumimoji="0" lang="es-ES" sz="1800" b="0" i="0" u="none" strike="noStrike" cap="none" normalizeH="0" baseline="0">
                <a:ln>
                  <a:noFill/>
                </a:ln>
                <a:solidFill>
                  <a:schemeClr val="tx1"/>
                </a:solidFill>
                <a:effectLst/>
                <a:latin typeface="Arial" pitchFamily="34" charset="0"/>
              </a:endParaRPr>
            </a:p>
          </p:txBody>
        </p:sp>
        <p:sp>
          <p:nvSpPr>
            <p:cNvPr id="1079" name="Text Box 55"/>
            <p:cNvSpPr txBox="1">
              <a:spLocks noChangeArrowheads="1"/>
            </p:cNvSpPr>
            <p:nvPr/>
          </p:nvSpPr>
          <p:spPr bwMode="auto">
            <a:xfrm>
              <a:off x="6182" y="8559"/>
              <a:ext cx="1750" cy="4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0" i="0" u="none" strike="noStrike" cap="none" normalizeH="0" baseline="0">
                  <a:ln>
                    <a:noFill/>
                  </a:ln>
                  <a:solidFill>
                    <a:schemeClr val="tx1"/>
                  </a:solidFill>
                  <a:effectLst/>
                  <a:latin typeface="Calibri" pitchFamily="34" charset="0"/>
                </a:rPr>
                <a:t>&lt;&lt;extender&gt;&gt;</a:t>
              </a:r>
              <a:endParaRPr kumimoji="0" lang="es-ES" sz="1800" b="0" i="0" u="none" strike="noStrike" cap="none" normalizeH="0" baseline="0">
                <a:ln>
                  <a:noFill/>
                </a:ln>
                <a:solidFill>
                  <a:schemeClr val="tx1"/>
                </a:solidFill>
                <a:effectLst/>
                <a:latin typeface="Arial" pitchFamily="34" charset="0"/>
              </a:endParaRPr>
            </a:p>
          </p:txBody>
        </p:sp>
        <p:sp>
          <p:nvSpPr>
            <p:cNvPr id="1080" name="Text Box 56"/>
            <p:cNvSpPr txBox="1">
              <a:spLocks noChangeArrowheads="1"/>
            </p:cNvSpPr>
            <p:nvPr/>
          </p:nvSpPr>
          <p:spPr bwMode="auto">
            <a:xfrm>
              <a:off x="14622" y="6544"/>
              <a:ext cx="1844" cy="6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1" i="0" u="none" strike="noStrike" cap="none" normalizeH="0" baseline="0">
                  <a:ln>
                    <a:noFill/>
                  </a:ln>
                  <a:solidFill>
                    <a:schemeClr val="tx1"/>
                  </a:solidFill>
                  <a:effectLst/>
                  <a:latin typeface="Calibri" pitchFamily="34" charset="0"/>
                </a:rPr>
                <a:t>Administrador VIDEOMAX</a:t>
              </a:r>
              <a:endParaRPr kumimoji="0" lang="es-ES" sz="1800" b="0" i="0" u="none" strike="noStrike" cap="none" normalizeH="0" baseline="0">
                <a:ln>
                  <a:noFill/>
                </a:ln>
                <a:solidFill>
                  <a:schemeClr val="tx1"/>
                </a:solidFill>
                <a:effectLst/>
                <a:latin typeface="Arial" pitchFamily="34" charset="0"/>
              </a:endParaRPr>
            </a:p>
          </p:txBody>
        </p:sp>
        <p:sp>
          <p:nvSpPr>
            <p:cNvPr id="1081" name="Text Box 57"/>
            <p:cNvSpPr txBox="1">
              <a:spLocks noChangeArrowheads="1"/>
            </p:cNvSpPr>
            <p:nvPr/>
          </p:nvSpPr>
          <p:spPr bwMode="auto">
            <a:xfrm>
              <a:off x="930" y="10304"/>
              <a:ext cx="1616" cy="4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1" i="0" u="none" strike="noStrike" cap="none" normalizeH="0" baseline="0">
                  <a:ln>
                    <a:noFill/>
                  </a:ln>
                  <a:solidFill>
                    <a:schemeClr val="tx1"/>
                  </a:solidFill>
                  <a:effectLst/>
                  <a:latin typeface="Calibri" pitchFamily="34" charset="0"/>
                </a:rPr>
                <a:t>Proveedor</a:t>
              </a:r>
              <a:endParaRPr kumimoji="0" lang="es-ES" sz="1800" b="0" i="0" u="none" strike="noStrike" cap="none" normalizeH="0" baseline="0">
                <a:ln>
                  <a:noFill/>
                </a:ln>
                <a:solidFill>
                  <a:schemeClr val="tx1"/>
                </a:solidFill>
                <a:effectLst/>
                <a:latin typeface="Arial" pitchFamily="34" charset="0"/>
              </a:endParaRPr>
            </a:p>
          </p:txBody>
        </p:sp>
        <p:sp>
          <p:nvSpPr>
            <p:cNvPr id="1082" name="Text Box 58"/>
            <p:cNvSpPr txBox="1">
              <a:spLocks noChangeArrowheads="1"/>
            </p:cNvSpPr>
            <p:nvPr/>
          </p:nvSpPr>
          <p:spPr bwMode="auto">
            <a:xfrm>
              <a:off x="932" y="5256"/>
              <a:ext cx="1616" cy="4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ES" sz="1100" b="1" i="0" u="none" strike="noStrike" cap="none" normalizeH="0" baseline="0">
                  <a:ln>
                    <a:noFill/>
                  </a:ln>
                  <a:solidFill>
                    <a:schemeClr val="tx1"/>
                  </a:solidFill>
                  <a:effectLst/>
                  <a:latin typeface="Calibri" pitchFamily="34" charset="0"/>
                </a:rPr>
                <a:t>Cliente</a:t>
              </a:r>
              <a:endParaRPr kumimoji="0" lang="es-ES" sz="1800" b="0" i="0" u="none" strike="noStrike" cap="none" normalizeH="0" baseline="0">
                <a:ln>
                  <a:noFill/>
                </a:ln>
                <a:solidFill>
                  <a:schemeClr val="tx1"/>
                </a:solidFill>
                <a:effectLst/>
                <a:latin typeface="Arial" pitchFamily="34" charset="0"/>
              </a:endParaRPr>
            </a:p>
          </p:txBody>
        </p:sp>
      </p:gr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2098</TotalTime>
  <Words>3507</Words>
  <Application>Microsoft Macintosh PowerPoint</Application>
  <PresentationFormat>On-screen Show (4:3)</PresentationFormat>
  <Paragraphs>379</Paragraphs>
  <Slides>86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86</vt:i4>
      </vt:variant>
    </vt:vector>
  </HeadingPairs>
  <TitlesOfParts>
    <vt:vector size="92" baseType="lpstr">
      <vt:lpstr>Arial</vt:lpstr>
      <vt:lpstr>Calibri</vt:lpstr>
      <vt:lpstr>Symbol</vt:lpstr>
      <vt:lpstr>Times New Roman</vt:lpstr>
      <vt:lpstr>Wingdings</vt:lpstr>
      <vt:lpstr>Tema de Office</vt:lpstr>
      <vt:lpstr>LENGUAJE DE MODELADO UNIFICADO UML</vt:lpstr>
      <vt:lpstr>PowerPoint Presentation</vt:lpstr>
      <vt:lpstr>PowerPoint Presentation</vt:lpstr>
      <vt:lpstr>PowerPoint Presentation</vt:lpstr>
      <vt:lpstr>PowerPoint Presentation</vt:lpstr>
      <vt:lpstr>CLASIFICACION DE DIAGRAMAS UML</vt:lpstr>
      <vt:lpstr>PowerPoint Presentation</vt:lpstr>
      <vt:lpstr>PowerPoint Presentation</vt:lpstr>
      <vt:lpstr>PowerPoint Presentation</vt:lpstr>
      <vt:lpstr>DIAGRAMAS DE CLASES</vt:lpstr>
      <vt:lpstr>PowerPoint Presentation</vt:lpstr>
      <vt:lpstr>PowerPoint Presentation</vt:lpstr>
      <vt:lpstr>PowerPoint Presentation</vt:lpstr>
      <vt:lpstr>PowerPoint Presentation</vt:lpstr>
      <vt:lpstr>CLASE</vt:lpstr>
      <vt:lpstr>PowerPoint Presentation</vt:lpstr>
      <vt:lpstr>PowerPoint Presentation</vt:lpstr>
      <vt:lpstr>EJEMPLO</vt:lpstr>
      <vt:lpstr>ATRIBUTOS</vt:lpstr>
      <vt:lpstr>PowerPoint Presentation</vt:lpstr>
      <vt:lpstr>PowerPoint Presentation</vt:lpstr>
      <vt:lpstr>METODOS</vt:lpstr>
      <vt:lpstr>RELACIONES ENTRE CLASES</vt:lpstr>
      <vt:lpstr>MULTIPLICIDAD EN LAS RELACIONES</vt:lpstr>
      <vt:lpstr>RELACIONES ENTRE CLASES</vt:lpstr>
      <vt:lpstr>DEPENDENCIA</vt:lpstr>
      <vt:lpstr>DEPENDENCIA</vt:lpstr>
      <vt:lpstr>PowerPoint Presentation</vt:lpstr>
      <vt:lpstr>ASOCIACION</vt:lpstr>
      <vt:lpstr>ASOCIACION</vt:lpstr>
      <vt:lpstr>PowerPoint Presentation</vt:lpstr>
      <vt:lpstr>PowerPoint Presentation</vt:lpstr>
      <vt:lpstr>MULTIPLICIDAD EN LAS RELACIONES</vt:lpstr>
      <vt:lpstr>EJEMPLO</vt:lpstr>
      <vt:lpstr>PowerPoint Presentation</vt:lpstr>
      <vt:lpstr>PowerPoint Presentation</vt:lpstr>
      <vt:lpstr>PowerPoint Presentation</vt:lpstr>
      <vt:lpstr>CLASE ASOCIACION</vt:lpstr>
      <vt:lpstr>PowerPoint Presentation</vt:lpstr>
      <vt:lpstr>AGREGACION</vt:lpstr>
      <vt:lpstr>AGREGACION</vt:lpstr>
      <vt:lpstr>PowerPoint Presentation</vt:lpstr>
      <vt:lpstr>PowerPoint Presentation</vt:lpstr>
      <vt:lpstr>EJEMPLO</vt:lpstr>
      <vt:lpstr>PowerPoint Presentation</vt:lpstr>
      <vt:lpstr>COMPOSICION</vt:lpstr>
      <vt:lpstr>PowerPoint Presentation</vt:lpstr>
      <vt:lpstr>PowerPoint Presentation</vt:lpstr>
      <vt:lpstr>PowerPoint Presentation</vt:lpstr>
      <vt:lpstr>EJEMPLO</vt:lpstr>
      <vt:lpstr>PowerPoint Presentation</vt:lpstr>
      <vt:lpstr>PowerPoint Presentation</vt:lpstr>
      <vt:lpstr>PowerPoint Presentation</vt:lpstr>
      <vt:lpstr>GENERALIZACION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 DIAGRAMA DE CASOS DE USO:</vt:lpstr>
      <vt:lpstr>PowerPoint Presentation</vt:lpstr>
      <vt:lpstr>¿Qué son los casos de uso?</vt:lpstr>
      <vt:lpstr>Importancia de los Casos de Uso:</vt:lpstr>
      <vt:lpstr>Representación de un modelo de Caso de Uso:</vt:lpstr>
      <vt:lpstr>UN EJEMPLO: La máquina de gaseosa</vt:lpstr>
      <vt:lpstr>PowerPoint Presentation</vt:lpstr>
      <vt:lpstr>Inclusión de los Casos de Uso:</vt:lpstr>
      <vt:lpstr>PowerPoint Presentation</vt:lpstr>
      <vt:lpstr>Extensión de los Casos de Uso:</vt:lpstr>
      <vt:lpstr>Generalización:</vt:lpstr>
      <vt:lpstr>Diagrama de Casos de Uso para la Tienda de Películas VIDEOMAX</vt:lpstr>
      <vt:lpstr>A. DESCRIPCION DE ACTORES: </vt:lpstr>
      <vt:lpstr>PowerPoint Presentation</vt:lpstr>
      <vt:lpstr>PowerPoint Presentation</vt:lpstr>
      <vt:lpstr>PowerPoint Presentation</vt:lpstr>
      <vt:lpstr>B. TABLA DE TAREAS: </vt:lpstr>
      <vt:lpstr>C. DESCRIPCION DE LOS CASOS DE USO: </vt:lpstr>
      <vt:lpstr>PowerPoint Presentation</vt:lpstr>
      <vt:lpstr>PowerPoint Presentation</vt:lpstr>
      <vt:lpstr>PowerPoint Presentation</vt:lpstr>
      <vt:lpstr>PowerPoint Presentation</vt:lpstr>
      <vt:lpstr>PowerPoint Presentation</vt:lpstr>
      <vt:lpstr>D. DIAGRAMA DE CASOS DE USO:</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DIAGRAMAS DE CLASES</dc:title>
  <dc:creator>usuario</dc:creator>
  <cp:lastModifiedBy>WILSON RODRIGO PÉREZ ROCANO</cp:lastModifiedBy>
  <cp:revision>115</cp:revision>
  <dcterms:created xsi:type="dcterms:W3CDTF">2016-08-23T23:53:09Z</dcterms:created>
  <dcterms:modified xsi:type="dcterms:W3CDTF">2026-07-08T20:05:02Z</dcterms:modified>
</cp:coreProperties>
</file>